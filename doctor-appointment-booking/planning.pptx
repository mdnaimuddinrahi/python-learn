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1" d="100"/>
          <a:sy n="61" d="100"/>
        </p:scale>
        <p:origin x="584" y="-4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03888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2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1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23.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23.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E2B"/>
        </a:solidFill>
        <a:effectLst/>
      </p:bgPr>
    </p:bg>
    <p:spTree>
      <p:nvGrpSpPr>
        <p:cNvPr id="1" name=""/>
        <p:cNvGrpSpPr/>
        <p:nvPr/>
      </p:nvGrpSpPr>
      <p:grpSpPr>
        <a:xfrm>
          <a:off x="0" y="0"/>
          <a:ext cx="0" cy="0"/>
          <a:chOff x="0" y="0"/>
          <a:chExt cx="0" cy="0"/>
        </a:xfrm>
      </p:grpSpPr>
      <p:sp>
        <p:nvSpPr>
          <p:cNvPr id="2" name="Shape 0"/>
          <p:cNvSpPr/>
          <p:nvPr/>
        </p:nvSpPr>
        <p:spPr>
          <a:xfrm>
            <a:off x="8778240" y="-2011680"/>
            <a:ext cx="6400800" cy="6400800"/>
          </a:xfrm>
          <a:prstGeom prst="ellipse">
            <a:avLst/>
          </a:prstGeom>
          <a:solidFill>
            <a:srgbClr val="0E3D39"/>
          </a:solidFill>
          <a:ln/>
        </p:spPr>
      </p:sp>
      <p:sp>
        <p:nvSpPr>
          <p:cNvPr id="3" name="Shape 1"/>
          <p:cNvSpPr/>
          <p:nvPr/>
        </p:nvSpPr>
        <p:spPr>
          <a:xfrm>
            <a:off x="10332720" y="4206240"/>
            <a:ext cx="3840480" cy="3840480"/>
          </a:xfrm>
          <a:prstGeom prst="ellipse">
            <a:avLst/>
          </a:prstGeom>
          <a:solidFill>
            <a:srgbClr val="0F4A44"/>
          </a:solidFill>
          <a:ln/>
        </p:spPr>
      </p:sp>
      <p:sp>
        <p:nvSpPr>
          <p:cNvPr id="4" name="Shape 2"/>
          <p:cNvSpPr/>
          <p:nvPr/>
        </p:nvSpPr>
        <p:spPr>
          <a:xfrm>
            <a:off x="-1463040" y="4846320"/>
            <a:ext cx="3291840" cy="3291840"/>
          </a:xfrm>
          <a:prstGeom prst="ellipse">
            <a:avLst/>
          </a:prstGeom>
          <a:solidFill>
            <a:srgbClr val="0E3D39"/>
          </a:solidFill>
          <a:ln/>
        </p:spPr>
      </p:sp>
      <p:sp>
        <p:nvSpPr>
          <p:cNvPr id="5" name="Shape 3"/>
          <p:cNvSpPr/>
          <p:nvPr/>
        </p:nvSpPr>
        <p:spPr>
          <a:xfrm>
            <a:off x="685800" y="822960"/>
            <a:ext cx="4206240" cy="347472"/>
          </a:xfrm>
          <a:prstGeom prst="roundRect">
            <a:avLst>
              <a:gd name="adj" fmla="val 50000"/>
            </a:avLst>
          </a:prstGeom>
          <a:solidFill>
            <a:srgbClr val="12504A"/>
          </a:solidFill>
          <a:ln/>
        </p:spPr>
      </p:sp>
      <p:sp>
        <p:nvSpPr>
          <p:cNvPr id="6" name="Text 4"/>
          <p:cNvSpPr/>
          <p:nvPr/>
        </p:nvSpPr>
        <p:spPr>
          <a:xfrm>
            <a:off x="685800" y="822960"/>
            <a:ext cx="4206240" cy="347472"/>
          </a:xfrm>
          <a:prstGeom prst="rect">
            <a:avLst/>
          </a:prstGeom>
          <a:noFill/>
          <a:ln/>
        </p:spPr>
        <p:txBody>
          <a:bodyPr wrap="square" rtlCol="0" anchor="ctr"/>
          <a:lstStyle/>
          <a:p>
            <a:pPr marL="0" indent="0" algn="ctr">
              <a:buNone/>
            </a:pPr>
            <a:r>
              <a:rPr lang="en-US" sz="1150" b="1" kern="0" spc="200" dirty="0">
                <a:solidFill>
                  <a:srgbClr val="02C39A"/>
                </a:solidFill>
                <a:latin typeface="Calibri" pitchFamily="34" charset="0"/>
                <a:ea typeface="Calibri" pitchFamily="34" charset="-122"/>
                <a:cs typeface="Calibri" pitchFamily="34" charset="-120"/>
              </a:rPr>
              <a:t>PYTHON  ·  CLI  ·  JSON FILE STORAGE</a:t>
            </a:r>
            <a:endParaRPr lang="en-US" sz="1150" dirty="0"/>
          </a:p>
        </p:txBody>
      </p:sp>
      <p:sp>
        <p:nvSpPr>
          <p:cNvPr id="7" name="Text 5"/>
          <p:cNvSpPr/>
          <p:nvPr/>
        </p:nvSpPr>
        <p:spPr>
          <a:xfrm>
            <a:off x="685800" y="1463040"/>
            <a:ext cx="8778240" cy="2651760"/>
          </a:xfrm>
          <a:prstGeom prst="rect">
            <a:avLst/>
          </a:prstGeom>
          <a:noFill/>
          <a:ln/>
        </p:spPr>
        <p:txBody>
          <a:bodyPr wrap="square" rtlCol="0" anchor="ctr"/>
          <a:lstStyle/>
          <a:p>
            <a:pPr marL="0" indent="0">
              <a:lnSpc>
                <a:spcPts val="5000"/>
              </a:lnSpc>
              <a:buNone/>
            </a:pPr>
            <a:r>
              <a:rPr lang="en-US" sz="4600" b="1" dirty="0">
                <a:solidFill>
                  <a:srgbClr val="FFFFFF"/>
                </a:solidFill>
                <a:latin typeface="Century Schoolbook" pitchFamily="34" charset="0"/>
                <a:ea typeface="Century Schoolbook" pitchFamily="34" charset="-122"/>
                <a:cs typeface="Century Schoolbook" pitchFamily="34" charset="-120"/>
              </a:rPr>
              <a:t>Doctor Appointment</a:t>
            </a:r>
            <a:endParaRPr lang="en-US" sz="4600" dirty="0"/>
          </a:p>
          <a:p>
            <a:pPr marL="0" indent="0">
              <a:lnSpc>
                <a:spcPts val="5000"/>
              </a:lnSpc>
              <a:buNone/>
            </a:pPr>
            <a:r>
              <a:rPr lang="en-US" sz="4600" b="1" dirty="0">
                <a:solidFill>
                  <a:srgbClr val="FFFFFF"/>
                </a:solidFill>
                <a:latin typeface="Century Schoolbook" pitchFamily="34" charset="0"/>
                <a:ea typeface="Century Schoolbook" pitchFamily="34" charset="-122"/>
                <a:cs typeface="Century Schoolbook" pitchFamily="34" charset="-120"/>
              </a:rPr>
              <a:t>Booking Management</a:t>
            </a:r>
            <a:endParaRPr lang="en-US" sz="4600" dirty="0"/>
          </a:p>
          <a:p>
            <a:pPr marL="0" indent="0">
              <a:lnSpc>
                <a:spcPts val="5000"/>
              </a:lnSpc>
              <a:buNone/>
            </a:pPr>
            <a:r>
              <a:rPr lang="en-US" sz="4600" b="1" dirty="0">
                <a:solidFill>
                  <a:srgbClr val="FFFFFF"/>
                </a:solidFill>
                <a:latin typeface="Century Schoolbook" pitchFamily="34" charset="0"/>
                <a:ea typeface="Century Schoolbook" pitchFamily="34" charset="-122"/>
                <a:cs typeface="Century Schoolbook" pitchFamily="34" charset="-120"/>
              </a:rPr>
              <a:t>System</a:t>
            </a:r>
            <a:endParaRPr lang="en-US" sz="4600" dirty="0"/>
          </a:p>
        </p:txBody>
      </p:sp>
      <p:sp>
        <p:nvSpPr>
          <p:cNvPr id="8" name="Text 6"/>
          <p:cNvSpPr/>
          <p:nvPr/>
        </p:nvSpPr>
        <p:spPr>
          <a:xfrm>
            <a:off x="713232" y="4160520"/>
            <a:ext cx="7589520" cy="822960"/>
          </a:xfrm>
          <a:prstGeom prst="rect">
            <a:avLst/>
          </a:prstGeom>
          <a:noFill/>
          <a:ln/>
        </p:spPr>
        <p:txBody>
          <a:bodyPr wrap="square" rtlCol="0" anchor="ctr"/>
          <a:lstStyle/>
          <a:p>
            <a:pPr marL="0" indent="0">
              <a:lnSpc>
                <a:spcPts val="2100"/>
              </a:lnSpc>
              <a:buNone/>
            </a:pPr>
            <a:r>
              <a:rPr lang="en-US" sz="1500" dirty="0">
                <a:solidFill>
                  <a:srgbClr val="BFE3DE"/>
                </a:solidFill>
                <a:latin typeface="Calibri" pitchFamily="34" charset="0"/>
                <a:ea typeface="Calibri" pitchFamily="34" charset="-122"/>
                <a:cs typeface="Calibri" pitchFamily="34" charset="-120"/>
              </a:rPr>
              <a:t>A project-planning walkthrough for a real-world clinic scheduling problem — built with plain Python functions and a JSON file as the database.</a:t>
            </a:r>
            <a:endParaRPr lang="en-US" sz="1500" dirty="0"/>
          </a:p>
        </p:txBody>
      </p:sp>
      <p:sp>
        <p:nvSpPr>
          <p:cNvPr id="9" name="Shape 7"/>
          <p:cNvSpPr/>
          <p:nvPr/>
        </p:nvSpPr>
        <p:spPr>
          <a:xfrm>
            <a:off x="713232" y="5257800"/>
            <a:ext cx="3291840" cy="566928"/>
          </a:xfrm>
          <a:prstGeom prst="roundRect">
            <a:avLst>
              <a:gd name="adj" fmla="val 50000"/>
            </a:avLst>
          </a:prstGeom>
          <a:solidFill>
            <a:srgbClr val="10433E"/>
          </a:solidFill>
          <a:ln/>
        </p:spPr>
      </p:sp>
      <p:pic>
        <p:nvPicPr>
          <p:cNvPr id="10" name="Image 0" descr="/home/claude/booking_ppt/icons/terminal_mint.png"/>
          <p:cNvPicPr>
            <a:picLocks noChangeAspect="1"/>
          </p:cNvPicPr>
          <p:nvPr/>
        </p:nvPicPr>
        <p:blipFill>
          <a:blip r:embed="rId3"/>
          <a:stretch>
            <a:fillRect/>
          </a:stretch>
        </p:blipFill>
        <p:spPr>
          <a:xfrm>
            <a:off x="859536" y="5413248"/>
            <a:ext cx="256032" cy="256032"/>
          </a:xfrm>
          <a:prstGeom prst="rect">
            <a:avLst/>
          </a:prstGeom>
        </p:spPr>
      </p:pic>
      <p:sp>
        <p:nvSpPr>
          <p:cNvPr id="11" name="Text 8"/>
          <p:cNvSpPr/>
          <p:nvPr/>
        </p:nvSpPr>
        <p:spPr>
          <a:xfrm>
            <a:off x="1188720" y="5257800"/>
            <a:ext cx="2834640" cy="566928"/>
          </a:xfrm>
          <a:prstGeom prst="rect">
            <a:avLst/>
          </a:prstGeom>
          <a:noFill/>
          <a:ln/>
        </p:spPr>
        <p:txBody>
          <a:bodyPr wrap="square" rtlCol="0" anchor="ctr"/>
          <a:lstStyle/>
          <a:p>
            <a:pPr marL="0" indent="0">
              <a:buNone/>
            </a:pPr>
            <a:r>
              <a:rPr lang="en-US" sz="1100" b="1" dirty="0">
                <a:solidFill>
                  <a:srgbClr val="E4FBF7"/>
                </a:solidFill>
                <a:latin typeface="Calibri" pitchFamily="34" charset="0"/>
                <a:ea typeface="Calibri" pitchFamily="34" charset="-122"/>
                <a:cs typeface="Calibri" pitchFamily="34" charset="-120"/>
              </a:rPr>
              <a:t>No Classes — Just Functions</a:t>
            </a:r>
            <a:endParaRPr lang="en-US" sz="1100" dirty="0"/>
          </a:p>
        </p:txBody>
      </p:sp>
      <p:sp>
        <p:nvSpPr>
          <p:cNvPr id="12" name="Shape 9"/>
          <p:cNvSpPr/>
          <p:nvPr/>
        </p:nvSpPr>
        <p:spPr>
          <a:xfrm>
            <a:off x="4206240" y="5257800"/>
            <a:ext cx="2926080" cy="566928"/>
          </a:xfrm>
          <a:prstGeom prst="roundRect">
            <a:avLst>
              <a:gd name="adj" fmla="val 50000"/>
            </a:avLst>
          </a:prstGeom>
          <a:solidFill>
            <a:srgbClr val="10433E"/>
          </a:solidFill>
          <a:ln/>
        </p:spPr>
      </p:sp>
      <p:pic>
        <p:nvPicPr>
          <p:cNvPr id="13" name="Image 1" descr="/home/claude/booking_ppt/icons/json_mint.png"/>
          <p:cNvPicPr>
            <a:picLocks noChangeAspect="1"/>
          </p:cNvPicPr>
          <p:nvPr/>
        </p:nvPicPr>
        <p:blipFill>
          <a:blip r:embed="rId4"/>
          <a:stretch>
            <a:fillRect/>
          </a:stretch>
        </p:blipFill>
        <p:spPr>
          <a:xfrm>
            <a:off x="4352544" y="5413248"/>
            <a:ext cx="256032" cy="256032"/>
          </a:xfrm>
          <a:prstGeom prst="rect">
            <a:avLst/>
          </a:prstGeom>
        </p:spPr>
      </p:pic>
      <p:sp>
        <p:nvSpPr>
          <p:cNvPr id="14" name="Text 10"/>
          <p:cNvSpPr/>
          <p:nvPr/>
        </p:nvSpPr>
        <p:spPr>
          <a:xfrm>
            <a:off x="4681728" y="5257800"/>
            <a:ext cx="2468880" cy="566928"/>
          </a:xfrm>
          <a:prstGeom prst="rect">
            <a:avLst/>
          </a:prstGeom>
          <a:noFill/>
          <a:ln/>
        </p:spPr>
        <p:txBody>
          <a:bodyPr wrap="square" rtlCol="0" anchor="ctr"/>
          <a:lstStyle/>
          <a:p>
            <a:pPr marL="0" indent="0">
              <a:buNone/>
            </a:pPr>
            <a:r>
              <a:rPr lang="en-US" sz="1100" b="1" dirty="0">
                <a:solidFill>
                  <a:srgbClr val="E4FBF7"/>
                </a:solidFill>
                <a:latin typeface="Calibri" pitchFamily="34" charset="0"/>
                <a:ea typeface="Calibri" pitchFamily="34" charset="-122"/>
                <a:cs typeface="Calibri" pitchFamily="34" charset="-120"/>
              </a:rPr>
              <a:t>No Database — Just JSON</a:t>
            </a:r>
            <a:endParaRPr lang="en-US" sz="1100" dirty="0"/>
          </a:p>
        </p:txBody>
      </p:sp>
      <p:sp>
        <p:nvSpPr>
          <p:cNvPr id="18" name="Text 13"/>
          <p:cNvSpPr/>
          <p:nvPr/>
        </p:nvSpPr>
        <p:spPr>
          <a:xfrm>
            <a:off x="457200" y="6519672"/>
            <a:ext cx="7315200" cy="274320"/>
          </a:xfrm>
          <a:prstGeom prst="rect">
            <a:avLst/>
          </a:prstGeom>
          <a:noFill/>
          <a:ln/>
        </p:spPr>
        <p:txBody>
          <a:bodyPr wrap="square" rtlCol="0" anchor="ctr"/>
          <a:lstStyle/>
          <a:p>
            <a:pPr marL="0" indent="0">
              <a:buNone/>
            </a:pPr>
            <a:r>
              <a:rPr lang="en-US" sz="900" kern="0" spc="100" dirty="0">
                <a:solidFill>
                  <a:srgbClr val="7FB8B0"/>
                </a:solidFill>
                <a:latin typeface="Calibri" pitchFamily="34" charset="0"/>
                <a:ea typeface="Calibri" pitchFamily="34" charset="-122"/>
                <a:cs typeface="Calibri" pitchFamily="34" charset="-120"/>
              </a:rPr>
              <a:t>DOCTOR APPOINTMENT BOOKING SYSTEM  ·  PROJECT PLANNING</a:t>
            </a:r>
            <a:endParaRPr lang="en-US" sz="900" dirty="0"/>
          </a:p>
        </p:txBody>
      </p:sp>
      <p:sp>
        <p:nvSpPr>
          <p:cNvPr id="19" name="Text 14"/>
          <p:cNvSpPr/>
          <p:nvPr/>
        </p:nvSpPr>
        <p:spPr>
          <a:xfrm>
            <a:off x="11338560" y="6519672"/>
            <a:ext cx="457200" cy="274320"/>
          </a:xfrm>
          <a:prstGeom prst="rect">
            <a:avLst/>
          </a:prstGeom>
          <a:noFill/>
          <a:ln/>
        </p:spPr>
        <p:txBody>
          <a:bodyPr wrap="square" rtlCol="0" anchor="ctr"/>
          <a:lstStyle/>
          <a:p>
            <a:pPr marL="0" indent="0" algn="r">
              <a:buNone/>
            </a:pPr>
            <a:r>
              <a:rPr lang="en-US" sz="900" dirty="0">
                <a:solidFill>
                  <a:srgbClr val="7FB8B0"/>
                </a:solidFill>
                <a:latin typeface="Calibri" pitchFamily="34" charset="0"/>
                <a:ea typeface="Calibri" pitchFamily="34" charset="-122"/>
                <a:cs typeface="Calibri" pitchFamily="34" charset="-120"/>
              </a:rPr>
              <a:t>01</a:t>
            </a:r>
            <a:endParaRPr lang="en-US" sz="9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BFA"/>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47472"/>
          </a:xfrm>
          <a:prstGeom prst="roundRect">
            <a:avLst>
              <a:gd name="adj" fmla="val 50000"/>
            </a:avLst>
          </a:prstGeom>
          <a:solidFill>
            <a:srgbClr val="E4F5F2"/>
          </a:solidFill>
          <a:ln/>
        </p:spPr>
      </p:sp>
      <p:sp>
        <p:nvSpPr>
          <p:cNvPr id="3" name="Text 1"/>
          <p:cNvSpPr/>
          <p:nvPr/>
        </p:nvSpPr>
        <p:spPr>
          <a:xfrm>
            <a:off x="548640" y="457200"/>
            <a:ext cx="3291840" cy="347472"/>
          </a:xfrm>
          <a:prstGeom prst="rect">
            <a:avLst/>
          </a:prstGeom>
          <a:noFill/>
          <a:ln/>
        </p:spPr>
        <p:txBody>
          <a:bodyPr wrap="square" rtlCol="0" anchor="ctr"/>
          <a:lstStyle/>
          <a:p>
            <a:pPr marL="0" indent="0" algn="ctr">
              <a:buNone/>
            </a:pPr>
            <a:r>
              <a:rPr lang="en-US" sz="1150" b="1" kern="0" spc="200" dirty="0">
                <a:solidFill>
                  <a:srgbClr val="028090"/>
                </a:solidFill>
                <a:latin typeface="Calibri" pitchFamily="34" charset="0"/>
                <a:ea typeface="Calibri" pitchFamily="34" charset="-122"/>
                <a:cs typeface="Calibri" pitchFamily="34" charset="-120"/>
              </a:rPr>
              <a:t>WHAT WE'LL COVER</a:t>
            </a:r>
            <a:endParaRPr lang="en-US" sz="1150" dirty="0"/>
          </a:p>
        </p:txBody>
      </p:sp>
      <p:sp>
        <p:nvSpPr>
          <p:cNvPr id="4" name="Text 2"/>
          <p:cNvSpPr/>
          <p:nvPr/>
        </p:nvSpPr>
        <p:spPr>
          <a:xfrm>
            <a:off x="548640" y="896112"/>
            <a:ext cx="10515600" cy="822960"/>
          </a:xfrm>
          <a:prstGeom prst="rect">
            <a:avLst/>
          </a:prstGeom>
          <a:noFill/>
          <a:ln/>
        </p:spPr>
        <p:txBody>
          <a:bodyPr wrap="square" rtlCol="0" anchor="ctr"/>
          <a:lstStyle/>
          <a:p>
            <a:pPr marL="0" indent="0" algn="l">
              <a:buNone/>
            </a:pPr>
            <a:r>
              <a:rPr lang="en-US" sz="3200" b="1" dirty="0">
                <a:solidFill>
                  <a:srgbClr val="0F2E2A"/>
                </a:solidFill>
                <a:latin typeface="Century Schoolbook" pitchFamily="34" charset="0"/>
                <a:ea typeface="Century Schoolbook" pitchFamily="34" charset="-122"/>
                <a:cs typeface="Century Schoolbook" pitchFamily="34" charset="-120"/>
              </a:rPr>
              <a:t>Planning the Project, Start to Finish</a:t>
            </a:r>
            <a:endParaRPr lang="en-US" sz="3200" dirty="0"/>
          </a:p>
        </p:txBody>
      </p:sp>
      <p:sp>
        <p:nvSpPr>
          <p:cNvPr id="5" name="Shape 3"/>
          <p:cNvSpPr/>
          <p:nvPr/>
        </p:nvSpPr>
        <p:spPr>
          <a:xfrm>
            <a:off x="548640" y="1600200"/>
            <a:ext cx="5074920" cy="987552"/>
          </a:xfrm>
          <a:prstGeom prst="roundRect">
            <a:avLst>
              <a:gd name="adj" fmla="val 11111"/>
            </a:avLst>
          </a:prstGeom>
          <a:solidFill>
            <a:srgbClr val="FFFFFF"/>
          </a:solidFill>
          <a:ln/>
          <a:effectLst>
            <a:outerShdw blurRad="114300" dist="38100" dir="5400000" algn="bl" rotWithShape="0">
              <a:srgbClr val="1B4B45">
                <a:alpha val="18000"/>
              </a:srgbClr>
            </a:outerShdw>
          </a:effectLst>
        </p:spPr>
      </p:sp>
      <p:sp>
        <p:nvSpPr>
          <p:cNvPr id="6" name="Shape 4"/>
          <p:cNvSpPr/>
          <p:nvPr/>
        </p:nvSpPr>
        <p:spPr>
          <a:xfrm>
            <a:off x="731520" y="1828800"/>
            <a:ext cx="530352" cy="530352"/>
          </a:xfrm>
          <a:prstGeom prst="ellipse">
            <a:avLst/>
          </a:prstGeom>
          <a:solidFill>
            <a:srgbClr val="028090"/>
          </a:solidFill>
          <a:ln/>
        </p:spPr>
      </p:sp>
      <p:pic>
        <p:nvPicPr>
          <p:cNvPr id="7" name="Image 0" descr="/home/claude/booking_ppt/icons/users_white.png"/>
          <p:cNvPicPr>
            <a:picLocks noChangeAspect="1"/>
          </p:cNvPicPr>
          <p:nvPr/>
        </p:nvPicPr>
        <p:blipFill>
          <a:blip r:embed="rId3"/>
          <a:stretch>
            <a:fillRect/>
          </a:stretch>
        </p:blipFill>
        <p:spPr>
          <a:xfrm>
            <a:off x="800466" y="1897746"/>
            <a:ext cx="392460" cy="392460"/>
          </a:xfrm>
          <a:prstGeom prst="rect">
            <a:avLst/>
          </a:prstGeom>
        </p:spPr>
      </p:pic>
      <p:sp>
        <p:nvSpPr>
          <p:cNvPr id="8" name="Text 5"/>
          <p:cNvSpPr/>
          <p:nvPr/>
        </p:nvSpPr>
        <p:spPr>
          <a:xfrm>
            <a:off x="1417320" y="1709928"/>
            <a:ext cx="4023360" cy="329184"/>
          </a:xfrm>
          <a:prstGeom prst="rect">
            <a:avLst/>
          </a:prstGeom>
          <a:noFill/>
          <a:ln/>
        </p:spPr>
        <p:txBody>
          <a:bodyPr wrap="square" rtlCol="0" anchor="ctr"/>
          <a:lstStyle/>
          <a:p>
            <a:pPr marL="0" indent="0">
              <a:buNone/>
            </a:pPr>
            <a:r>
              <a:rPr lang="en-US" sz="1350" b="1" dirty="0">
                <a:solidFill>
                  <a:srgbClr val="0F2E2A"/>
                </a:solidFill>
                <a:latin typeface="Calibri" pitchFamily="34" charset="0"/>
                <a:ea typeface="Calibri" pitchFamily="34" charset="-122"/>
                <a:cs typeface="Calibri" pitchFamily="34" charset="-120"/>
              </a:rPr>
              <a:t>The Clinic's Problem</a:t>
            </a:r>
            <a:endParaRPr lang="en-US" sz="1350" dirty="0"/>
          </a:p>
        </p:txBody>
      </p:sp>
      <p:sp>
        <p:nvSpPr>
          <p:cNvPr id="9" name="Text 6"/>
          <p:cNvSpPr/>
          <p:nvPr/>
        </p:nvSpPr>
        <p:spPr>
          <a:xfrm>
            <a:off x="1417320" y="2057400"/>
            <a:ext cx="4023360" cy="457200"/>
          </a:xfrm>
          <a:prstGeom prst="rect">
            <a:avLst/>
          </a:prstGeom>
          <a:noFill/>
          <a:ln/>
        </p:spPr>
        <p:txBody>
          <a:bodyPr wrap="square" rtlCol="0" anchor="ctr"/>
          <a:lstStyle/>
          <a:p>
            <a:pPr marL="0" indent="0">
              <a:lnSpc>
                <a:spcPts val="1300"/>
              </a:lnSpc>
              <a:buNone/>
            </a:pPr>
            <a:r>
              <a:rPr lang="en-US" sz="1050" dirty="0">
                <a:solidFill>
                  <a:srgbClr val="5C7A75"/>
                </a:solidFill>
                <a:latin typeface="Calibri" pitchFamily="34" charset="0"/>
                <a:ea typeface="Calibri" pitchFamily="34" charset="-122"/>
                <a:cs typeface="Calibri" pitchFamily="34" charset="-120"/>
              </a:rPr>
              <a:t>Why manual booking breaks down</a:t>
            </a:r>
            <a:endParaRPr lang="en-US" sz="1050" dirty="0"/>
          </a:p>
        </p:txBody>
      </p:sp>
      <p:sp>
        <p:nvSpPr>
          <p:cNvPr id="10" name="Shape 7"/>
          <p:cNvSpPr/>
          <p:nvPr/>
        </p:nvSpPr>
        <p:spPr>
          <a:xfrm>
            <a:off x="548640" y="2734056"/>
            <a:ext cx="5074920" cy="987552"/>
          </a:xfrm>
          <a:prstGeom prst="roundRect">
            <a:avLst>
              <a:gd name="adj" fmla="val 11111"/>
            </a:avLst>
          </a:prstGeom>
          <a:solidFill>
            <a:srgbClr val="FFFFFF"/>
          </a:solidFill>
          <a:ln/>
          <a:effectLst>
            <a:outerShdw blurRad="114300" dist="38100" dir="5400000" algn="bl" rotWithShape="0">
              <a:srgbClr val="1B4B45">
                <a:alpha val="18000"/>
              </a:srgbClr>
            </a:outerShdw>
          </a:effectLst>
        </p:spPr>
      </p:sp>
      <p:sp>
        <p:nvSpPr>
          <p:cNvPr id="11" name="Shape 8"/>
          <p:cNvSpPr/>
          <p:nvPr/>
        </p:nvSpPr>
        <p:spPr>
          <a:xfrm>
            <a:off x="731520" y="2962656"/>
            <a:ext cx="530352" cy="530352"/>
          </a:xfrm>
          <a:prstGeom prst="ellipse">
            <a:avLst/>
          </a:prstGeom>
          <a:solidFill>
            <a:srgbClr val="028090"/>
          </a:solidFill>
          <a:ln/>
        </p:spPr>
      </p:sp>
      <p:pic>
        <p:nvPicPr>
          <p:cNvPr id="12" name="Image 1" descr="/home/claude/booking_ppt/icons/target_white.png"/>
          <p:cNvPicPr>
            <a:picLocks noChangeAspect="1"/>
          </p:cNvPicPr>
          <p:nvPr/>
        </p:nvPicPr>
        <p:blipFill>
          <a:blip r:embed="rId4"/>
          <a:stretch>
            <a:fillRect/>
          </a:stretch>
        </p:blipFill>
        <p:spPr>
          <a:xfrm>
            <a:off x="800466" y="3031602"/>
            <a:ext cx="392460" cy="392460"/>
          </a:xfrm>
          <a:prstGeom prst="rect">
            <a:avLst/>
          </a:prstGeom>
        </p:spPr>
      </p:pic>
      <p:sp>
        <p:nvSpPr>
          <p:cNvPr id="13" name="Text 9"/>
          <p:cNvSpPr/>
          <p:nvPr/>
        </p:nvSpPr>
        <p:spPr>
          <a:xfrm>
            <a:off x="1417320" y="2843784"/>
            <a:ext cx="4023360" cy="329184"/>
          </a:xfrm>
          <a:prstGeom prst="rect">
            <a:avLst/>
          </a:prstGeom>
          <a:noFill/>
          <a:ln/>
        </p:spPr>
        <p:txBody>
          <a:bodyPr wrap="square" rtlCol="0" anchor="ctr"/>
          <a:lstStyle/>
          <a:p>
            <a:pPr marL="0" indent="0">
              <a:buNone/>
            </a:pPr>
            <a:r>
              <a:rPr lang="en-US" sz="1350" b="1" dirty="0">
                <a:solidFill>
                  <a:srgbClr val="0F2E2A"/>
                </a:solidFill>
                <a:latin typeface="Calibri" pitchFamily="34" charset="0"/>
                <a:ea typeface="Calibri" pitchFamily="34" charset="-122"/>
                <a:cs typeface="Calibri" pitchFamily="34" charset="-120"/>
              </a:rPr>
              <a:t>Purpose &amp; Goals</a:t>
            </a:r>
            <a:endParaRPr lang="en-US" sz="1350" dirty="0"/>
          </a:p>
        </p:txBody>
      </p:sp>
      <p:sp>
        <p:nvSpPr>
          <p:cNvPr id="14" name="Text 10"/>
          <p:cNvSpPr/>
          <p:nvPr/>
        </p:nvSpPr>
        <p:spPr>
          <a:xfrm>
            <a:off x="1417320" y="3191256"/>
            <a:ext cx="4023360" cy="457200"/>
          </a:xfrm>
          <a:prstGeom prst="rect">
            <a:avLst/>
          </a:prstGeom>
          <a:noFill/>
          <a:ln/>
        </p:spPr>
        <p:txBody>
          <a:bodyPr wrap="square" rtlCol="0" anchor="ctr"/>
          <a:lstStyle/>
          <a:p>
            <a:pPr marL="0" indent="0">
              <a:lnSpc>
                <a:spcPts val="1300"/>
              </a:lnSpc>
              <a:buNone/>
            </a:pPr>
            <a:r>
              <a:rPr lang="en-US" sz="1050" dirty="0">
                <a:solidFill>
                  <a:srgbClr val="5C7A75"/>
                </a:solidFill>
                <a:latin typeface="Calibri" pitchFamily="34" charset="0"/>
                <a:ea typeface="Calibri" pitchFamily="34" charset="-122"/>
                <a:cs typeface="Calibri" pitchFamily="34" charset="-120"/>
              </a:rPr>
              <a:t>What the system must achieve</a:t>
            </a:r>
            <a:endParaRPr lang="en-US" sz="1050" dirty="0"/>
          </a:p>
        </p:txBody>
      </p:sp>
      <p:sp>
        <p:nvSpPr>
          <p:cNvPr id="15" name="Shape 11"/>
          <p:cNvSpPr/>
          <p:nvPr/>
        </p:nvSpPr>
        <p:spPr>
          <a:xfrm>
            <a:off x="548640" y="3867912"/>
            <a:ext cx="5074920" cy="987552"/>
          </a:xfrm>
          <a:prstGeom prst="roundRect">
            <a:avLst>
              <a:gd name="adj" fmla="val 11111"/>
            </a:avLst>
          </a:prstGeom>
          <a:solidFill>
            <a:srgbClr val="FFFFFF"/>
          </a:solidFill>
          <a:ln/>
          <a:effectLst>
            <a:outerShdw blurRad="114300" dist="38100" dir="5400000" algn="bl" rotWithShape="0">
              <a:srgbClr val="1B4B45">
                <a:alpha val="18000"/>
              </a:srgbClr>
            </a:outerShdw>
          </a:effectLst>
        </p:spPr>
      </p:sp>
      <p:sp>
        <p:nvSpPr>
          <p:cNvPr id="16" name="Shape 12"/>
          <p:cNvSpPr/>
          <p:nvPr/>
        </p:nvSpPr>
        <p:spPr>
          <a:xfrm>
            <a:off x="731520" y="4096512"/>
            <a:ext cx="530352" cy="530352"/>
          </a:xfrm>
          <a:prstGeom prst="ellipse">
            <a:avLst/>
          </a:prstGeom>
          <a:solidFill>
            <a:srgbClr val="028090"/>
          </a:solidFill>
          <a:ln/>
        </p:spPr>
      </p:sp>
      <p:pic>
        <p:nvPicPr>
          <p:cNvPr id="17" name="Image 2" descr="/home/claude/booking_ppt/icons/code_white.png"/>
          <p:cNvPicPr>
            <a:picLocks noChangeAspect="1"/>
          </p:cNvPicPr>
          <p:nvPr/>
        </p:nvPicPr>
        <p:blipFill>
          <a:blip r:embed="rId5"/>
          <a:stretch>
            <a:fillRect/>
          </a:stretch>
        </p:blipFill>
        <p:spPr>
          <a:xfrm>
            <a:off x="800466" y="4165458"/>
            <a:ext cx="392460" cy="392460"/>
          </a:xfrm>
          <a:prstGeom prst="rect">
            <a:avLst/>
          </a:prstGeom>
        </p:spPr>
      </p:pic>
      <p:sp>
        <p:nvSpPr>
          <p:cNvPr id="18" name="Text 13"/>
          <p:cNvSpPr/>
          <p:nvPr/>
        </p:nvSpPr>
        <p:spPr>
          <a:xfrm>
            <a:off x="1417320" y="3977640"/>
            <a:ext cx="4023360" cy="329184"/>
          </a:xfrm>
          <a:prstGeom prst="rect">
            <a:avLst/>
          </a:prstGeom>
          <a:noFill/>
          <a:ln/>
        </p:spPr>
        <p:txBody>
          <a:bodyPr wrap="square" rtlCol="0" anchor="ctr"/>
          <a:lstStyle/>
          <a:p>
            <a:pPr marL="0" indent="0">
              <a:buNone/>
            </a:pPr>
            <a:r>
              <a:rPr lang="en-US" sz="1350" b="1" dirty="0">
                <a:solidFill>
                  <a:srgbClr val="0F2E2A"/>
                </a:solidFill>
                <a:latin typeface="Calibri" pitchFamily="34" charset="0"/>
                <a:ea typeface="Calibri" pitchFamily="34" charset="-122"/>
                <a:cs typeface="Calibri" pitchFamily="34" charset="-120"/>
              </a:rPr>
              <a:t>Tech Approach</a:t>
            </a:r>
            <a:endParaRPr lang="en-US" sz="1350" dirty="0"/>
          </a:p>
        </p:txBody>
      </p:sp>
      <p:sp>
        <p:nvSpPr>
          <p:cNvPr id="19" name="Text 14"/>
          <p:cNvSpPr/>
          <p:nvPr/>
        </p:nvSpPr>
        <p:spPr>
          <a:xfrm>
            <a:off x="1417320" y="4325112"/>
            <a:ext cx="4023360" cy="457200"/>
          </a:xfrm>
          <a:prstGeom prst="rect">
            <a:avLst/>
          </a:prstGeom>
          <a:noFill/>
          <a:ln/>
        </p:spPr>
        <p:txBody>
          <a:bodyPr wrap="square" rtlCol="0" anchor="ctr"/>
          <a:lstStyle/>
          <a:p>
            <a:pPr marL="0" indent="0">
              <a:lnSpc>
                <a:spcPts val="1300"/>
              </a:lnSpc>
              <a:buNone/>
            </a:pPr>
            <a:r>
              <a:rPr lang="en-US" sz="1050" dirty="0">
                <a:solidFill>
                  <a:srgbClr val="5C7A75"/>
                </a:solidFill>
                <a:latin typeface="Calibri" pitchFamily="34" charset="0"/>
                <a:ea typeface="Calibri" pitchFamily="34" charset="-122"/>
                <a:cs typeface="Calibri" pitchFamily="34" charset="-120"/>
              </a:rPr>
              <a:t>Functions only, JSON for storage</a:t>
            </a:r>
            <a:endParaRPr lang="en-US" sz="1050" dirty="0"/>
          </a:p>
        </p:txBody>
      </p:sp>
      <p:sp>
        <p:nvSpPr>
          <p:cNvPr id="20" name="Shape 15"/>
          <p:cNvSpPr/>
          <p:nvPr/>
        </p:nvSpPr>
        <p:spPr>
          <a:xfrm>
            <a:off x="548640" y="5001768"/>
            <a:ext cx="5074920" cy="987552"/>
          </a:xfrm>
          <a:prstGeom prst="roundRect">
            <a:avLst>
              <a:gd name="adj" fmla="val 11111"/>
            </a:avLst>
          </a:prstGeom>
          <a:solidFill>
            <a:srgbClr val="FFFFFF"/>
          </a:solidFill>
          <a:ln/>
          <a:effectLst>
            <a:outerShdw blurRad="114300" dist="38100" dir="5400000" algn="bl" rotWithShape="0">
              <a:srgbClr val="1B4B45">
                <a:alpha val="18000"/>
              </a:srgbClr>
            </a:outerShdw>
          </a:effectLst>
        </p:spPr>
      </p:sp>
      <p:sp>
        <p:nvSpPr>
          <p:cNvPr id="21" name="Shape 16"/>
          <p:cNvSpPr/>
          <p:nvPr/>
        </p:nvSpPr>
        <p:spPr>
          <a:xfrm>
            <a:off x="731520" y="5230368"/>
            <a:ext cx="530352" cy="530352"/>
          </a:xfrm>
          <a:prstGeom prst="ellipse">
            <a:avLst/>
          </a:prstGeom>
          <a:solidFill>
            <a:srgbClr val="028090"/>
          </a:solidFill>
          <a:ln/>
        </p:spPr>
      </p:sp>
      <p:pic>
        <p:nvPicPr>
          <p:cNvPr id="22" name="Image 3" descr="/home/claude/booking_ppt/icons/layer_white.png"/>
          <p:cNvPicPr>
            <a:picLocks noChangeAspect="1"/>
          </p:cNvPicPr>
          <p:nvPr/>
        </p:nvPicPr>
        <p:blipFill>
          <a:blip r:embed="rId6"/>
          <a:stretch>
            <a:fillRect/>
          </a:stretch>
        </p:blipFill>
        <p:spPr>
          <a:xfrm>
            <a:off x="800466" y="5299314"/>
            <a:ext cx="392460" cy="392460"/>
          </a:xfrm>
          <a:prstGeom prst="rect">
            <a:avLst/>
          </a:prstGeom>
        </p:spPr>
      </p:pic>
      <p:sp>
        <p:nvSpPr>
          <p:cNvPr id="23" name="Text 17"/>
          <p:cNvSpPr/>
          <p:nvPr/>
        </p:nvSpPr>
        <p:spPr>
          <a:xfrm>
            <a:off x="1417320" y="5111496"/>
            <a:ext cx="4023360" cy="329184"/>
          </a:xfrm>
          <a:prstGeom prst="rect">
            <a:avLst/>
          </a:prstGeom>
          <a:noFill/>
          <a:ln/>
        </p:spPr>
        <p:txBody>
          <a:bodyPr wrap="square" rtlCol="0" anchor="ctr"/>
          <a:lstStyle/>
          <a:p>
            <a:pPr marL="0" indent="0">
              <a:buNone/>
            </a:pPr>
            <a:r>
              <a:rPr lang="en-US" sz="1350" b="1" dirty="0">
                <a:solidFill>
                  <a:srgbClr val="0F2E2A"/>
                </a:solidFill>
                <a:latin typeface="Calibri" pitchFamily="34" charset="0"/>
                <a:ea typeface="Calibri" pitchFamily="34" charset="-122"/>
                <a:cs typeface="Calibri" pitchFamily="34" charset="-120"/>
              </a:rPr>
              <a:t>Data Model</a:t>
            </a:r>
            <a:endParaRPr lang="en-US" sz="1350" dirty="0"/>
          </a:p>
        </p:txBody>
      </p:sp>
      <p:sp>
        <p:nvSpPr>
          <p:cNvPr id="24" name="Text 18"/>
          <p:cNvSpPr/>
          <p:nvPr/>
        </p:nvSpPr>
        <p:spPr>
          <a:xfrm>
            <a:off x="1417320" y="5458968"/>
            <a:ext cx="4023360" cy="457200"/>
          </a:xfrm>
          <a:prstGeom prst="rect">
            <a:avLst/>
          </a:prstGeom>
          <a:noFill/>
          <a:ln/>
        </p:spPr>
        <p:txBody>
          <a:bodyPr wrap="square" rtlCol="0" anchor="ctr"/>
          <a:lstStyle/>
          <a:p>
            <a:pPr marL="0" indent="0">
              <a:lnSpc>
                <a:spcPts val="1300"/>
              </a:lnSpc>
              <a:buNone/>
            </a:pPr>
            <a:r>
              <a:rPr lang="en-US" sz="1050" dirty="0">
                <a:solidFill>
                  <a:srgbClr val="5C7A75"/>
                </a:solidFill>
                <a:latin typeface="Calibri" pitchFamily="34" charset="0"/>
                <a:ea typeface="Calibri" pitchFamily="34" charset="-122"/>
                <a:cs typeface="Calibri" pitchFamily="34" charset="-120"/>
              </a:rPr>
              <a:t>Doctors, patients, schedules, appointments</a:t>
            </a:r>
            <a:endParaRPr lang="en-US" sz="1050" dirty="0"/>
          </a:p>
        </p:txBody>
      </p:sp>
      <p:sp>
        <p:nvSpPr>
          <p:cNvPr id="25" name="Shape 19"/>
          <p:cNvSpPr/>
          <p:nvPr/>
        </p:nvSpPr>
        <p:spPr>
          <a:xfrm>
            <a:off x="6080760" y="1600200"/>
            <a:ext cx="5074920" cy="987552"/>
          </a:xfrm>
          <a:prstGeom prst="roundRect">
            <a:avLst>
              <a:gd name="adj" fmla="val 11111"/>
            </a:avLst>
          </a:prstGeom>
          <a:solidFill>
            <a:srgbClr val="FFFFFF"/>
          </a:solidFill>
          <a:ln/>
          <a:effectLst>
            <a:outerShdw blurRad="114300" dist="38100" dir="5400000" algn="bl" rotWithShape="0">
              <a:srgbClr val="1B4B45">
                <a:alpha val="18000"/>
              </a:srgbClr>
            </a:outerShdw>
          </a:effectLst>
        </p:spPr>
      </p:sp>
      <p:sp>
        <p:nvSpPr>
          <p:cNvPr id="26" name="Shape 20"/>
          <p:cNvSpPr/>
          <p:nvPr/>
        </p:nvSpPr>
        <p:spPr>
          <a:xfrm>
            <a:off x="6263640" y="1828800"/>
            <a:ext cx="530352" cy="530352"/>
          </a:xfrm>
          <a:prstGeom prst="ellipse">
            <a:avLst/>
          </a:prstGeom>
          <a:solidFill>
            <a:srgbClr val="028090"/>
          </a:solidFill>
          <a:ln/>
        </p:spPr>
      </p:sp>
      <p:pic>
        <p:nvPicPr>
          <p:cNvPr id="27" name="Image 4" descr="/home/claude/booking_ppt/icons/clock_white.png"/>
          <p:cNvPicPr>
            <a:picLocks noChangeAspect="1"/>
          </p:cNvPicPr>
          <p:nvPr/>
        </p:nvPicPr>
        <p:blipFill>
          <a:blip r:embed="rId7"/>
          <a:stretch>
            <a:fillRect/>
          </a:stretch>
        </p:blipFill>
        <p:spPr>
          <a:xfrm>
            <a:off x="6332586" y="1897746"/>
            <a:ext cx="392460" cy="392460"/>
          </a:xfrm>
          <a:prstGeom prst="rect">
            <a:avLst/>
          </a:prstGeom>
        </p:spPr>
      </p:pic>
      <p:sp>
        <p:nvSpPr>
          <p:cNvPr id="28" name="Text 21"/>
          <p:cNvSpPr/>
          <p:nvPr/>
        </p:nvSpPr>
        <p:spPr>
          <a:xfrm>
            <a:off x="6949440" y="1709928"/>
            <a:ext cx="4023360" cy="329184"/>
          </a:xfrm>
          <a:prstGeom prst="rect">
            <a:avLst/>
          </a:prstGeom>
          <a:noFill/>
          <a:ln/>
        </p:spPr>
        <p:txBody>
          <a:bodyPr wrap="square" rtlCol="0" anchor="ctr"/>
          <a:lstStyle/>
          <a:p>
            <a:pPr marL="0" indent="0">
              <a:buNone/>
            </a:pPr>
            <a:r>
              <a:rPr lang="en-US" sz="1350" b="1" dirty="0">
                <a:solidFill>
                  <a:srgbClr val="0F2E2A"/>
                </a:solidFill>
                <a:latin typeface="Calibri" pitchFamily="34" charset="0"/>
                <a:ea typeface="Calibri" pitchFamily="34" charset="-122"/>
                <a:cs typeface="Calibri" pitchFamily="34" charset="-120"/>
              </a:rPr>
              <a:t>Slot Generation</a:t>
            </a:r>
            <a:endParaRPr lang="en-US" sz="1350" dirty="0"/>
          </a:p>
        </p:txBody>
      </p:sp>
      <p:sp>
        <p:nvSpPr>
          <p:cNvPr id="29" name="Text 22"/>
          <p:cNvSpPr/>
          <p:nvPr/>
        </p:nvSpPr>
        <p:spPr>
          <a:xfrm>
            <a:off x="6949440" y="2057400"/>
            <a:ext cx="4023360" cy="457200"/>
          </a:xfrm>
          <a:prstGeom prst="rect">
            <a:avLst/>
          </a:prstGeom>
          <a:noFill/>
          <a:ln/>
        </p:spPr>
        <p:txBody>
          <a:bodyPr wrap="square" rtlCol="0" anchor="ctr"/>
          <a:lstStyle/>
          <a:p>
            <a:pPr marL="0" indent="0">
              <a:lnSpc>
                <a:spcPts val="1300"/>
              </a:lnSpc>
              <a:buNone/>
            </a:pPr>
            <a:r>
              <a:rPr lang="en-US" sz="1050" dirty="0">
                <a:solidFill>
                  <a:srgbClr val="5C7A75"/>
                </a:solidFill>
                <a:latin typeface="Calibri" pitchFamily="34" charset="0"/>
                <a:ea typeface="Calibri" pitchFamily="34" charset="-122"/>
                <a:cs typeface="Calibri" pitchFamily="34" charset="-120"/>
              </a:rPr>
              <a:t>Building availability from a schedule</a:t>
            </a:r>
            <a:endParaRPr lang="en-US" sz="1050" dirty="0"/>
          </a:p>
        </p:txBody>
      </p:sp>
      <p:sp>
        <p:nvSpPr>
          <p:cNvPr id="30" name="Shape 23"/>
          <p:cNvSpPr/>
          <p:nvPr/>
        </p:nvSpPr>
        <p:spPr>
          <a:xfrm>
            <a:off x="6080760" y="2734056"/>
            <a:ext cx="5074920" cy="987552"/>
          </a:xfrm>
          <a:prstGeom prst="roundRect">
            <a:avLst>
              <a:gd name="adj" fmla="val 11111"/>
            </a:avLst>
          </a:prstGeom>
          <a:solidFill>
            <a:srgbClr val="FFFFFF"/>
          </a:solidFill>
          <a:ln/>
          <a:effectLst>
            <a:outerShdw blurRad="114300" dist="38100" dir="5400000" algn="bl" rotWithShape="0">
              <a:srgbClr val="1B4B45">
                <a:alpha val="18000"/>
              </a:srgbClr>
            </a:outerShdw>
          </a:effectLst>
        </p:spPr>
      </p:sp>
      <p:sp>
        <p:nvSpPr>
          <p:cNvPr id="31" name="Shape 24"/>
          <p:cNvSpPr/>
          <p:nvPr/>
        </p:nvSpPr>
        <p:spPr>
          <a:xfrm>
            <a:off x="6263640" y="2962656"/>
            <a:ext cx="530352" cy="530352"/>
          </a:xfrm>
          <a:prstGeom prst="ellipse">
            <a:avLst/>
          </a:prstGeom>
          <a:solidFill>
            <a:srgbClr val="028090"/>
          </a:solidFill>
          <a:ln/>
        </p:spPr>
      </p:sp>
      <p:pic>
        <p:nvPicPr>
          <p:cNvPr id="32" name="Image 5" descr="/home/claude/booking_ppt/icons/shield_white.png"/>
          <p:cNvPicPr>
            <a:picLocks noChangeAspect="1"/>
          </p:cNvPicPr>
          <p:nvPr/>
        </p:nvPicPr>
        <p:blipFill>
          <a:blip r:embed="rId8"/>
          <a:stretch>
            <a:fillRect/>
          </a:stretch>
        </p:blipFill>
        <p:spPr>
          <a:xfrm>
            <a:off x="6332586" y="3031602"/>
            <a:ext cx="392460" cy="392460"/>
          </a:xfrm>
          <a:prstGeom prst="rect">
            <a:avLst/>
          </a:prstGeom>
        </p:spPr>
      </p:pic>
      <p:sp>
        <p:nvSpPr>
          <p:cNvPr id="33" name="Text 25"/>
          <p:cNvSpPr/>
          <p:nvPr/>
        </p:nvSpPr>
        <p:spPr>
          <a:xfrm>
            <a:off x="6949440" y="2843784"/>
            <a:ext cx="4023360" cy="329184"/>
          </a:xfrm>
          <a:prstGeom prst="rect">
            <a:avLst/>
          </a:prstGeom>
          <a:noFill/>
          <a:ln/>
        </p:spPr>
        <p:txBody>
          <a:bodyPr wrap="square" rtlCol="0" anchor="ctr"/>
          <a:lstStyle/>
          <a:p>
            <a:pPr marL="0" indent="0">
              <a:buNone/>
            </a:pPr>
            <a:r>
              <a:rPr lang="en-US" sz="1350" b="1" dirty="0">
                <a:solidFill>
                  <a:srgbClr val="0F2E2A"/>
                </a:solidFill>
                <a:latin typeface="Calibri" pitchFamily="34" charset="0"/>
                <a:ea typeface="Calibri" pitchFamily="34" charset="-122"/>
                <a:cs typeface="Calibri" pitchFamily="34" charset="-120"/>
              </a:rPr>
              <a:t>Business Rules</a:t>
            </a:r>
            <a:endParaRPr lang="en-US" sz="1350" dirty="0"/>
          </a:p>
        </p:txBody>
      </p:sp>
      <p:sp>
        <p:nvSpPr>
          <p:cNvPr id="34" name="Text 26"/>
          <p:cNvSpPr/>
          <p:nvPr/>
        </p:nvSpPr>
        <p:spPr>
          <a:xfrm>
            <a:off x="6949440" y="3191256"/>
            <a:ext cx="4023360" cy="457200"/>
          </a:xfrm>
          <a:prstGeom prst="rect">
            <a:avLst/>
          </a:prstGeom>
          <a:noFill/>
          <a:ln/>
        </p:spPr>
        <p:txBody>
          <a:bodyPr wrap="square" rtlCol="0" anchor="ctr"/>
          <a:lstStyle/>
          <a:p>
            <a:pPr marL="0" indent="0">
              <a:lnSpc>
                <a:spcPts val="1300"/>
              </a:lnSpc>
              <a:buNone/>
            </a:pPr>
            <a:r>
              <a:rPr lang="en-US" sz="1050" dirty="0">
                <a:solidFill>
                  <a:srgbClr val="5C7A75"/>
                </a:solidFill>
                <a:latin typeface="Calibri" pitchFamily="34" charset="0"/>
                <a:ea typeface="Calibri" pitchFamily="34" charset="-122"/>
                <a:cs typeface="Calibri" pitchFamily="34" charset="-120"/>
              </a:rPr>
              <a:t>No double-booking, no bad input</a:t>
            </a:r>
            <a:endParaRPr lang="en-US" sz="1050" dirty="0"/>
          </a:p>
        </p:txBody>
      </p:sp>
      <p:sp>
        <p:nvSpPr>
          <p:cNvPr id="35" name="Shape 27"/>
          <p:cNvSpPr/>
          <p:nvPr/>
        </p:nvSpPr>
        <p:spPr>
          <a:xfrm>
            <a:off x="6080760" y="3867912"/>
            <a:ext cx="5074920" cy="987552"/>
          </a:xfrm>
          <a:prstGeom prst="roundRect">
            <a:avLst>
              <a:gd name="adj" fmla="val 11111"/>
            </a:avLst>
          </a:prstGeom>
          <a:solidFill>
            <a:srgbClr val="FFFFFF"/>
          </a:solidFill>
          <a:ln/>
          <a:effectLst>
            <a:outerShdw blurRad="114300" dist="38100" dir="5400000" algn="bl" rotWithShape="0">
              <a:srgbClr val="1B4B45">
                <a:alpha val="18000"/>
              </a:srgbClr>
            </a:outerShdw>
          </a:effectLst>
        </p:spPr>
      </p:sp>
      <p:sp>
        <p:nvSpPr>
          <p:cNvPr id="36" name="Shape 28"/>
          <p:cNvSpPr/>
          <p:nvPr/>
        </p:nvSpPr>
        <p:spPr>
          <a:xfrm>
            <a:off x="6263640" y="4096512"/>
            <a:ext cx="530352" cy="530352"/>
          </a:xfrm>
          <a:prstGeom prst="ellipse">
            <a:avLst/>
          </a:prstGeom>
          <a:solidFill>
            <a:srgbClr val="028090"/>
          </a:solidFill>
          <a:ln/>
        </p:spPr>
      </p:sp>
      <p:pic>
        <p:nvPicPr>
          <p:cNvPr id="37" name="Image 6" descr="/home/claude/booking_ppt/icons/terminal_white.png"/>
          <p:cNvPicPr>
            <a:picLocks noChangeAspect="1"/>
          </p:cNvPicPr>
          <p:nvPr/>
        </p:nvPicPr>
        <p:blipFill>
          <a:blip r:embed="rId9"/>
          <a:stretch>
            <a:fillRect/>
          </a:stretch>
        </p:blipFill>
        <p:spPr>
          <a:xfrm>
            <a:off x="6332586" y="4165458"/>
            <a:ext cx="392460" cy="392460"/>
          </a:xfrm>
          <a:prstGeom prst="rect">
            <a:avLst/>
          </a:prstGeom>
        </p:spPr>
      </p:pic>
      <p:sp>
        <p:nvSpPr>
          <p:cNvPr id="38" name="Text 29"/>
          <p:cNvSpPr/>
          <p:nvPr/>
        </p:nvSpPr>
        <p:spPr>
          <a:xfrm>
            <a:off x="6949440" y="3977640"/>
            <a:ext cx="4023360" cy="329184"/>
          </a:xfrm>
          <a:prstGeom prst="rect">
            <a:avLst/>
          </a:prstGeom>
          <a:noFill/>
          <a:ln/>
        </p:spPr>
        <p:txBody>
          <a:bodyPr wrap="square" rtlCol="0" anchor="ctr"/>
          <a:lstStyle/>
          <a:p>
            <a:pPr marL="0" indent="0">
              <a:buNone/>
            </a:pPr>
            <a:r>
              <a:rPr lang="en-US" sz="1350" b="1" dirty="0">
                <a:solidFill>
                  <a:srgbClr val="0F2E2A"/>
                </a:solidFill>
                <a:latin typeface="Calibri" pitchFamily="34" charset="0"/>
                <a:ea typeface="Calibri" pitchFamily="34" charset="-122"/>
                <a:cs typeface="Calibri" pitchFamily="34" charset="-120"/>
              </a:rPr>
              <a:t>CLI Design</a:t>
            </a:r>
            <a:endParaRPr lang="en-US" sz="1350" dirty="0"/>
          </a:p>
        </p:txBody>
      </p:sp>
      <p:sp>
        <p:nvSpPr>
          <p:cNvPr id="39" name="Text 30"/>
          <p:cNvSpPr/>
          <p:nvPr/>
        </p:nvSpPr>
        <p:spPr>
          <a:xfrm>
            <a:off x="6949440" y="4325112"/>
            <a:ext cx="4023360" cy="457200"/>
          </a:xfrm>
          <a:prstGeom prst="rect">
            <a:avLst/>
          </a:prstGeom>
          <a:noFill/>
          <a:ln/>
        </p:spPr>
        <p:txBody>
          <a:bodyPr wrap="square" rtlCol="0" anchor="ctr"/>
          <a:lstStyle/>
          <a:p>
            <a:pPr marL="0" indent="0">
              <a:lnSpc>
                <a:spcPts val="1300"/>
              </a:lnSpc>
              <a:buNone/>
            </a:pPr>
            <a:r>
              <a:rPr lang="en-US" sz="1050" dirty="0">
                <a:solidFill>
                  <a:srgbClr val="5C7A75"/>
                </a:solidFill>
                <a:latin typeface="Calibri" pitchFamily="34" charset="0"/>
                <a:ea typeface="Calibri" pitchFamily="34" charset="-122"/>
                <a:cs typeface="Calibri" pitchFamily="34" charset="-120"/>
              </a:rPr>
              <a:t>The menu the receptionist will use</a:t>
            </a:r>
            <a:endParaRPr lang="en-US" sz="1050" dirty="0"/>
          </a:p>
        </p:txBody>
      </p:sp>
      <p:sp>
        <p:nvSpPr>
          <p:cNvPr id="40" name="Shape 31"/>
          <p:cNvSpPr/>
          <p:nvPr/>
        </p:nvSpPr>
        <p:spPr>
          <a:xfrm>
            <a:off x="6080760" y="5001768"/>
            <a:ext cx="5074920" cy="987552"/>
          </a:xfrm>
          <a:prstGeom prst="roundRect">
            <a:avLst>
              <a:gd name="adj" fmla="val 11111"/>
            </a:avLst>
          </a:prstGeom>
          <a:solidFill>
            <a:srgbClr val="FFFFFF"/>
          </a:solidFill>
          <a:ln/>
          <a:effectLst>
            <a:outerShdw blurRad="114300" dist="38100" dir="5400000" algn="bl" rotWithShape="0">
              <a:srgbClr val="1B4B45">
                <a:alpha val="18000"/>
              </a:srgbClr>
            </a:outerShdw>
          </a:effectLst>
        </p:spPr>
      </p:sp>
      <p:sp>
        <p:nvSpPr>
          <p:cNvPr id="41" name="Shape 32"/>
          <p:cNvSpPr/>
          <p:nvPr/>
        </p:nvSpPr>
        <p:spPr>
          <a:xfrm>
            <a:off x="6263640" y="5230368"/>
            <a:ext cx="530352" cy="530352"/>
          </a:xfrm>
          <a:prstGeom prst="ellipse">
            <a:avLst/>
          </a:prstGeom>
          <a:solidFill>
            <a:srgbClr val="028090"/>
          </a:solidFill>
          <a:ln/>
        </p:spPr>
      </p:sp>
      <p:pic>
        <p:nvPicPr>
          <p:cNvPr id="42" name="Image 7" descr="/home/claude/booking_ppt/icons/rocket_white.png"/>
          <p:cNvPicPr>
            <a:picLocks noChangeAspect="1"/>
          </p:cNvPicPr>
          <p:nvPr/>
        </p:nvPicPr>
        <p:blipFill>
          <a:blip r:embed="rId10"/>
          <a:stretch>
            <a:fillRect/>
          </a:stretch>
        </p:blipFill>
        <p:spPr>
          <a:xfrm>
            <a:off x="6332586" y="5299314"/>
            <a:ext cx="392460" cy="392460"/>
          </a:xfrm>
          <a:prstGeom prst="rect">
            <a:avLst/>
          </a:prstGeom>
        </p:spPr>
      </p:pic>
      <p:sp>
        <p:nvSpPr>
          <p:cNvPr id="43" name="Text 33"/>
          <p:cNvSpPr/>
          <p:nvPr/>
        </p:nvSpPr>
        <p:spPr>
          <a:xfrm>
            <a:off x="6949440" y="5111496"/>
            <a:ext cx="4023360" cy="329184"/>
          </a:xfrm>
          <a:prstGeom prst="rect">
            <a:avLst/>
          </a:prstGeom>
          <a:noFill/>
          <a:ln/>
        </p:spPr>
        <p:txBody>
          <a:bodyPr wrap="square" rtlCol="0" anchor="ctr"/>
          <a:lstStyle/>
          <a:p>
            <a:pPr marL="0" indent="0">
              <a:buNone/>
            </a:pPr>
            <a:r>
              <a:rPr lang="en-US" sz="1350" b="1" dirty="0">
                <a:solidFill>
                  <a:srgbClr val="0F2E2A"/>
                </a:solidFill>
                <a:latin typeface="Calibri" pitchFamily="34" charset="0"/>
                <a:ea typeface="Calibri" pitchFamily="34" charset="-122"/>
                <a:cs typeface="Calibri" pitchFamily="34" charset="-120"/>
              </a:rPr>
              <a:t>Success &amp; Roadmap</a:t>
            </a:r>
            <a:endParaRPr lang="en-US" sz="1350" dirty="0"/>
          </a:p>
        </p:txBody>
      </p:sp>
      <p:sp>
        <p:nvSpPr>
          <p:cNvPr id="44" name="Text 34"/>
          <p:cNvSpPr/>
          <p:nvPr/>
        </p:nvSpPr>
        <p:spPr>
          <a:xfrm>
            <a:off x="6949440" y="5458968"/>
            <a:ext cx="4023360" cy="457200"/>
          </a:xfrm>
          <a:prstGeom prst="rect">
            <a:avLst/>
          </a:prstGeom>
          <a:noFill/>
          <a:ln/>
        </p:spPr>
        <p:txBody>
          <a:bodyPr wrap="square" rtlCol="0" anchor="ctr"/>
          <a:lstStyle/>
          <a:p>
            <a:pPr marL="0" indent="0">
              <a:lnSpc>
                <a:spcPts val="1300"/>
              </a:lnSpc>
              <a:buNone/>
            </a:pPr>
            <a:r>
              <a:rPr lang="en-US" sz="1050" dirty="0">
                <a:solidFill>
                  <a:srgbClr val="5C7A75"/>
                </a:solidFill>
                <a:latin typeface="Calibri" pitchFamily="34" charset="0"/>
                <a:ea typeface="Calibri" pitchFamily="34" charset="-122"/>
                <a:cs typeface="Calibri" pitchFamily="34" charset="-120"/>
              </a:rPr>
              <a:t>Definition of done, and what's next</a:t>
            </a:r>
            <a:endParaRPr lang="en-US" sz="1050" dirty="0"/>
          </a:p>
        </p:txBody>
      </p:sp>
      <p:sp>
        <p:nvSpPr>
          <p:cNvPr id="45" name="Text 35"/>
          <p:cNvSpPr/>
          <p:nvPr/>
        </p:nvSpPr>
        <p:spPr>
          <a:xfrm>
            <a:off x="457200" y="6519672"/>
            <a:ext cx="7315200" cy="274320"/>
          </a:xfrm>
          <a:prstGeom prst="rect">
            <a:avLst/>
          </a:prstGeom>
          <a:noFill/>
          <a:ln/>
        </p:spPr>
        <p:txBody>
          <a:bodyPr wrap="square" rtlCol="0" anchor="ctr"/>
          <a:lstStyle/>
          <a:p>
            <a:pPr marL="0" indent="0">
              <a:buNone/>
            </a:pPr>
            <a:r>
              <a:rPr lang="en-US" sz="900" kern="0" spc="100" dirty="0">
                <a:solidFill>
                  <a:srgbClr val="5C7A75"/>
                </a:solidFill>
                <a:latin typeface="Calibri" pitchFamily="34" charset="0"/>
                <a:ea typeface="Calibri" pitchFamily="34" charset="-122"/>
                <a:cs typeface="Calibri" pitchFamily="34" charset="-120"/>
              </a:rPr>
              <a:t>DOCTOR APPOINTMENT BOOKING SYSTEM  ·  PROJECT PLANNING</a:t>
            </a:r>
            <a:endParaRPr lang="en-US" sz="900" dirty="0"/>
          </a:p>
        </p:txBody>
      </p:sp>
      <p:sp>
        <p:nvSpPr>
          <p:cNvPr id="46" name="Text 36"/>
          <p:cNvSpPr/>
          <p:nvPr/>
        </p:nvSpPr>
        <p:spPr>
          <a:xfrm>
            <a:off x="11338560" y="6519672"/>
            <a:ext cx="457200" cy="274320"/>
          </a:xfrm>
          <a:prstGeom prst="rect">
            <a:avLst/>
          </a:prstGeom>
          <a:noFill/>
          <a:ln/>
        </p:spPr>
        <p:txBody>
          <a:bodyPr wrap="square" rtlCol="0" anchor="ctr"/>
          <a:lstStyle/>
          <a:p>
            <a:pPr marL="0" indent="0" algn="r">
              <a:buNone/>
            </a:pPr>
            <a:r>
              <a:rPr lang="en-US" sz="900" dirty="0">
                <a:solidFill>
                  <a:srgbClr val="5C7A75"/>
                </a:solidFill>
                <a:latin typeface="Calibri" pitchFamily="34" charset="0"/>
                <a:ea typeface="Calibri" pitchFamily="34" charset="-122"/>
                <a:cs typeface="Calibri" pitchFamily="34" charset="-120"/>
              </a:rPr>
              <a:t>02</a:t>
            </a:r>
            <a:endParaRPr lang="en-US" sz="9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BFA"/>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47472"/>
          </a:xfrm>
          <a:prstGeom prst="roundRect">
            <a:avLst>
              <a:gd name="adj" fmla="val 50000"/>
            </a:avLst>
          </a:prstGeom>
          <a:solidFill>
            <a:srgbClr val="E4F5F2"/>
          </a:solidFill>
          <a:ln/>
        </p:spPr>
      </p:sp>
      <p:sp>
        <p:nvSpPr>
          <p:cNvPr id="3" name="Text 1"/>
          <p:cNvSpPr/>
          <p:nvPr/>
        </p:nvSpPr>
        <p:spPr>
          <a:xfrm>
            <a:off x="548640" y="457200"/>
            <a:ext cx="3291840" cy="347472"/>
          </a:xfrm>
          <a:prstGeom prst="rect">
            <a:avLst/>
          </a:prstGeom>
          <a:noFill/>
          <a:ln/>
        </p:spPr>
        <p:txBody>
          <a:bodyPr wrap="square" rtlCol="0" anchor="ctr"/>
          <a:lstStyle/>
          <a:p>
            <a:pPr marL="0" indent="0" algn="ctr">
              <a:buNone/>
            </a:pPr>
            <a:r>
              <a:rPr lang="en-US" sz="1150" b="1" kern="0" spc="200" dirty="0">
                <a:solidFill>
                  <a:srgbClr val="028090"/>
                </a:solidFill>
                <a:latin typeface="Calibri" pitchFamily="34" charset="0"/>
                <a:ea typeface="Calibri" pitchFamily="34" charset="-122"/>
                <a:cs typeface="Calibri" pitchFamily="34" charset="-120"/>
              </a:rPr>
              <a:t>THE STORY</a:t>
            </a:r>
            <a:endParaRPr lang="en-US" sz="1150" dirty="0"/>
          </a:p>
        </p:txBody>
      </p:sp>
      <p:sp>
        <p:nvSpPr>
          <p:cNvPr id="4" name="Text 2"/>
          <p:cNvSpPr/>
          <p:nvPr/>
        </p:nvSpPr>
        <p:spPr>
          <a:xfrm>
            <a:off x="548640" y="896112"/>
            <a:ext cx="10515600" cy="822960"/>
          </a:xfrm>
          <a:prstGeom prst="rect">
            <a:avLst/>
          </a:prstGeom>
          <a:noFill/>
          <a:ln/>
        </p:spPr>
        <p:txBody>
          <a:bodyPr wrap="square" rtlCol="0" anchor="ctr"/>
          <a:lstStyle/>
          <a:p>
            <a:pPr marL="0" indent="0" algn="l">
              <a:buNone/>
            </a:pPr>
            <a:r>
              <a:rPr lang="en-US" sz="3200" b="1" dirty="0">
                <a:solidFill>
                  <a:srgbClr val="0F2E2A"/>
                </a:solidFill>
                <a:latin typeface="Century Schoolbook" pitchFamily="34" charset="0"/>
                <a:ea typeface="Century Schoolbook" pitchFamily="34" charset="-122"/>
                <a:cs typeface="Century Schoolbook" pitchFamily="34" charset="-120"/>
              </a:rPr>
              <a:t>Booking by Notebook Doesn't Scale</a:t>
            </a:r>
            <a:endParaRPr lang="en-US" sz="3200" dirty="0"/>
          </a:p>
        </p:txBody>
      </p:sp>
      <p:sp>
        <p:nvSpPr>
          <p:cNvPr id="5" name="Text 3"/>
          <p:cNvSpPr/>
          <p:nvPr/>
        </p:nvSpPr>
        <p:spPr>
          <a:xfrm>
            <a:off x="548640" y="1691640"/>
            <a:ext cx="4846320" cy="1371600"/>
          </a:xfrm>
          <a:prstGeom prst="rect">
            <a:avLst/>
          </a:prstGeom>
          <a:noFill/>
          <a:ln/>
        </p:spPr>
        <p:txBody>
          <a:bodyPr wrap="square" rtlCol="0" anchor="ctr"/>
          <a:lstStyle/>
          <a:p>
            <a:pPr marL="0" indent="0">
              <a:lnSpc>
                <a:spcPts val="2100"/>
              </a:lnSpc>
              <a:buNone/>
            </a:pPr>
            <a:r>
              <a:rPr lang="en-US" sz="1450" dirty="0">
                <a:solidFill>
                  <a:srgbClr val="0F2E2A"/>
                </a:solidFill>
                <a:latin typeface="Calibri" pitchFamily="34" charset="0"/>
                <a:ea typeface="Calibri" pitchFamily="34" charset="-122"/>
                <a:cs typeface="Calibri" pitchFamily="34" charset="-120"/>
              </a:rPr>
              <a:t>A small clinic runs several doctors, each with their own hours. Patients call in, and a receptionist checks a notebook to see what's free. It works — until the clinic grows.</a:t>
            </a:r>
            <a:endParaRPr lang="en-US" sz="1450" dirty="0"/>
          </a:p>
        </p:txBody>
      </p:sp>
      <p:sp>
        <p:nvSpPr>
          <p:cNvPr id="6" name="Shape 4"/>
          <p:cNvSpPr/>
          <p:nvPr/>
        </p:nvSpPr>
        <p:spPr>
          <a:xfrm>
            <a:off x="548640" y="3246120"/>
            <a:ext cx="4846320" cy="2514600"/>
          </a:xfrm>
          <a:prstGeom prst="roundRect">
            <a:avLst>
              <a:gd name="adj" fmla="val 4364"/>
            </a:avLst>
          </a:prstGeom>
          <a:solidFill>
            <a:srgbClr val="0E3D39"/>
          </a:solidFill>
          <a:ln/>
          <a:effectLst>
            <a:outerShdw blurRad="114300" dist="38100" dir="5400000" algn="bl" rotWithShape="0">
              <a:srgbClr val="1B4B45">
                <a:alpha val="18000"/>
              </a:srgbClr>
            </a:outerShdw>
          </a:effectLst>
        </p:spPr>
      </p:sp>
      <p:pic>
        <p:nvPicPr>
          <p:cNvPr id="7" name="Image 0" descr="/home/claude/booking_ppt/icons/warning_mint.png"/>
          <p:cNvPicPr>
            <a:picLocks noChangeAspect="1"/>
          </p:cNvPicPr>
          <p:nvPr/>
        </p:nvPicPr>
        <p:blipFill>
          <a:blip r:embed="rId3"/>
          <a:stretch>
            <a:fillRect/>
          </a:stretch>
        </p:blipFill>
        <p:spPr>
          <a:xfrm>
            <a:off x="841248" y="3502152"/>
            <a:ext cx="365760" cy="365760"/>
          </a:xfrm>
          <a:prstGeom prst="rect">
            <a:avLst/>
          </a:prstGeom>
        </p:spPr>
      </p:pic>
      <p:sp>
        <p:nvSpPr>
          <p:cNvPr id="8" name="Text 5"/>
          <p:cNvSpPr/>
          <p:nvPr/>
        </p:nvSpPr>
        <p:spPr>
          <a:xfrm>
            <a:off x="1298448" y="3502152"/>
            <a:ext cx="3200400" cy="365760"/>
          </a:xfrm>
          <a:prstGeom prst="rect">
            <a:avLst/>
          </a:prstGeom>
          <a:noFill/>
          <a:ln/>
        </p:spPr>
        <p:txBody>
          <a:bodyPr wrap="square" rtlCol="0" anchor="ctr"/>
          <a:lstStyle/>
          <a:p>
            <a:pPr marL="0" indent="0">
              <a:buNone/>
            </a:pPr>
            <a:r>
              <a:rPr lang="en-US" sz="1300" b="1" dirty="0">
                <a:solidFill>
                  <a:srgbClr val="02C39A"/>
                </a:solidFill>
                <a:latin typeface="Calibri" pitchFamily="34" charset="0"/>
                <a:ea typeface="Calibri" pitchFamily="34" charset="-122"/>
                <a:cs typeface="Calibri" pitchFamily="34" charset="-120"/>
              </a:rPr>
              <a:t>The core risk</a:t>
            </a:r>
            <a:endParaRPr lang="en-US" sz="1300" dirty="0"/>
          </a:p>
        </p:txBody>
      </p:sp>
      <p:sp>
        <p:nvSpPr>
          <p:cNvPr id="9" name="Text 6"/>
          <p:cNvSpPr/>
          <p:nvPr/>
        </p:nvSpPr>
        <p:spPr>
          <a:xfrm>
            <a:off x="841248" y="3950208"/>
            <a:ext cx="4297680" cy="960120"/>
          </a:xfrm>
          <a:prstGeom prst="rect">
            <a:avLst/>
          </a:prstGeom>
          <a:noFill/>
          <a:ln/>
        </p:spPr>
        <p:txBody>
          <a:bodyPr wrap="square" rtlCol="0" anchor="ctr"/>
          <a:lstStyle/>
          <a:p>
            <a:pPr marL="0" indent="0">
              <a:lnSpc>
                <a:spcPts val="1800"/>
              </a:lnSpc>
              <a:buNone/>
            </a:pPr>
            <a:r>
              <a:rPr lang="en-US" sz="1300" dirty="0">
                <a:solidFill>
                  <a:srgbClr val="D7F3EE"/>
                </a:solidFill>
                <a:latin typeface="Calibri" pitchFamily="34" charset="0"/>
                <a:ea typeface="Calibri" pitchFamily="34" charset="-122"/>
                <a:cs typeface="Calibri" pitchFamily="34" charset="-120"/>
              </a:rPr>
              <a:t>Two patients can be given the exact same doctor, same time — a double booking that's invisible until someone shows up.</a:t>
            </a:r>
            <a:endParaRPr lang="en-US" sz="1300" dirty="0"/>
          </a:p>
        </p:txBody>
      </p:sp>
      <p:sp>
        <p:nvSpPr>
          <p:cNvPr id="10" name="Text 7"/>
          <p:cNvSpPr/>
          <p:nvPr/>
        </p:nvSpPr>
        <p:spPr>
          <a:xfrm>
            <a:off x="841248" y="5029200"/>
            <a:ext cx="4297680" cy="640080"/>
          </a:xfrm>
          <a:prstGeom prst="rect">
            <a:avLst/>
          </a:prstGeom>
          <a:noFill/>
          <a:ln/>
        </p:spPr>
        <p:txBody>
          <a:bodyPr wrap="square" rtlCol="0" anchor="ctr"/>
          <a:lstStyle/>
          <a:p>
            <a:pPr marL="0" indent="0">
              <a:lnSpc>
                <a:spcPts val="1600"/>
              </a:lnSpc>
              <a:buNone/>
            </a:pPr>
            <a:r>
              <a:rPr lang="en-US" sz="1200" i="1" dirty="0">
                <a:solidFill>
                  <a:srgbClr val="9FD8CF"/>
                </a:solidFill>
                <a:latin typeface="Calibri" pitchFamily="34" charset="0"/>
                <a:ea typeface="Calibri" pitchFamily="34" charset="-122"/>
                <a:cs typeface="Calibri" pitchFamily="34" charset="-120"/>
              </a:rPr>
              <a:t>This project replaces the notebook with logic that checks availability before every booking.</a:t>
            </a:r>
            <a:endParaRPr lang="en-US" sz="1200" dirty="0"/>
          </a:p>
        </p:txBody>
      </p:sp>
      <p:sp>
        <p:nvSpPr>
          <p:cNvPr id="11" name="Shape 8"/>
          <p:cNvSpPr/>
          <p:nvPr/>
        </p:nvSpPr>
        <p:spPr>
          <a:xfrm>
            <a:off x="5806440" y="1691640"/>
            <a:ext cx="5806440" cy="960120"/>
          </a:xfrm>
          <a:prstGeom prst="roundRect">
            <a:avLst>
              <a:gd name="adj" fmla="val 11429"/>
            </a:avLst>
          </a:prstGeom>
          <a:solidFill>
            <a:srgbClr val="FFFFFF"/>
          </a:solidFill>
          <a:ln/>
          <a:effectLst>
            <a:outerShdw blurRad="114300" dist="38100" dir="5400000" algn="bl" rotWithShape="0">
              <a:srgbClr val="1B4B45">
                <a:alpha val="18000"/>
              </a:srgbClr>
            </a:outerShdw>
          </a:effectLst>
        </p:spPr>
      </p:sp>
      <p:sp>
        <p:nvSpPr>
          <p:cNvPr id="12" name="Shape 9"/>
          <p:cNvSpPr/>
          <p:nvPr/>
        </p:nvSpPr>
        <p:spPr>
          <a:xfrm>
            <a:off x="5971032" y="1924812"/>
            <a:ext cx="493776" cy="493776"/>
          </a:xfrm>
          <a:prstGeom prst="ellipse">
            <a:avLst/>
          </a:prstGeom>
          <a:solidFill>
            <a:srgbClr val="E85D5D"/>
          </a:solidFill>
          <a:ln/>
        </p:spPr>
      </p:sp>
      <p:pic>
        <p:nvPicPr>
          <p:cNvPr id="13" name="Image 1" descr="/home/claude/booking_ppt/icons/search_white.png"/>
          <p:cNvPicPr>
            <a:picLocks noChangeAspect="1"/>
          </p:cNvPicPr>
          <p:nvPr/>
        </p:nvPicPr>
        <p:blipFill>
          <a:blip r:embed="rId4"/>
          <a:stretch>
            <a:fillRect/>
          </a:stretch>
        </p:blipFill>
        <p:spPr>
          <a:xfrm>
            <a:off x="6035223" y="1989003"/>
            <a:ext cx="365394" cy="365394"/>
          </a:xfrm>
          <a:prstGeom prst="rect">
            <a:avLst/>
          </a:prstGeom>
        </p:spPr>
      </p:pic>
      <p:sp>
        <p:nvSpPr>
          <p:cNvPr id="14" name="Text 10"/>
          <p:cNvSpPr/>
          <p:nvPr/>
        </p:nvSpPr>
        <p:spPr>
          <a:xfrm>
            <a:off x="6629400" y="1801368"/>
            <a:ext cx="4800600" cy="292608"/>
          </a:xfrm>
          <a:prstGeom prst="rect">
            <a:avLst/>
          </a:prstGeom>
          <a:noFill/>
          <a:ln/>
        </p:spPr>
        <p:txBody>
          <a:bodyPr wrap="square" rtlCol="0" anchor="ctr"/>
          <a:lstStyle/>
          <a:p>
            <a:pPr marL="0" indent="0">
              <a:buNone/>
            </a:pPr>
            <a:r>
              <a:rPr lang="en-US" sz="1300" b="1" dirty="0">
                <a:solidFill>
                  <a:srgbClr val="0F2E2A"/>
                </a:solidFill>
                <a:latin typeface="Calibri" pitchFamily="34" charset="0"/>
                <a:ea typeface="Calibri" pitchFamily="34" charset="-122"/>
                <a:cs typeface="Calibri" pitchFamily="34" charset="-120"/>
              </a:rPr>
              <a:t>Slow availability checks</a:t>
            </a:r>
            <a:endParaRPr lang="en-US" sz="1300" dirty="0"/>
          </a:p>
        </p:txBody>
      </p:sp>
      <p:sp>
        <p:nvSpPr>
          <p:cNvPr id="15" name="Text 11"/>
          <p:cNvSpPr/>
          <p:nvPr/>
        </p:nvSpPr>
        <p:spPr>
          <a:xfrm>
            <a:off x="6629400" y="2112264"/>
            <a:ext cx="4800600" cy="502920"/>
          </a:xfrm>
          <a:prstGeom prst="rect">
            <a:avLst/>
          </a:prstGeom>
          <a:noFill/>
          <a:ln/>
        </p:spPr>
        <p:txBody>
          <a:bodyPr wrap="square" rtlCol="0" anchor="ctr"/>
          <a:lstStyle/>
          <a:p>
            <a:pPr marL="0" indent="0">
              <a:lnSpc>
                <a:spcPts val="1250"/>
              </a:lnSpc>
              <a:buNone/>
            </a:pPr>
            <a:r>
              <a:rPr lang="en-US" sz="1000" dirty="0">
                <a:solidFill>
                  <a:srgbClr val="5C7A75"/>
                </a:solidFill>
                <a:latin typeface="Calibri" pitchFamily="34" charset="0"/>
                <a:ea typeface="Calibri" pitchFamily="34" charset="-122"/>
                <a:cs typeface="Calibri" pitchFamily="34" charset="-120"/>
              </a:rPr>
              <a:t>Finding an open slot means scanning paper by hand</a:t>
            </a:r>
            <a:endParaRPr lang="en-US" sz="1000" dirty="0"/>
          </a:p>
        </p:txBody>
      </p:sp>
      <p:sp>
        <p:nvSpPr>
          <p:cNvPr id="16" name="Shape 12"/>
          <p:cNvSpPr/>
          <p:nvPr/>
        </p:nvSpPr>
        <p:spPr>
          <a:xfrm>
            <a:off x="5806440" y="2798064"/>
            <a:ext cx="5806440" cy="960120"/>
          </a:xfrm>
          <a:prstGeom prst="roundRect">
            <a:avLst>
              <a:gd name="adj" fmla="val 11429"/>
            </a:avLst>
          </a:prstGeom>
          <a:solidFill>
            <a:srgbClr val="FFFFFF"/>
          </a:solidFill>
          <a:ln/>
          <a:effectLst>
            <a:outerShdw blurRad="114300" dist="38100" dir="5400000" algn="bl" rotWithShape="0">
              <a:srgbClr val="1B4B45">
                <a:alpha val="18000"/>
              </a:srgbClr>
            </a:outerShdw>
          </a:effectLst>
        </p:spPr>
      </p:sp>
      <p:sp>
        <p:nvSpPr>
          <p:cNvPr id="17" name="Shape 13"/>
          <p:cNvSpPr/>
          <p:nvPr/>
        </p:nvSpPr>
        <p:spPr>
          <a:xfrm>
            <a:off x="5971032" y="3031236"/>
            <a:ext cx="493776" cy="493776"/>
          </a:xfrm>
          <a:prstGeom prst="ellipse">
            <a:avLst/>
          </a:prstGeom>
          <a:solidFill>
            <a:srgbClr val="E85D5D"/>
          </a:solidFill>
          <a:ln/>
        </p:spPr>
      </p:sp>
      <p:pic>
        <p:nvPicPr>
          <p:cNvPr id="18" name="Image 2" descr="/home/claude/booking_ppt/icons/cross_white.png"/>
          <p:cNvPicPr>
            <a:picLocks noChangeAspect="1"/>
          </p:cNvPicPr>
          <p:nvPr/>
        </p:nvPicPr>
        <p:blipFill>
          <a:blip r:embed="rId5"/>
          <a:stretch>
            <a:fillRect/>
          </a:stretch>
        </p:blipFill>
        <p:spPr>
          <a:xfrm>
            <a:off x="6035223" y="3095427"/>
            <a:ext cx="365394" cy="365394"/>
          </a:xfrm>
          <a:prstGeom prst="rect">
            <a:avLst/>
          </a:prstGeom>
        </p:spPr>
      </p:pic>
      <p:sp>
        <p:nvSpPr>
          <p:cNvPr id="19" name="Text 14"/>
          <p:cNvSpPr/>
          <p:nvPr/>
        </p:nvSpPr>
        <p:spPr>
          <a:xfrm>
            <a:off x="6629400" y="2907792"/>
            <a:ext cx="4800600" cy="292608"/>
          </a:xfrm>
          <a:prstGeom prst="rect">
            <a:avLst/>
          </a:prstGeom>
          <a:noFill/>
          <a:ln/>
        </p:spPr>
        <p:txBody>
          <a:bodyPr wrap="square" rtlCol="0" anchor="ctr"/>
          <a:lstStyle/>
          <a:p>
            <a:pPr marL="0" indent="0">
              <a:buNone/>
            </a:pPr>
            <a:r>
              <a:rPr lang="en-US" sz="1300" b="1" dirty="0">
                <a:solidFill>
                  <a:srgbClr val="0F2E2A"/>
                </a:solidFill>
                <a:latin typeface="Calibri" pitchFamily="34" charset="0"/>
                <a:ea typeface="Calibri" pitchFamily="34" charset="-122"/>
                <a:cs typeface="Calibri" pitchFamily="34" charset="-120"/>
              </a:rPr>
              <a:t>Double-booked doctors</a:t>
            </a:r>
            <a:endParaRPr lang="en-US" sz="1300" dirty="0"/>
          </a:p>
        </p:txBody>
      </p:sp>
      <p:sp>
        <p:nvSpPr>
          <p:cNvPr id="20" name="Text 15"/>
          <p:cNvSpPr/>
          <p:nvPr/>
        </p:nvSpPr>
        <p:spPr>
          <a:xfrm>
            <a:off x="6629400" y="3218688"/>
            <a:ext cx="4800600" cy="502920"/>
          </a:xfrm>
          <a:prstGeom prst="rect">
            <a:avLst/>
          </a:prstGeom>
          <a:noFill/>
          <a:ln/>
        </p:spPr>
        <p:txBody>
          <a:bodyPr wrap="square" rtlCol="0" anchor="ctr"/>
          <a:lstStyle/>
          <a:p>
            <a:pPr marL="0" indent="0">
              <a:lnSpc>
                <a:spcPts val="1250"/>
              </a:lnSpc>
              <a:buNone/>
            </a:pPr>
            <a:r>
              <a:rPr lang="en-US" sz="1000" dirty="0">
                <a:solidFill>
                  <a:srgbClr val="5C7A75"/>
                </a:solidFill>
                <a:latin typeface="Calibri" pitchFamily="34" charset="0"/>
                <a:ea typeface="Calibri" pitchFamily="34" charset="-122"/>
                <a:cs typeface="Calibri" pitchFamily="34" charset="-120"/>
              </a:rPr>
              <a:t>No automatic conflict check across appointments</a:t>
            </a:r>
            <a:endParaRPr lang="en-US" sz="1000" dirty="0"/>
          </a:p>
        </p:txBody>
      </p:sp>
      <p:sp>
        <p:nvSpPr>
          <p:cNvPr id="21" name="Shape 16"/>
          <p:cNvSpPr/>
          <p:nvPr/>
        </p:nvSpPr>
        <p:spPr>
          <a:xfrm>
            <a:off x="5806440" y="3904488"/>
            <a:ext cx="5806440" cy="960120"/>
          </a:xfrm>
          <a:prstGeom prst="roundRect">
            <a:avLst>
              <a:gd name="adj" fmla="val 11429"/>
            </a:avLst>
          </a:prstGeom>
          <a:solidFill>
            <a:srgbClr val="FFFFFF"/>
          </a:solidFill>
          <a:ln/>
          <a:effectLst>
            <a:outerShdw blurRad="114300" dist="38100" dir="5400000" algn="bl" rotWithShape="0">
              <a:srgbClr val="1B4B45">
                <a:alpha val="18000"/>
              </a:srgbClr>
            </a:outerShdw>
          </a:effectLst>
        </p:spPr>
      </p:sp>
      <p:sp>
        <p:nvSpPr>
          <p:cNvPr id="22" name="Shape 17"/>
          <p:cNvSpPr/>
          <p:nvPr/>
        </p:nvSpPr>
        <p:spPr>
          <a:xfrm>
            <a:off x="5971032" y="4137660"/>
            <a:ext cx="493776" cy="493776"/>
          </a:xfrm>
          <a:prstGeom prst="ellipse">
            <a:avLst/>
          </a:prstGeom>
          <a:solidFill>
            <a:srgbClr val="E85D5D"/>
          </a:solidFill>
          <a:ln/>
        </p:spPr>
      </p:sp>
      <p:pic>
        <p:nvPicPr>
          <p:cNvPr id="23" name="Image 3" descr="/home/claude/booking_ppt/icons/lock_white.png"/>
          <p:cNvPicPr>
            <a:picLocks noChangeAspect="1"/>
          </p:cNvPicPr>
          <p:nvPr/>
        </p:nvPicPr>
        <p:blipFill>
          <a:blip r:embed="rId6"/>
          <a:stretch>
            <a:fillRect/>
          </a:stretch>
        </p:blipFill>
        <p:spPr>
          <a:xfrm>
            <a:off x="6035223" y="4201851"/>
            <a:ext cx="365394" cy="365394"/>
          </a:xfrm>
          <a:prstGeom prst="rect">
            <a:avLst/>
          </a:prstGeom>
        </p:spPr>
      </p:pic>
      <p:sp>
        <p:nvSpPr>
          <p:cNvPr id="24" name="Text 18"/>
          <p:cNvSpPr/>
          <p:nvPr/>
        </p:nvSpPr>
        <p:spPr>
          <a:xfrm>
            <a:off x="6629400" y="4014216"/>
            <a:ext cx="4800600" cy="292608"/>
          </a:xfrm>
          <a:prstGeom prst="rect">
            <a:avLst/>
          </a:prstGeom>
          <a:noFill/>
          <a:ln/>
        </p:spPr>
        <p:txBody>
          <a:bodyPr wrap="square" rtlCol="0" anchor="ctr"/>
          <a:lstStyle/>
          <a:p>
            <a:pPr marL="0" indent="0">
              <a:buNone/>
            </a:pPr>
            <a:r>
              <a:rPr lang="en-US" sz="1300" b="1" dirty="0">
                <a:solidFill>
                  <a:srgbClr val="0F2E2A"/>
                </a:solidFill>
                <a:latin typeface="Calibri" pitchFamily="34" charset="0"/>
                <a:ea typeface="Calibri" pitchFamily="34" charset="-122"/>
                <a:cs typeface="Calibri" pitchFamily="34" charset="-120"/>
              </a:rPr>
              <a:t>Untracked blocked time</a:t>
            </a:r>
            <a:endParaRPr lang="en-US" sz="1300" dirty="0"/>
          </a:p>
        </p:txBody>
      </p:sp>
      <p:sp>
        <p:nvSpPr>
          <p:cNvPr id="25" name="Text 19"/>
          <p:cNvSpPr/>
          <p:nvPr/>
        </p:nvSpPr>
        <p:spPr>
          <a:xfrm>
            <a:off x="6629400" y="4325112"/>
            <a:ext cx="4800600" cy="502920"/>
          </a:xfrm>
          <a:prstGeom prst="rect">
            <a:avLst/>
          </a:prstGeom>
          <a:noFill/>
          <a:ln/>
        </p:spPr>
        <p:txBody>
          <a:bodyPr wrap="square" rtlCol="0" anchor="ctr"/>
          <a:lstStyle/>
          <a:p>
            <a:pPr marL="0" indent="0">
              <a:lnSpc>
                <a:spcPts val="1250"/>
              </a:lnSpc>
              <a:buNone/>
            </a:pPr>
            <a:r>
              <a:rPr lang="en-US" sz="1000" dirty="0">
                <a:solidFill>
                  <a:srgbClr val="5C7A75"/>
                </a:solidFill>
                <a:latin typeface="Calibri" pitchFamily="34" charset="0"/>
                <a:ea typeface="Calibri" pitchFamily="34" charset="-122"/>
                <a:cs typeface="Calibri" pitchFamily="34" charset="-120"/>
              </a:rPr>
              <a:t>Lunch, meetings &amp; emergencies aren't recorded consistently</a:t>
            </a:r>
            <a:endParaRPr lang="en-US" sz="1000" dirty="0"/>
          </a:p>
        </p:txBody>
      </p:sp>
      <p:sp>
        <p:nvSpPr>
          <p:cNvPr id="26" name="Shape 20"/>
          <p:cNvSpPr/>
          <p:nvPr/>
        </p:nvSpPr>
        <p:spPr>
          <a:xfrm>
            <a:off x="5806440" y="5010912"/>
            <a:ext cx="5806440" cy="960120"/>
          </a:xfrm>
          <a:prstGeom prst="roundRect">
            <a:avLst>
              <a:gd name="adj" fmla="val 11429"/>
            </a:avLst>
          </a:prstGeom>
          <a:solidFill>
            <a:srgbClr val="FFFFFF"/>
          </a:solidFill>
          <a:ln/>
          <a:effectLst>
            <a:outerShdw blurRad="114300" dist="38100" dir="5400000" algn="bl" rotWithShape="0">
              <a:srgbClr val="1B4B45">
                <a:alpha val="18000"/>
              </a:srgbClr>
            </a:outerShdw>
          </a:effectLst>
        </p:spPr>
      </p:sp>
      <p:sp>
        <p:nvSpPr>
          <p:cNvPr id="27" name="Shape 21"/>
          <p:cNvSpPr/>
          <p:nvPr/>
        </p:nvSpPr>
        <p:spPr>
          <a:xfrm>
            <a:off x="5971032" y="5244084"/>
            <a:ext cx="493776" cy="493776"/>
          </a:xfrm>
          <a:prstGeom prst="ellipse">
            <a:avLst/>
          </a:prstGeom>
          <a:solidFill>
            <a:srgbClr val="E85D5D"/>
          </a:solidFill>
          <a:ln/>
        </p:spPr>
      </p:sp>
      <p:pic>
        <p:nvPicPr>
          <p:cNvPr id="28" name="Image 4" descr="/home/claude/booking_ppt/icons/list_white.png"/>
          <p:cNvPicPr>
            <a:picLocks noChangeAspect="1"/>
          </p:cNvPicPr>
          <p:nvPr/>
        </p:nvPicPr>
        <p:blipFill>
          <a:blip r:embed="rId7"/>
          <a:stretch>
            <a:fillRect/>
          </a:stretch>
        </p:blipFill>
        <p:spPr>
          <a:xfrm>
            <a:off x="6035223" y="5308275"/>
            <a:ext cx="365394" cy="365394"/>
          </a:xfrm>
          <a:prstGeom prst="rect">
            <a:avLst/>
          </a:prstGeom>
        </p:spPr>
      </p:pic>
      <p:sp>
        <p:nvSpPr>
          <p:cNvPr id="29" name="Text 22"/>
          <p:cNvSpPr/>
          <p:nvPr/>
        </p:nvSpPr>
        <p:spPr>
          <a:xfrm>
            <a:off x="6629400" y="5120640"/>
            <a:ext cx="4800600" cy="292608"/>
          </a:xfrm>
          <a:prstGeom prst="rect">
            <a:avLst/>
          </a:prstGeom>
          <a:noFill/>
          <a:ln/>
        </p:spPr>
        <p:txBody>
          <a:bodyPr wrap="square" rtlCol="0" anchor="ctr"/>
          <a:lstStyle/>
          <a:p>
            <a:pPr marL="0" indent="0">
              <a:buNone/>
            </a:pPr>
            <a:r>
              <a:rPr lang="en-US" sz="1300" b="1" dirty="0">
                <a:solidFill>
                  <a:srgbClr val="0F2E2A"/>
                </a:solidFill>
                <a:latin typeface="Calibri" pitchFamily="34" charset="0"/>
                <a:ea typeface="Calibri" pitchFamily="34" charset="-122"/>
                <a:cs typeface="Calibri" pitchFamily="34" charset="-120"/>
              </a:rPr>
              <a:t>Scattered records</a:t>
            </a:r>
            <a:endParaRPr lang="en-US" sz="1300" dirty="0"/>
          </a:p>
        </p:txBody>
      </p:sp>
      <p:sp>
        <p:nvSpPr>
          <p:cNvPr id="30" name="Text 23"/>
          <p:cNvSpPr/>
          <p:nvPr/>
        </p:nvSpPr>
        <p:spPr>
          <a:xfrm>
            <a:off x="6629400" y="5431536"/>
            <a:ext cx="4800600" cy="502920"/>
          </a:xfrm>
          <a:prstGeom prst="rect">
            <a:avLst/>
          </a:prstGeom>
          <a:noFill/>
          <a:ln/>
        </p:spPr>
        <p:txBody>
          <a:bodyPr wrap="square" rtlCol="0" anchor="ctr"/>
          <a:lstStyle/>
          <a:p>
            <a:pPr marL="0" indent="0">
              <a:lnSpc>
                <a:spcPts val="1250"/>
              </a:lnSpc>
              <a:buNone/>
            </a:pPr>
            <a:r>
              <a:rPr lang="en-US" sz="1000" dirty="0">
                <a:solidFill>
                  <a:srgbClr val="5C7A75"/>
                </a:solidFill>
                <a:latin typeface="Calibri" pitchFamily="34" charset="0"/>
                <a:ea typeface="Calibri" pitchFamily="34" charset="-122"/>
                <a:cs typeface="Calibri" pitchFamily="34" charset="-120"/>
              </a:rPr>
              <a:t>No fast way to find one patient's appointment</a:t>
            </a:r>
            <a:endParaRPr lang="en-US" sz="1000" dirty="0"/>
          </a:p>
        </p:txBody>
      </p:sp>
      <p:sp>
        <p:nvSpPr>
          <p:cNvPr id="31" name="Text 24"/>
          <p:cNvSpPr/>
          <p:nvPr/>
        </p:nvSpPr>
        <p:spPr>
          <a:xfrm>
            <a:off x="457200" y="6519672"/>
            <a:ext cx="7315200" cy="274320"/>
          </a:xfrm>
          <a:prstGeom prst="rect">
            <a:avLst/>
          </a:prstGeom>
          <a:noFill/>
          <a:ln/>
        </p:spPr>
        <p:txBody>
          <a:bodyPr wrap="square" rtlCol="0" anchor="ctr"/>
          <a:lstStyle/>
          <a:p>
            <a:pPr marL="0" indent="0">
              <a:buNone/>
            </a:pPr>
            <a:r>
              <a:rPr lang="en-US" sz="900" kern="0" spc="100" dirty="0">
                <a:solidFill>
                  <a:srgbClr val="5C7A75"/>
                </a:solidFill>
                <a:latin typeface="Calibri" pitchFamily="34" charset="0"/>
                <a:ea typeface="Calibri" pitchFamily="34" charset="-122"/>
                <a:cs typeface="Calibri" pitchFamily="34" charset="-120"/>
              </a:rPr>
              <a:t>DOCTOR APPOINTMENT BOOKING SYSTEM  ·  PROJECT PLANNING</a:t>
            </a:r>
            <a:endParaRPr lang="en-US" sz="900" dirty="0"/>
          </a:p>
        </p:txBody>
      </p:sp>
      <p:sp>
        <p:nvSpPr>
          <p:cNvPr id="32" name="Text 25"/>
          <p:cNvSpPr/>
          <p:nvPr/>
        </p:nvSpPr>
        <p:spPr>
          <a:xfrm>
            <a:off x="11338560" y="6519672"/>
            <a:ext cx="457200" cy="274320"/>
          </a:xfrm>
          <a:prstGeom prst="rect">
            <a:avLst/>
          </a:prstGeom>
          <a:noFill/>
          <a:ln/>
        </p:spPr>
        <p:txBody>
          <a:bodyPr wrap="square" rtlCol="0" anchor="ctr"/>
          <a:lstStyle/>
          <a:p>
            <a:pPr marL="0" indent="0" algn="r">
              <a:buNone/>
            </a:pPr>
            <a:r>
              <a:rPr lang="en-US" sz="900" dirty="0">
                <a:solidFill>
                  <a:srgbClr val="5C7A75"/>
                </a:solidFill>
                <a:latin typeface="Calibri" pitchFamily="34" charset="0"/>
                <a:ea typeface="Calibri" pitchFamily="34" charset="-122"/>
                <a:cs typeface="Calibri" pitchFamily="34" charset="-120"/>
              </a:rPr>
              <a:t>03</a:t>
            </a:r>
            <a:endParaRPr lang="en-US" sz="9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BFA"/>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47472"/>
          </a:xfrm>
          <a:prstGeom prst="roundRect">
            <a:avLst>
              <a:gd name="adj" fmla="val 50000"/>
            </a:avLst>
          </a:prstGeom>
          <a:solidFill>
            <a:srgbClr val="E4F5F2"/>
          </a:solidFill>
          <a:ln/>
        </p:spPr>
      </p:sp>
      <p:sp>
        <p:nvSpPr>
          <p:cNvPr id="3" name="Text 1"/>
          <p:cNvSpPr/>
          <p:nvPr/>
        </p:nvSpPr>
        <p:spPr>
          <a:xfrm>
            <a:off x="548640" y="457200"/>
            <a:ext cx="3291840" cy="347472"/>
          </a:xfrm>
          <a:prstGeom prst="rect">
            <a:avLst/>
          </a:prstGeom>
          <a:noFill/>
          <a:ln/>
        </p:spPr>
        <p:txBody>
          <a:bodyPr wrap="square" rtlCol="0" anchor="ctr"/>
          <a:lstStyle/>
          <a:p>
            <a:pPr marL="0" indent="0" algn="ctr">
              <a:buNone/>
            </a:pPr>
            <a:r>
              <a:rPr lang="en-US" sz="1150" b="1" kern="0" spc="200" dirty="0">
                <a:solidFill>
                  <a:srgbClr val="028090"/>
                </a:solidFill>
                <a:latin typeface="Calibri" pitchFamily="34" charset="0"/>
                <a:ea typeface="Calibri" pitchFamily="34" charset="-122"/>
                <a:cs typeface="Calibri" pitchFamily="34" charset="-120"/>
              </a:rPr>
              <a:t>PURPOSE &amp; GOALS</a:t>
            </a:r>
            <a:endParaRPr lang="en-US" sz="1150" dirty="0"/>
          </a:p>
        </p:txBody>
      </p:sp>
      <p:sp>
        <p:nvSpPr>
          <p:cNvPr id="4" name="Text 2"/>
          <p:cNvSpPr/>
          <p:nvPr/>
        </p:nvSpPr>
        <p:spPr>
          <a:xfrm>
            <a:off x="548640" y="896112"/>
            <a:ext cx="10515600" cy="822960"/>
          </a:xfrm>
          <a:prstGeom prst="rect">
            <a:avLst/>
          </a:prstGeom>
          <a:noFill/>
          <a:ln/>
        </p:spPr>
        <p:txBody>
          <a:bodyPr wrap="square" rtlCol="0" anchor="ctr"/>
          <a:lstStyle/>
          <a:p>
            <a:pPr marL="0" indent="0" algn="l">
              <a:buNone/>
            </a:pPr>
            <a:r>
              <a:rPr lang="en-US" sz="3200" b="1" dirty="0">
                <a:solidFill>
                  <a:srgbClr val="0F2E2A"/>
                </a:solidFill>
                <a:latin typeface="Century Schoolbook" pitchFamily="34" charset="0"/>
                <a:ea typeface="Century Schoolbook" pitchFamily="34" charset="-122"/>
                <a:cs typeface="Century Schoolbook" pitchFamily="34" charset="-120"/>
              </a:rPr>
              <a:t>What the System Must Deliver</a:t>
            </a:r>
            <a:endParaRPr lang="en-US" sz="3200" dirty="0"/>
          </a:p>
        </p:txBody>
      </p:sp>
      <p:sp>
        <p:nvSpPr>
          <p:cNvPr id="5" name="Shape 3"/>
          <p:cNvSpPr/>
          <p:nvPr/>
        </p:nvSpPr>
        <p:spPr>
          <a:xfrm>
            <a:off x="548640" y="1691640"/>
            <a:ext cx="5349240" cy="1298448"/>
          </a:xfrm>
          <a:prstGeom prst="roundRect">
            <a:avLst>
              <a:gd name="adj" fmla="val 8451"/>
            </a:avLst>
          </a:prstGeom>
          <a:solidFill>
            <a:srgbClr val="FFFFFF"/>
          </a:solidFill>
          <a:ln/>
          <a:effectLst>
            <a:outerShdw blurRad="114300" dist="38100" dir="5400000" algn="bl" rotWithShape="0">
              <a:srgbClr val="1B4B45">
                <a:alpha val="18000"/>
              </a:srgbClr>
            </a:outerShdw>
          </a:effectLst>
        </p:spPr>
      </p:sp>
      <p:sp>
        <p:nvSpPr>
          <p:cNvPr id="6" name="Shape 4"/>
          <p:cNvSpPr/>
          <p:nvPr/>
        </p:nvSpPr>
        <p:spPr>
          <a:xfrm>
            <a:off x="804672" y="2048256"/>
            <a:ext cx="585216" cy="585216"/>
          </a:xfrm>
          <a:prstGeom prst="ellipse">
            <a:avLst/>
          </a:prstGeom>
          <a:solidFill>
            <a:srgbClr val="00A896"/>
          </a:solidFill>
          <a:ln/>
        </p:spPr>
      </p:sp>
      <p:pic>
        <p:nvPicPr>
          <p:cNvPr id="7" name="Image 0" descr="/home/claude/booking_ppt/icons/target_white.png"/>
          <p:cNvPicPr>
            <a:picLocks noChangeAspect="1"/>
          </p:cNvPicPr>
          <p:nvPr/>
        </p:nvPicPr>
        <p:blipFill>
          <a:blip r:embed="rId3"/>
          <a:stretch>
            <a:fillRect/>
          </a:stretch>
        </p:blipFill>
        <p:spPr>
          <a:xfrm>
            <a:off x="880750" y="2124334"/>
            <a:ext cx="433060" cy="433060"/>
          </a:xfrm>
          <a:prstGeom prst="rect">
            <a:avLst/>
          </a:prstGeom>
        </p:spPr>
      </p:pic>
      <p:sp>
        <p:nvSpPr>
          <p:cNvPr id="8" name="Text 5"/>
          <p:cNvSpPr/>
          <p:nvPr/>
        </p:nvSpPr>
        <p:spPr>
          <a:xfrm>
            <a:off x="1554480" y="1819656"/>
            <a:ext cx="4114800" cy="1042416"/>
          </a:xfrm>
          <a:prstGeom prst="rect">
            <a:avLst/>
          </a:prstGeom>
          <a:noFill/>
          <a:ln/>
        </p:spPr>
        <p:txBody>
          <a:bodyPr wrap="square" rtlCol="0" anchor="ctr"/>
          <a:lstStyle/>
          <a:p>
            <a:pPr marL="0" indent="0">
              <a:lnSpc>
                <a:spcPts val="1800"/>
              </a:lnSpc>
              <a:buNone/>
            </a:pPr>
            <a:r>
              <a:rPr lang="en-US" sz="1400" dirty="0">
                <a:solidFill>
                  <a:srgbClr val="0F2E2A"/>
                </a:solidFill>
                <a:latin typeface="Calibri" pitchFamily="34" charset="0"/>
                <a:ea typeface="Calibri" pitchFamily="34" charset="-122"/>
                <a:cs typeface="Calibri" pitchFamily="34" charset="-120"/>
              </a:rPr>
              <a:t>A practical app built on a real clinic workflow, not a toy example</a:t>
            </a:r>
            <a:endParaRPr lang="en-US" sz="1400" dirty="0"/>
          </a:p>
        </p:txBody>
      </p:sp>
      <p:sp>
        <p:nvSpPr>
          <p:cNvPr id="9" name="Shape 6"/>
          <p:cNvSpPr/>
          <p:nvPr/>
        </p:nvSpPr>
        <p:spPr>
          <a:xfrm>
            <a:off x="6400800" y="1691640"/>
            <a:ext cx="5349240" cy="1298448"/>
          </a:xfrm>
          <a:prstGeom prst="roundRect">
            <a:avLst>
              <a:gd name="adj" fmla="val 8451"/>
            </a:avLst>
          </a:prstGeom>
          <a:solidFill>
            <a:srgbClr val="FFFFFF"/>
          </a:solidFill>
          <a:ln/>
          <a:effectLst>
            <a:outerShdw blurRad="114300" dist="38100" dir="5400000" algn="bl" rotWithShape="0">
              <a:srgbClr val="1B4B45">
                <a:alpha val="18000"/>
              </a:srgbClr>
            </a:outerShdw>
          </a:effectLst>
        </p:spPr>
      </p:sp>
      <p:sp>
        <p:nvSpPr>
          <p:cNvPr id="10" name="Shape 7"/>
          <p:cNvSpPr/>
          <p:nvPr/>
        </p:nvSpPr>
        <p:spPr>
          <a:xfrm>
            <a:off x="6656832" y="2048256"/>
            <a:ext cx="585216" cy="585216"/>
          </a:xfrm>
          <a:prstGeom prst="ellipse">
            <a:avLst/>
          </a:prstGeom>
          <a:solidFill>
            <a:srgbClr val="00A896"/>
          </a:solidFill>
          <a:ln/>
        </p:spPr>
      </p:sp>
      <p:pic>
        <p:nvPicPr>
          <p:cNvPr id="11" name="Image 1" descr="/home/claude/booking_ppt/icons/target_white.png"/>
          <p:cNvPicPr>
            <a:picLocks noChangeAspect="1"/>
          </p:cNvPicPr>
          <p:nvPr/>
        </p:nvPicPr>
        <p:blipFill>
          <a:blip r:embed="rId3"/>
          <a:stretch>
            <a:fillRect/>
          </a:stretch>
        </p:blipFill>
        <p:spPr>
          <a:xfrm>
            <a:off x="6732910" y="2124334"/>
            <a:ext cx="433060" cy="433060"/>
          </a:xfrm>
          <a:prstGeom prst="rect">
            <a:avLst/>
          </a:prstGeom>
        </p:spPr>
      </p:pic>
      <p:sp>
        <p:nvSpPr>
          <p:cNvPr id="12" name="Text 8"/>
          <p:cNvSpPr/>
          <p:nvPr/>
        </p:nvSpPr>
        <p:spPr>
          <a:xfrm>
            <a:off x="7406640" y="1819656"/>
            <a:ext cx="4114800" cy="1042416"/>
          </a:xfrm>
          <a:prstGeom prst="rect">
            <a:avLst/>
          </a:prstGeom>
          <a:noFill/>
          <a:ln/>
        </p:spPr>
        <p:txBody>
          <a:bodyPr wrap="square" rtlCol="0" anchor="ctr"/>
          <a:lstStyle/>
          <a:p>
            <a:pPr marL="0" indent="0">
              <a:lnSpc>
                <a:spcPts val="1800"/>
              </a:lnSpc>
              <a:buNone/>
            </a:pPr>
            <a:r>
              <a:rPr lang="en-US" sz="1400" dirty="0">
                <a:solidFill>
                  <a:srgbClr val="0F2E2A"/>
                </a:solidFill>
                <a:latin typeface="Calibri" pitchFamily="34" charset="0"/>
                <a:ea typeface="Calibri" pitchFamily="34" charset="-122"/>
                <a:cs typeface="Calibri" pitchFamily="34" charset="-120"/>
              </a:rPr>
              <a:t>Doctor availability that's easy to check in seconds</a:t>
            </a:r>
            <a:endParaRPr lang="en-US" sz="1400" dirty="0"/>
          </a:p>
        </p:txBody>
      </p:sp>
      <p:sp>
        <p:nvSpPr>
          <p:cNvPr id="13" name="Shape 9"/>
          <p:cNvSpPr/>
          <p:nvPr/>
        </p:nvSpPr>
        <p:spPr>
          <a:xfrm>
            <a:off x="548640" y="3282696"/>
            <a:ext cx="5349240" cy="1298448"/>
          </a:xfrm>
          <a:prstGeom prst="roundRect">
            <a:avLst>
              <a:gd name="adj" fmla="val 8451"/>
            </a:avLst>
          </a:prstGeom>
          <a:solidFill>
            <a:srgbClr val="FFFFFF"/>
          </a:solidFill>
          <a:ln/>
          <a:effectLst>
            <a:outerShdw blurRad="114300" dist="38100" dir="5400000" algn="bl" rotWithShape="0">
              <a:srgbClr val="1B4B45">
                <a:alpha val="18000"/>
              </a:srgbClr>
            </a:outerShdw>
          </a:effectLst>
        </p:spPr>
      </p:sp>
      <p:sp>
        <p:nvSpPr>
          <p:cNvPr id="14" name="Shape 10"/>
          <p:cNvSpPr/>
          <p:nvPr/>
        </p:nvSpPr>
        <p:spPr>
          <a:xfrm>
            <a:off x="804672" y="3639312"/>
            <a:ext cx="585216" cy="585216"/>
          </a:xfrm>
          <a:prstGeom prst="ellipse">
            <a:avLst/>
          </a:prstGeom>
          <a:solidFill>
            <a:srgbClr val="00A896"/>
          </a:solidFill>
          <a:ln/>
        </p:spPr>
      </p:sp>
      <p:pic>
        <p:nvPicPr>
          <p:cNvPr id="15" name="Image 2" descr="/home/claude/booking_ppt/icons/target_white.png"/>
          <p:cNvPicPr>
            <a:picLocks noChangeAspect="1"/>
          </p:cNvPicPr>
          <p:nvPr/>
        </p:nvPicPr>
        <p:blipFill>
          <a:blip r:embed="rId3"/>
          <a:stretch>
            <a:fillRect/>
          </a:stretch>
        </p:blipFill>
        <p:spPr>
          <a:xfrm>
            <a:off x="880750" y="3715390"/>
            <a:ext cx="433060" cy="433060"/>
          </a:xfrm>
          <a:prstGeom prst="rect">
            <a:avLst/>
          </a:prstGeom>
        </p:spPr>
      </p:pic>
      <p:sp>
        <p:nvSpPr>
          <p:cNvPr id="16" name="Text 11"/>
          <p:cNvSpPr/>
          <p:nvPr/>
        </p:nvSpPr>
        <p:spPr>
          <a:xfrm>
            <a:off x="1554480" y="3410712"/>
            <a:ext cx="4114800" cy="1042416"/>
          </a:xfrm>
          <a:prstGeom prst="rect">
            <a:avLst/>
          </a:prstGeom>
          <a:noFill/>
          <a:ln/>
        </p:spPr>
        <p:txBody>
          <a:bodyPr wrap="square" rtlCol="0" anchor="ctr"/>
          <a:lstStyle/>
          <a:p>
            <a:pPr marL="0" indent="0">
              <a:lnSpc>
                <a:spcPts val="1800"/>
              </a:lnSpc>
              <a:buNone/>
            </a:pPr>
            <a:r>
              <a:rPr lang="en-US" sz="1400" dirty="0">
                <a:solidFill>
                  <a:srgbClr val="0F2E2A"/>
                </a:solidFill>
                <a:latin typeface="Calibri" pitchFamily="34" charset="0"/>
                <a:ea typeface="Calibri" pitchFamily="34" charset="-122"/>
                <a:cs typeface="Calibri" pitchFamily="34" charset="-120"/>
              </a:rPr>
              <a:t>Zero appointment conflicts — the double-booking rule is enforced everywhere</a:t>
            </a:r>
            <a:endParaRPr lang="en-US" sz="1400" dirty="0"/>
          </a:p>
        </p:txBody>
      </p:sp>
      <p:sp>
        <p:nvSpPr>
          <p:cNvPr id="17" name="Shape 12"/>
          <p:cNvSpPr/>
          <p:nvPr/>
        </p:nvSpPr>
        <p:spPr>
          <a:xfrm>
            <a:off x="6400800" y="3282696"/>
            <a:ext cx="5349240" cy="1298448"/>
          </a:xfrm>
          <a:prstGeom prst="roundRect">
            <a:avLst>
              <a:gd name="adj" fmla="val 8451"/>
            </a:avLst>
          </a:prstGeom>
          <a:solidFill>
            <a:srgbClr val="FFFFFF"/>
          </a:solidFill>
          <a:ln/>
          <a:effectLst>
            <a:outerShdw blurRad="114300" dist="38100" dir="5400000" algn="bl" rotWithShape="0">
              <a:srgbClr val="1B4B45">
                <a:alpha val="18000"/>
              </a:srgbClr>
            </a:outerShdw>
          </a:effectLst>
        </p:spPr>
      </p:sp>
      <p:sp>
        <p:nvSpPr>
          <p:cNvPr id="18" name="Shape 13"/>
          <p:cNvSpPr/>
          <p:nvPr/>
        </p:nvSpPr>
        <p:spPr>
          <a:xfrm>
            <a:off x="6656832" y="3639312"/>
            <a:ext cx="585216" cy="585216"/>
          </a:xfrm>
          <a:prstGeom prst="ellipse">
            <a:avLst/>
          </a:prstGeom>
          <a:solidFill>
            <a:srgbClr val="00A896"/>
          </a:solidFill>
          <a:ln/>
        </p:spPr>
      </p:sp>
      <p:pic>
        <p:nvPicPr>
          <p:cNvPr id="19" name="Image 3" descr="/home/claude/booking_ppt/icons/target_white.png"/>
          <p:cNvPicPr>
            <a:picLocks noChangeAspect="1"/>
          </p:cNvPicPr>
          <p:nvPr/>
        </p:nvPicPr>
        <p:blipFill>
          <a:blip r:embed="rId3"/>
          <a:stretch>
            <a:fillRect/>
          </a:stretch>
        </p:blipFill>
        <p:spPr>
          <a:xfrm>
            <a:off x="6732910" y="3715390"/>
            <a:ext cx="433060" cy="433060"/>
          </a:xfrm>
          <a:prstGeom prst="rect">
            <a:avLst/>
          </a:prstGeom>
        </p:spPr>
      </p:pic>
      <p:sp>
        <p:nvSpPr>
          <p:cNvPr id="20" name="Text 14"/>
          <p:cNvSpPr/>
          <p:nvPr/>
        </p:nvSpPr>
        <p:spPr>
          <a:xfrm>
            <a:off x="7406640" y="3410712"/>
            <a:ext cx="4114800" cy="1042416"/>
          </a:xfrm>
          <a:prstGeom prst="rect">
            <a:avLst/>
          </a:prstGeom>
          <a:noFill/>
          <a:ln/>
        </p:spPr>
        <p:txBody>
          <a:bodyPr wrap="square" rtlCol="0" anchor="ctr"/>
          <a:lstStyle/>
          <a:p>
            <a:pPr marL="0" indent="0">
              <a:lnSpc>
                <a:spcPts val="1800"/>
              </a:lnSpc>
              <a:buNone/>
            </a:pPr>
            <a:r>
              <a:rPr lang="en-US" sz="1400" dirty="0">
                <a:solidFill>
                  <a:srgbClr val="0F2E2A"/>
                </a:solidFill>
                <a:latin typeface="Calibri" pitchFamily="34" charset="0"/>
                <a:ea typeface="Calibri" pitchFamily="34" charset="-122"/>
                <a:cs typeface="Calibri" pitchFamily="34" charset="-120"/>
              </a:rPr>
              <a:t>Patient &amp; appointment records kept clean and searchable</a:t>
            </a:r>
            <a:endParaRPr lang="en-US" sz="1400" dirty="0"/>
          </a:p>
        </p:txBody>
      </p:sp>
      <p:sp>
        <p:nvSpPr>
          <p:cNvPr id="21" name="Shape 15"/>
          <p:cNvSpPr/>
          <p:nvPr/>
        </p:nvSpPr>
        <p:spPr>
          <a:xfrm>
            <a:off x="548640" y="4873752"/>
            <a:ext cx="5349240" cy="1298448"/>
          </a:xfrm>
          <a:prstGeom prst="roundRect">
            <a:avLst>
              <a:gd name="adj" fmla="val 8451"/>
            </a:avLst>
          </a:prstGeom>
          <a:solidFill>
            <a:srgbClr val="FFFFFF"/>
          </a:solidFill>
          <a:ln/>
          <a:effectLst>
            <a:outerShdw blurRad="114300" dist="38100" dir="5400000" algn="bl" rotWithShape="0">
              <a:srgbClr val="1B4B45">
                <a:alpha val="18000"/>
              </a:srgbClr>
            </a:outerShdw>
          </a:effectLst>
        </p:spPr>
      </p:sp>
      <p:sp>
        <p:nvSpPr>
          <p:cNvPr id="22" name="Shape 16"/>
          <p:cNvSpPr/>
          <p:nvPr/>
        </p:nvSpPr>
        <p:spPr>
          <a:xfrm>
            <a:off x="804672" y="5230368"/>
            <a:ext cx="585216" cy="585216"/>
          </a:xfrm>
          <a:prstGeom prst="ellipse">
            <a:avLst/>
          </a:prstGeom>
          <a:solidFill>
            <a:srgbClr val="00A896"/>
          </a:solidFill>
          <a:ln/>
        </p:spPr>
      </p:sp>
      <p:pic>
        <p:nvPicPr>
          <p:cNvPr id="23" name="Image 4" descr="/home/claude/booking_ppt/icons/target_white.png"/>
          <p:cNvPicPr>
            <a:picLocks noChangeAspect="1"/>
          </p:cNvPicPr>
          <p:nvPr/>
        </p:nvPicPr>
        <p:blipFill>
          <a:blip r:embed="rId3"/>
          <a:stretch>
            <a:fillRect/>
          </a:stretch>
        </p:blipFill>
        <p:spPr>
          <a:xfrm>
            <a:off x="880750" y="5306446"/>
            <a:ext cx="433060" cy="433060"/>
          </a:xfrm>
          <a:prstGeom prst="rect">
            <a:avLst/>
          </a:prstGeom>
        </p:spPr>
      </p:pic>
      <p:sp>
        <p:nvSpPr>
          <p:cNvPr id="24" name="Text 17"/>
          <p:cNvSpPr/>
          <p:nvPr/>
        </p:nvSpPr>
        <p:spPr>
          <a:xfrm>
            <a:off x="1554480" y="5001768"/>
            <a:ext cx="4114800" cy="1042416"/>
          </a:xfrm>
          <a:prstGeom prst="rect">
            <a:avLst/>
          </a:prstGeom>
          <a:noFill/>
          <a:ln/>
        </p:spPr>
        <p:txBody>
          <a:bodyPr wrap="square" rtlCol="0" anchor="ctr"/>
          <a:lstStyle/>
          <a:p>
            <a:pPr marL="0" indent="0">
              <a:lnSpc>
                <a:spcPts val="1800"/>
              </a:lnSpc>
              <a:buNone/>
            </a:pPr>
            <a:r>
              <a:rPr lang="en-US" sz="1400" dirty="0">
                <a:solidFill>
                  <a:srgbClr val="0F2E2A"/>
                </a:solidFill>
                <a:latin typeface="Calibri" pitchFamily="34" charset="0"/>
                <a:ea typeface="Calibri" pitchFamily="34" charset="-122"/>
                <a:cs typeface="Calibri" pitchFamily="34" charset="-120"/>
              </a:rPr>
              <a:t>Solid practice with data structures, validation &amp; date/time logic</a:t>
            </a:r>
            <a:endParaRPr lang="en-US" sz="1400" dirty="0"/>
          </a:p>
        </p:txBody>
      </p:sp>
      <p:sp>
        <p:nvSpPr>
          <p:cNvPr id="25" name="Shape 18"/>
          <p:cNvSpPr/>
          <p:nvPr/>
        </p:nvSpPr>
        <p:spPr>
          <a:xfrm>
            <a:off x="6400800" y="4873752"/>
            <a:ext cx="5349240" cy="1298448"/>
          </a:xfrm>
          <a:prstGeom prst="roundRect">
            <a:avLst>
              <a:gd name="adj" fmla="val 8451"/>
            </a:avLst>
          </a:prstGeom>
          <a:solidFill>
            <a:srgbClr val="FFFFFF"/>
          </a:solidFill>
          <a:ln/>
          <a:effectLst>
            <a:outerShdw blurRad="114300" dist="38100" dir="5400000" algn="bl" rotWithShape="0">
              <a:srgbClr val="1B4B45">
                <a:alpha val="18000"/>
              </a:srgbClr>
            </a:outerShdw>
          </a:effectLst>
        </p:spPr>
      </p:sp>
      <p:sp>
        <p:nvSpPr>
          <p:cNvPr id="26" name="Shape 19"/>
          <p:cNvSpPr/>
          <p:nvPr/>
        </p:nvSpPr>
        <p:spPr>
          <a:xfrm>
            <a:off x="6656832" y="5230368"/>
            <a:ext cx="585216" cy="585216"/>
          </a:xfrm>
          <a:prstGeom prst="ellipse">
            <a:avLst/>
          </a:prstGeom>
          <a:solidFill>
            <a:srgbClr val="00A896"/>
          </a:solidFill>
          <a:ln/>
        </p:spPr>
      </p:sp>
      <p:pic>
        <p:nvPicPr>
          <p:cNvPr id="27" name="Image 5" descr="/home/claude/booking_ppt/icons/target_white.png"/>
          <p:cNvPicPr>
            <a:picLocks noChangeAspect="1"/>
          </p:cNvPicPr>
          <p:nvPr/>
        </p:nvPicPr>
        <p:blipFill>
          <a:blip r:embed="rId3"/>
          <a:stretch>
            <a:fillRect/>
          </a:stretch>
        </p:blipFill>
        <p:spPr>
          <a:xfrm>
            <a:off x="6732910" y="5306446"/>
            <a:ext cx="433060" cy="433060"/>
          </a:xfrm>
          <a:prstGeom prst="rect">
            <a:avLst/>
          </a:prstGeom>
        </p:spPr>
      </p:pic>
      <p:sp>
        <p:nvSpPr>
          <p:cNvPr id="28" name="Text 20"/>
          <p:cNvSpPr/>
          <p:nvPr/>
        </p:nvSpPr>
        <p:spPr>
          <a:xfrm>
            <a:off x="7406640" y="5001768"/>
            <a:ext cx="4114800" cy="1042416"/>
          </a:xfrm>
          <a:prstGeom prst="rect">
            <a:avLst/>
          </a:prstGeom>
          <a:noFill/>
          <a:ln/>
        </p:spPr>
        <p:txBody>
          <a:bodyPr wrap="square" rtlCol="0" anchor="ctr"/>
          <a:lstStyle/>
          <a:p>
            <a:pPr marL="0" indent="0">
              <a:lnSpc>
                <a:spcPts val="1800"/>
              </a:lnSpc>
              <a:buNone/>
            </a:pPr>
            <a:r>
              <a:rPr lang="en-US" sz="1400" dirty="0">
                <a:solidFill>
                  <a:srgbClr val="0F2E2A"/>
                </a:solidFill>
                <a:latin typeface="Calibri" pitchFamily="34" charset="0"/>
                <a:ea typeface="Calibri" pitchFamily="34" charset="-122"/>
                <a:cs typeface="Calibri" pitchFamily="34" charset="-120"/>
              </a:rPr>
              <a:t>A modular, function-based codebase future features can build on</a:t>
            </a:r>
            <a:endParaRPr lang="en-US" sz="1400" dirty="0"/>
          </a:p>
        </p:txBody>
      </p:sp>
      <p:sp>
        <p:nvSpPr>
          <p:cNvPr id="29" name="Text 21"/>
          <p:cNvSpPr/>
          <p:nvPr/>
        </p:nvSpPr>
        <p:spPr>
          <a:xfrm>
            <a:off x="457200" y="6519672"/>
            <a:ext cx="7315200" cy="274320"/>
          </a:xfrm>
          <a:prstGeom prst="rect">
            <a:avLst/>
          </a:prstGeom>
          <a:noFill/>
          <a:ln/>
        </p:spPr>
        <p:txBody>
          <a:bodyPr wrap="square" rtlCol="0" anchor="ctr"/>
          <a:lstStyle/>
          <a:p>
            <a:pPr marL="0" indent="0">
              <a:buNone/>
            </a:pPr>
            <a:r>
              <a:rPr lang="en-US" sz="900" kern="0" spc="100" dirty="0">
                <a:solidFill>
                  <a:srgbClr val="5C7A75"/>
                </a:solidFill>
                <a:latin typeface="Calibri" pitchFamily="34" charset="0"/>
                <a:ea typeface="Calibri" pitchFamily="34" charset="-122"/>
                <a:cs typeface="Calibri" pitchFamily="34" charset="-120"/>
              </a:rPr>
              <a:t>DOCTOR APPOINTMENT BOOKING SYSTEM  ·  PROJECT PLANNING</a:t>
            </a:r>
            <a:endParaRPr lang="en-US" sz="900" dirty="0"/>
          </a:p>
        </p:txBody>
      </p:sp>
      <p:sp>
        <p:nvSpPr>
          <p:cNvPr id="30" name="Text 22"/>
          <p:cNvSpPr/>
          <p:nvPr/>
        </p:nvSpPr>
        <p:spPr>
          <a:xfrm>
            <a:off x="11338560" y="6519672"/>
            <a:ext cx="457200" cy="274320"/>
          </a:xfrm>
          <a:prstGeom prst="rect">
            <a:avLst/>
          </a:prstGeom>
          <a:noFill/>
          <a:ln/>
        </p:spPr>
        <p:txBody>
          <a:bodyPr wrap="square" rtlCol="0" anchor="ctr"/>
          <a:lstStyle/>
          <a:p>
            <a:pPr marL="0" indent="0" algn="r">
              <a:buNone/>
            </a:pPr>
            <a:r>
              <a:rPr lang="en-US" sz="900" dirty="0">
                <a:solidFill>
                  <a:srgbClr val="5C7A75"/>
                </a:solidFill>
                <a:latin typeface="Calibri" pitchFamily="34" charset="0"/>
                <a:ea typeface="Calibri" pitchFamily="34" charset="-122"/>
                <a:cs typeface="Calibri" pitchFamily="34" charset="-120"/>
              </a:rPr>
              <a:t>04</a:t>
            </a:r>
            <a:endParaRPr lang="en-US" sz="9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BFA"/>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47472"/>
          </a:xfrm>
          <a:prstGeom prst="roundRect">
            <a:avLst>
              <a:gd name="adj" fmla="val 50000"/>
            </a:avLst>
          </a:prstGeom>
          <a:solidFill>
            <a:srgbClr val="E4F5F2"/>
          </a:solidFill>
          <a:ln/>
        </p:spPr>
      </p:sp>
      <p:sp>
        <p:nvSpPr>
          <p:cNvPr id="3" name="Text 1"/>
          <p:cNvSpPr/>
          <p:nvPr/>
        </p:nvSpPr>
        <p:spPr>
          <a:xfrm>
            <a:off x="548640" y="457200"/>
            <a:ext cx="3291840" cy="347472"/>
          </a:xfrm>
          <a:prstGeom prst="rect">
            <a:avLst/>
          </a:prstGeom>
          <a:noFill/>
          <a:ln/>
        </p:spPr>
        <p:txBody>
          <a:bodyPr wrap="square" rtlCol="0" anchor="ctr"/>
          <a:lstStyle/>
          <a:p>
            <a:pPr marL="0" indent="0" algn="ctr">
              <a:buNone/>
            </a:pPr>
            <a:r>
              <a:rPr lang="en-US" sz="1150" b="1" kern="0" spc="200" dirty="0">
                <a:solidFill>
                  <a:srgbClr val="028090"/>
                </a:solidFill>
                <a:latin typeface="Calibri" pitchFamily="34" charset="0"/>
                <a:ea typeface="Calibri" pitchFamily="34" charset="-122"/>
                <a:cs typeface="Calibri" pitchFamily="34" charset="-120"/>
              </a:rPr>
              <a:t>WHO USES IT</a:t>
            </a:r>
            <a:endParaRPr lang="en-US" sz="1150" dirty="0"/>
          </a:p>
        </p:txBody>
      </p:sp>
      <p:sp>
        <p:nvSpPr>
          <p:cNvPr id="4" name="Text 2"/>
          <p:cNvSpPr/>
          <p:nvPr/>
        </p:nvSpPr>
        <p:spPr>
          <a:xfrm>
            <a:off x="548640" y="896112"/>
            <a:ext cx="10515600" cy="822960"/>
          </a:xfrm>
          <a:prstGeom prst="rect">
            <a:avLst/>
          </a:prstGeom>
          <a:noFill/>
          <a:ln/>
        </p:spPr>
        <p:txBody>
          <a:bodyPr wrap="square" rtlCol="0" anchor="ctr"/>
          <a:lstStyle/>
          <a:p>
            <a:pPr marL="0" indent="0" algn="l">
              <a:buNone/>
            </a:pPr>
            <a:r>
              <a:rPr lang="en-US" sz="3200" b="1" dirty="0">
                <a:solidFill>
                  <a:srgbClr val="0F2E2A"/>
                </a:solidFill>
                <a:latin typeface="Century Schoolbook" pitchFamily="34" charset="0"/>
                <a:ea typeface="Century Schoolbook" pitchFamily="34" charset="-122"/>
                <a:cs typeface="Century Schoolbook" pitchFamily="34" charset="-120"/>
              </a:rPr>
              <a:t>Built for the Person at the Front Desk</a:t>
            </a:r>
            <a:endParaRPr lang="en-US" sz="3200" dirty="0"/>
          </a:p>
        </p:txBody>
      </p:sp>
      <p:sp>
        <p:nvSpPr>
          <p:cNvPr id="5" name="Shape 3"/>
          <p:cNvSpPr/>
          <p:nvPr/>
        </p:nvSpPr>
        <p:spPr>
          <a:xfrm>
            <a:off x="548640" y="1691640"/>
            <a:ext cx="4206240" cy="4617720"/>
          </a:xfrm>
          <a:prstGeom prst="roundRect">
            <a:avLst>
              <a:gd name="adj" fmla="val 2609"/>
            </a:avLst>
          </a:prstGeom>
          <a:solidFill>
            <a:srgbClr val="028090"/>
          </a:solidFill>
          <a:ln/>
          <a:effectLst>
            <a:outerShdw blurRad="114300" dist="38100" dir="5400000" algn="bl" rotWithShape="0">
              <a:srgbClr val="1B4B45">
                <a:alpha val="18000"/>
              </a:srgbClr>
            </a:outerShdw>
          </a:effectLst>
        </p:spPr>
      </p:sp>
      <p:sp>
        <p:nvSpPr>
          <p:cNvPr id="6" name="Shape 4"/>
          <p:cNvSpPr/>
          <p:nvPr/>
        </p:nvSpPr>
        <p:spPr>
          <a:xfrm>
            <a:off x="896112" y="2011680"/>
            <a:ext cx="1051560" cy="1051560"/>
          </a:xfrm>
          <a:prstGeom prst="ellipse">
            <a:avLst/>
          </a:prstGeom>
          <a:solidFill>
            <a:srgbClr val="FFFFFF"/>
          </a:solidFill>
          <a:ln/>
        </p:spPr>
      </p:sp>
      <p:pic>
        <p:nvPicPr>
          <p:cNvPr id="7" name="Image 0" descr="/home/claude/booking_ppt/icons/users_teal.png"/>
          <p:cNvPicPr>
            <a:picLocks noChangeAspect="1"/>
          </p:cNvPicPr>
          <p:nvPr/>
        </p:nvPicPr>
        <p:blipFill>
          <a:blip r:embed="rId3"/>
          <a:stretch>
            <a:fillRect/>
          </a:stretch>
        </p:blipFill>
        <p:spPr>
          <a:xfrm>
            <a:off x="1032815" y="2148383"/>
            <a:ext cx="778154" cy="778154"/>
          </a:xfrm>
          <a:prstGeom prst="rect">
            <a:avLst/>
          </a:prstGeom>
        </p:spPr>
      </p:pic>
      <p:sp>
        <p:nvSpPr>
          <p:cNvPr id="8" name="Text 5"/>
          <p:cNvSpPr/>
          <p:nvPr/>
        </p:nvSpPr>
        <p:spPr>
          <a:xfrm>
            <a:off x="548640" y="3246120"/>
            <a:ext cx="3840480" cy="36576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Clinic Receptionist</a:t>
            </a:r>
            <a:endParaRPr lang="en-US" sz="1800" dirty="0"/>
          </a:p>
        </p:txBody>
      </p:sp>
      <p:sp>
        <p:nvSpPr>
          <p:cNvPr id="9" name="Text 6"/>
          <p:cNvSpPr/>
          <p:nvPr/>
        </p:nvSpPr>
        <p:spPr>
          <a:xfrm>
            <a:off x="548640" y="3611880"/>
            <a:ext cx="4206240" cy="274320"/>
          </a:xfrm>
          <a:prstGeom prst="rect">
            <a:avLst/>
          </a:prstGeom>
          <a:noFill/>
          <a:ln/>
        </p:spPr>
        <p:txBody>
          <a:bodyPr wrap="square" rtlCol="0" anchor="ctr"/>
          <a:lstStyle/>
          <a:p>
            <a:pPr marL="0" indent="0" algn="ctr">
              <a:buNone/>
            </a:pPr>
            <a:r>
              <a:rPr lang="en-US" sz="1200" dirty="0">
                <a:solidFill>
                  <a:srgbClr val="CFEFEA"/>
                </a:solidFill>
                <a:latin typeface="Calibri" pitchFamily="34" charset="0"/>
                <a:ea typeface="Calibri" pitchFamily="34" charset="-122"/>
                <a:cs typeface="Calibri" pitchFamily="34" charset="-120"/>
              </a:rPr>
              <a:t>Front-line staff</a:t>
            </a:r>
            <a:endParaRPr lang="en-US" sz="1200" dirty="0"/>
          </a:p>
        </p:txBody>
      </p:sp>
      <p:sp>
        <p:nvSpPr>
          <p:cNvPr id="10" name="Text 7"/>
          <p:cNvSpPr/>
          <p:nvPr/>
        </p:nvSpPr>
        <p:spPr>
          <a:xfrm>
            <a:off x="868680" y="4069080"/>
            <a:ext cx="3566160" cy="2011680"/>
          </a:xfrm>
          <a:prstGeom prst="rect">
            <a:avLst/>
          </a:prstGeom>
          <a:noFill/>
          <a:ln/>
        </p:spPr>
        <p:txBody>
          <a:bodyPr wrap="square" rtlCol="0" anchor="ctr"/>
          <a:lstStyle/>
          <a:p>
            <a:pPr marL="0" indent="0" algn="ctr">
              <a:lnSpc>
                <a:spcPts val="1900"/>
              </a:lnSpc>
              <a:buNone/>
            </a:pPr>
            <a:r>
              <a:rPr lang="en-US" sz="1250" dirty="0">
                <a:solidFill>
                  <a:srgbClr val="E4F8F4"/>
                </a:solidFill>
                <a:latin typeface="Calibri" pitchFamily="34" charset="0"/>
                <a:ea typeface="Calibri" pitchFamily="34" charset="-122"/>
                <a:cs typeface="Calibri" pitchFamily="34" charset="-120"/>
              </a:rPr>
              <a:t>The first version is built entirely around one user: the staff member who answers the phone, checks the schedule, and books the visit — all from a single terminal window.</a:t>
            </a:r>
            <a:endParaRPr lang="en-US" sz="1250" dirty="0"/>
          </a:p>
        </p:txBody>
      </p:sp>
      <p:sp>
        <p:nvSpPr>
          <p:cNvPr id="11" name="Shape 8"/>
          <p:cNvSpPr/>
          <p:nvPr/>
        </p:nvSpPr>
        <p:spPr>
          <a:xfrm>
            <a:off x="5074920" y="1737360"/>
            <a:ext cx="6537960" cy="566928"/>
          </a:xfrm>
          <a:prstGeom prst="roundRect">
            <a:avLst>
              <a:gd name="adj" fmla="val 16129"/>
            </a:avLst>
          </a:prstGeom>
          <a:solidFill>
            <a:srgbClr val="FFFFFF"/>
          </a:solidFill>
          <a:ln/>
          <a:effectLst>
            <a:outerShdw blurRad="114300" dist="38100" dir="5400000" algn="bl" rotWithShape="0">
              <a:srgbClr val="1B4B45">
                <a:alpha val="18000"/>
              </a:srgbClr>
            </a:outerShdw>
          </a:effectLst>
        </p:spPr>
      </p:sp>
      <p:sp>
        <p:nvSpPr>
          <p:cNvPr id="12" name="Shape 9"/>
          <p:cNvSpPr/>
          <p:nvPr/>
        </p:nvSpPr>
        <p:spPr>
          <a:xfrm>
            <a:off x="5221224" y="1847088"/>
            <a:ext cx="347472" cy="347472"/>
          </a:xfrm>
          <a:prstGeom prst="ellipse">
            <a:avLst/>
          </a:prstGeom>
          <a:solidFill>
            <a:srgbClr val="02C39A"/>
          </a:solidFill>
          <a:ln/>
        </p:spPr>
      </p:sp>
      <p:pic>
        <p:nvPicPr>
          <p:cNvPr id="13" name="Image 1" descr="/home/claude/booking_ppt/icons/check_white.png"/>
          <p:cNvPicPr>
            <a:picLocks noChangeAspect="1"/>
          </p:cNvPicPr>
          <p:nvPr/>
        </p:nvPicPr>
        <p:blipFill>
          <a:blip r:embed="rId4"/>
          <a:stretch>
            <a:fillRect/>
          </a:stretch>
        </p:blipFill>
        <p:spPr>
          <a:xfrm>
            <a:off x="5266395" y="1892259"/>
            <a:ext cx="257129" cy="257129"/>
          </a:xfrm>
          <a:prstGeom prst="rect">
            <a:avLst/>
          </a:prstGeom>
        </p:spPr>
      </p:pic>
      <p:sp>
        <p:nvSpPr>
          <p:cNvPr id="14" name="Text 10"/>
          <p:cNvSpPr/>
          <p:nvPr/>
        </p:nvSpPr>
        <p:spPr>
          <a:xfrm>
            <a:off x="5696712" y="1737360"/>
            <a:ext cx="5715000" cy="566928"/>
          </a:xfrm>
          <a:prstGeom prst="rect">
            <a:avLst/>
          </a:prstGeom>
          <a:noFill/>
          <a:ln/>
        </p:spPr>
        <p:txBody>
          <a:bodyPr wrap="square" rtlCol="0" anchor="ctr"/>
          <a:lstStyle/>
          <a:p>
            <a:pPr marL="0" indent="0">
              <a:buNone/>
            </a:pPr>
            <a:r>
              <a:rPr lang="en-US" sz="1300" dirty="0">
                <a:solidFill>
                  <a:srgbClr val="0F2E2A"/>
                </a:solidFill>
                <a:latin typeface="Calibri" pitchFamily="34" charset="0"/>
                <a:ea typeface="Calibri" pitchFamily="34" charset="-122"/>
                <a:cs typeface="Calibri" pitchFamily="34" charset="-120"/>
              </a:rPr>
              <a:t>Add doctors &amp; patients</a:t>
            </a:r>
            <a:endParaRPr lang="en-US" sz="1300" dirty="0"/>
          </a:p>
        </p:txBody>
      </p:sp>
      <p:sp>
        <p:nvSpPr>
          <p:cNvPr id="15" name="Shape 11"/>
          <p:cNvSpPr/>
          <p:nvPr/>
        </p:nvSpPr>
        <p:spPr>
          <a:xfrm>
            <a:off x="5074920" y="2359152"/>
            <a:ext cx="6537960" cy="566928"/>
          </a:xfrm>
          <a:prstGeom prst="roundRect">
            <a:avLst>
              <a:gd name="adj" fmla="val 16129"/>
            </a:avLst>
          </a:prstGeom>
          <a:solidFill>
            <a:srgbClr val="FFFFFF"/>
          </a:solidFill>
          <a:ln/>
          <a:effectLst>
            <a:outerShdw blurRad="114300" dist="38100" dir="5400000" algn="bl" rotWithShape="0">
              <a:srgbClr val="1B4B45">
                <a:alpha val="18000"/>
              </a:srgbClr>
            </a:outerShdw>
          </a:effectLst>
        </p:spPr>
      </p:sp>
      <p:sp>
        <p:nvSpPr>
          <p:cNvPr id="16" name="Shape 12"/>
          <p:cNvSpPr/>
          <p:nvPr/>
        </p:nvSpPr>
        <p:spPr>
          <a:xfrm>
            <a:off x="5221224" y="2468880"/>
            <a:ext cx="347472" cy="347472"/>
          </a:xfrm>
          <a:prstGeom prst="ellipse">
            <a:avLst/>
          </a:prstGeom>
          <a:solidFill>
            <a:srgbClr val="02C39A"/>
          </a:solidFill>
          <a:ln/>
        </p:spPr>
      </p:sp>
      <p:pic>
        <p:nvPicPr>
          <p:cNvPr id="17" name="Image 2" descr="/home/claude/booking_ppt/icons/check_white.png"/>
          <p:cNvPicPr>
            <a:picLocks noChangeAspect="1"/>
          </p:cNvPicPr>
          <p:nvPr/>
        </p:nvPicPr>
        <p:blipFill>
          <a:blip r:embed="rId4"/>
          <a:stretch>
            <a:fillRect/>
          </a:stretch>
        </p:blipFill>
        <p:spPr>
          <a:xfrm>
            <a:off x="5266395" y="2514051"/>
            <a:ext cx="257129" cy="257129"/>
          </a:xfrm>
          <a:prstGeom prst="rect">
            <a:avLst/>
          </a:prstGeom>
        </p:spPr>
      </p:pic>
      <p:sp>
        <p:nvSpPr>
          <p:cNvPr id="18" name="Text 13"/>
          <p:cNvSpPr/>
          <p:nvPr/>
        </p:nvSpPr>
        <p:spPr>
          <a:xfrm>
            <a:off x="5696712" y="2359152"/>
            <a:ext cx="5715000" cy="566928"/>
          </a:xfrm>
          <a:prstGeom prst="rect">
            <a:avLst/>
          </a:prstGeom>
          <a:noFill/>
          <a:ln/>
        </p:spPr>
        <p:txBody>
          <a:bodyPr wrap="square" rtlCol="0" anchor="ctr"/>
          <a:lstStyle/>
          <a:p>
            <a:pPr marL="0" indent="0">
              <a:buNone/>
            </a:pPr>
            <a:r>
              <a:rPr lang="en-US" sz="1300" dirty="0">
                <a:solidFill>
                  <a:srgbClr val="0F2E2A"/>
                </a:solidFill>
                <a:latin typeface="Calibri" pitchFamily="34" charset="0"/>
                <a:ea typeface="Calibri" pitchFamily="34" charset="-122"/>
                <a:cs typeface="Calibri" pitchFamily="34" charset="-120"/>
              </a:rPr>
              <a:t>Define &amp; edit doctor schedules</a:t>
            </a:r>
            <a:endParaRPr lang="en-US" sz="1300" dirty="0"/>
          </a:p>
        </p:txBody>
      </p:sp>
      <p:sp>
        <p:nvSpPr>
          <p:cNvPr id="19" name="Shape 14"/>
          <p:cNvSpPr/>
          <p:nvPr/>
        </p:nvSpPr>
        <p:spPr>
          <a:xfrm>
            <a:off x="5074920" y="2980944"/>
            <a:ext cx="6537960" cy="566928"/>
          </a:xfrm>
          <a:prstGeom prst="roundRect">
            <a:avLst>
              <a:gd name="adj" fmla="val 16129"/>
            </a:avLst>
          </a:prstGeom>
          <a:solidFill>
            <a:srgbClr val="FFFFFF"/>
          </a:solidFill>
          <a:ln/>
          <a:effectLst>
            <a:outerShdw blurRad="114300" dist="38100" dir="5400000" algn="bl" rotWithShape="0">
              <a:srgbClr val="1B4B45">
                <a:alpha val="18000"/>
              </a:srgbClr>
            </a:outerShdw>
          </a:effectLst>
        </p:spPr>
      </p:sp>
      <p:sp>
        <p:nvSpPr>
          <p:cNvPr id="20" name="Shape 15"/>
          <p:cNvSpPr/>
          <p:nvPr/>
        </p:nvSpPr>
        <p:spPr>
          <a:xfrm>
            <a:off x="5221224" y="3090672"/>
            <a:ext cx="347472" cy="347472"/>
          </a:xfrm>
          <a:prstGeom prst="ellipse">
            <a:avLst/>
          </a:prstGeom>
          <a:solidFill>
            <a:srgbClr val="02C39A"/>
          </a:solidFill>
          <a:ln/>
        </p:spPr>
      </p:sp>
      <p:pic>
        <p:nvPicPr>
          <p:cNvPr id="21" name="Image 3" descr="/home/claude/booking_ppt/icons/check_white.png"/>
          <p:cNvPicPr>
            <a:picLocks noChangeAspect="1"/>
          </p:cNvPicPr>
          <p:nvPr/>
        </p:nvPicPr>
        <p:blipFill>
          <a:blip r:embed="rId4"/>
          <a:stretch>
            <a:fillRect/>
          </a:stretch>
        </p:blipFill>
        <p:spPr>
          <a:xfrm>
            <a:off x="5266395" y="3135843"/>
            <a:ext cx="257129" cy="257129"/>
          </a:xfrm>
          <a:prstGeom prst="rect">
            <a:avLst/>
          </a:prstGeom>
        </p:spPr>
      </p:pic>
      <p:sp>
        <p:nvSpPr>
          <p:cNvPr id="22" name="Text 16"/>
          <p:cNvSpPr/>
          <p:nvPr/>
        </p:nvSpPr>
        <p:spPr>
          <a:xfrm>
            <a:off x="5696712" y="2980944"/>
            <a:ext cx="5715000" cy="566928"/>
          </a:xfrm>
          <a:prstGeom prst="rect">
            <a:avLst/>
          </a:prstGeom>
          <a:noFill/>
          <a:ln/>
        </p:spPr>
        <p:txBody>
          <a:bodyPr wrap="square" rtlCol="0" anchor="ctr"/>
          <a:lstStyle/>
          <a:p>
            <a:pPr marL="0" indent="0">
              <a:buNone/>
            </a:pPr>
            <a:r>
              <a:rPr lang="en-US" sz="1300" dirty="0">
                <a:solidFill>
                  <a:srgbClr val="0F2E2A"/>
                </a:solidFill>
                <a:latin typeface="Calibri" pitchFamily="34" charset="0"/>
                <a:ea typeface="Calibri" pitchFamily="34" charset="-122"/>
                <a:cs typeface="Calibri" pitchFamily="34" charset="-120"/>
              </a:rPr>
              <a:t>Check availability instantly</a:t>
            </a:r>
            <a:endParaRPr lang="en-US" sz="1300" dirty="0"/>
          </a:p>
        </p:txBody>
      </p:sp>
      <p:sp>
        <p:nvSpPr>
          <p:cNvPr id="23" name="Shape 17"/>
          <p:cNvSpPr/>
          <p:nvPr/>
        </p:nvSpPr>
        <p:spPr>
          <a:xfrm>
            <a:off x="5074920" y="3602736"/>
            <a:ext cx="6537960" cy="566928"/>
          </a:xfrm>
          <a:prstGeom prst="roundRect">
            <a:avLst>
              <a:gd name="adj" fmla="val 16129"/>
            </a:avLst>
          </a:prstGeom>
          <a:solidFill>
            <a:srgbClr val="FFFFFF"/>
          </a:solidFill>
          <a:ln/>
          <a:effectLst>
            <a:outerShdw blurRad="114300" dist="38100" dir="5400000" algn="bl" rotWithShape="0">
              <a:srgbClr val="1B4B45">
                <a:alpha val="18000"/>
              </a:srgbClr>
            </a:outerShdw>
          </a:effectLst>
        </p:spPr>
      </p:sp>
      <p:sp>
        <p:nvSpPr>
          <p:cNvPr id="24" name="Shape 18"/>
          <p:cNvSpPr/>
          <p:nvPr/>
        </p:nvSpPr>
        <p:spPr>
          <a:xfrm>
            <a:off x="5221224" y="3712464"/>
            <a:ext cx="347472" cy="347472"/>
          </a:xfrm>
          <a:prstGeom prst="ellipse">
            <a:avLst/>
          </a:prstGeom>
          <a:solidFill>
            <a:srgbClr val="02C39A"/>
          </a:solidFill>
          <a:ln/>
        </p:spPr>
      </p:sp>
      <p:pic>
        <p:nvPicPr>
          <p:cNvPr id="25" name="Image 4" descr="/home/claude/booking_ppt/icons/check_white.png"/>
          <p:cNvPicPr>
            <a:picLocks noChangeAspect="1"/>
          </p:cNvPicPr>
          <p:nvPr/>
        </p:nvPicPr>
        <p:blipFill>
          <a:blip r:embed="rId4"/>
          <a:stretch>
            <a:fillRect/>
          </a:stretch>
        </p:blipFill>
        <p:spPr>
          <a:xfrm>
            <a:off x="5266395" y="3757635"/>
            <a:ext cx="257129" cy="257129"/>
          </a:xfrm>
          <a:prstGeom prst="rect">
            <a:avLst/>
          </a:prstGeom>
        </p:spPr>
      </p:pic>
      <p:sp>
        <p:nvSpPr>
          <p:cNvPr id="26" name="Text 19"/>
          <p:cNvSpPr/>
          <p:nvPr/>
        </p:nvSpPr>
        <p:spPr>
          <a:xfrm>
            <a:off x="5696712" y="3602736"/>
            <a:ext cx="5715000" cy="566928"/>
          </a:xfrm>
          <a:prstGeom prst="rect">
            <a:avLst/>
          </a:prstGeom>
          <a:noFill/>
          <a:ln/>
        </p:spPr>
        <p:txBody>
          <a:bodyPr wrap="square" rtlCol="0" anchor="ctr"/>
          <a:lstStyle/>
          <a:p>
            <a:pPr marL="0" indent="0">
              <a:buNone/>
            </a:pPr>
            <a:r>
              <a:rPr lang="en-US" sz="1300" dirty="0">
                <a:solidFill>
                  <a:srgbClr val="0F2E2A"/>
                </a:solidFill>
                <a:latin typeface="Calibri" pitchFamily="34" charset="0"/>
                <a:ea typeface="Calibri" pitchFamily="34" charset="-122"/>
                <a:cs typeface="Calibri" pitchFamily="34" charset="-120"/>
              </a:rPr>
              <a:t>Create &amp; view appointments</a:t>
            </a:r>
            <a:endParaRPr lang="en-US" sz="1300" dirty="0"/>
          </a:p>
        </p:txBody>
      </p:sp>
      <p:sp>
        <p:nvSpPr>
          <p:cNvPr id="27" name="Shape 20"/>
          <p:cNvSpPr/>
          <p:nvPr/>
        </p:nvSpPr>
        <p:spPr>
          <a:xfrm>
            <a:off x="5074920" y="4224528"/>
            <a:ext cx="6537960" cy="566928"/>
          </a:xfrm>
          <a:prstGeom prst="roundRect">
            <a:avLst>
              <a:gd name="adj" fmla="val 16129"/>
            </a:avLst>
          </a:prstGeom>
          <a:solidFill>
            <a:srgbClr val="FFFFFF"/>
          </a:solidFill>
          <a:ln/>
          <a:effectLst>
            <a:outerShdw blurRad="114300" dist="38100" dir="5400000" algn="bl" rotWithShape="0">
              <a:srgbClr val="1B4B45">
                <a:alpha val="18000"/>
              </a:srgbClr>
            </a:outerShdw>
          </a:effectLst>
        </p:spPr>
      </p:sp>
      <p:sp>
        <p:nvSpPr>
          <p:cNvPr id="28" name="Shape 21"/>
          <p:cNvSpPr/>
          <p:nvPr/>
        </p:nvSpPr>
        <p:spPr>
          <a:xfrm>
            <a:off x="5221224" y="4334256"/>
            <a:ext cx="347472" cy="347472"/>
          </a:xfrm>
          <a:prstGeom prst="ellipse">
            <a:avLst/>
          </a:prstGeom>
          <a:solidFill>
            <a:srgbClr val="02C39A"/>
          </a:solidFill>
          <a:ln/>
        </p:spPr>
      </p:sp>
      <p:pic>
        <p:nvPicPr>
          <p:cNvPr id="29" name="Image 5" descr="/home/claude/booking_ppt/icons/check_white.png"/>
          <p:cNvPicPr>
            <a:picLocks noChangeAspect="1"/>
          </p:cNvPicPr>
          <p:nvPr/>
        </p:nvPicPr>
        <p:blipFill>
          <a:blip r:embed="rId4"/>
          <a:stretch>
            <a:fillRect/>
          </a:stretch>
        </p:blipFill>
        <p:spPr>
          <a:xfrm>
            <a:off x="5266395" y="4379427"/>
            <a:ext cx="257129" cy="257129"/>
          </a:xfrm>
          <a:prstGeom prst="rect">
            <a:avLst/>
          </a:prstGeom>
        </p:spPr>
      </p:pic>
      <p:sp>
        <p:nvSpPr>
          <p:cNvPr id="30" name="Text 22"/>
          <p:cNvSpPr/>
          <p:nvPr/>
        </p:nvSpPr>
        <p:spPr>
          <a:xfrm>
            <a:off x="5696712" y="4224528"/>
            <a:ext cx="5715000" cy="566928"/>
          </a:xfrm>
          <a:prstGeom prst="rect">
            <a:avLst/>
          </a:prstGeom>
          <a:noFill/>
          <a:ln/>
        </p:spPr>
        <p:txBody>
          <a:bodyPr wrap="square" rtlCol="0" anchor="ctr"/>
          <a:lstStyle/>
          <a:p>
            <a:pPr marL="0" indent="0">
              <a:buNone/>
            </a:pPr>
            <a:r>
              <a:rPr lang="en-US" sz="1300" dirty="0">
                <a:solidFill>
                  <a:srgbClr val="0F2E2A"/>
                </a:solidFill>
                <a:latin typeface="Calibri" pitchFamily="34" charset="0"/>
                <a:ea typeface="Calibri" pitchFamily="34" charset="-122"/>
                <a:cs typeface="Calibri" pitchFamily="34" charset="-120"/>
              </a:rPr>
              <a:t>Search across records</a:t>
            </a:r>
            <a:endParaRPr lang="en-US" sz="1300" dirty="0"/>
          </a:p>
        </p:txBody>
      </p:sp>
      <p:sp>
        <p:nvSpPr>
          <p:cNvPr id="31" name="Shape 23"/>
          <p:cNvSpPr/>
          <p:nvPr/>
        </p:nvSpPr>
        <p:spPr>
          <a:xfrm>
            <a:off x="5074920" y="4846320"/>
            <a:ext cx="6537960" cy="566928"/>
          </a:xfrm>
          <a:prstGeom prst="roundRect">
            <a:avLst>
              <a:gd name="adj" fmla="val 16129"/>
            </a:avLst>
          </a:prstGeom>
          <a:solidFill>
            <a:srgbClr val="FFFFFF"/>
          </a:solidFill>
          <a:ln/>
          <a:effectLst>
            <a:outerShdw blurRad="114300" dist="38100" dir="5400000" algn="bl" rotWithShape="0">
              <a:srgbClr val="1B4B45">
                <a:alpha val="18000"/>
              </a:srgbClr>
            </a:outerShdw>
          </a:effectLst>
        </p:spPr>
      </p:sp>
      <p:sp>
        <p:nvSpPr>
          <p:cNvPr id="32" name="Shape 24"/>
          <p:cNvSpPr/>
          <p:nvPr/>
        </p:nvSpPr>
        <p:spPr>
          <a:xfrm>
            <a:off x="5221224" y="4956048"/>
            <a:ext cx="347472" cy="347472"/>
          </a:xfrm>
          <a:prstGeom prst="ellipse">
            <a:avLst/>
          </a:prstGeom>
          <a:solidFill>
            <a:srgbClr val="02C39A"/>
          </a:solidFill>
          <a:ln/>
        </p:spPr>
      </p:sp>
      <p:pic>
        <p:nvPicPr>
          <p:cNvPr id="33" name="Image 6" descr="/home/claude/booking_ppt/icons/check_white.png"/>
          <p:cNvPicPr>
            <a:picLocks noChangeAspect="1"/>
          </p:cNvPicPr>
          <p:nvPr/>
        </p:nvPicPr>
        <p:blipFill>
          <a:blip r:embed="rId4"/>
          <a:stretch>
            <a:fillRect/>
          </a:stretch>
        </p:blipFill>
        <p:spPr>
          <a:xfrm>
            <a:off x="5266395" y="5001219"/>
            <a:ext cx="257129" cy="257129"/>
          </a:xfrm>
          <a:prstGeom prst="rect">
            <a:avLst/>
          </a:prstGeom>
        </p:spPr>
      </p:pic>
      <p:sp>
        <p:nvSpPr>
          <p:cNvPr id="34" name="Text 25"/>
          <p:cNvSpPr/>
          <p:nvPr/>
        </p:nvSpPr>
        <p:spPr>
          <a:xfrm>
            <a:off x="5696712" y="4846320"/>
            <a:ext cx="5715000" cy="566928"/>
          </a:xfrm>
          <a:prstGeom prst="rect">
            <a:avLst/>
          </a:prstGeom>
          <a:noFill/>
          <a:ln/>
        </p:spPr>
        <p:txBody>
          <a:bodyPr wrap="square" rtlCol="0" anchor="ctr"/>
          <a:lstStyle/>
          <a:p>
            <a:pPr marL="0" indent="0">
              <a:buNone/>
            </a:pPr>
            <a:r>
              <a:rPr lang="en-US" sz="1300" dirty="0">
                <a:solidFill>
                  <a:srgbClr val="0F2E2A"/>
                </a:solidFill>
                <a:latin typeface="Calibri" pitchFamily="34" charset="0"/>
                <a:ea typeface="Calibri" pitchFamily="34" charset="-122"/>
                <a:cs typeface="Calibri" pitchFamily="34" charset="-120"/>
              </a:rPr>
              <a:t>Cancel appointments</a:t>
            </a:r>
            <a:endParaRPr lang="en-US" sz="1300" dirty="0"/>
          </a:p>
        </p:txBody>
      </p:sp>
      <p:sp>
        <p:nvSpPr>
          <p:cNvPr id="35" name="Shape 26"/>
          <p:cNvSpPr/>
          <p:nvPr/>
        </p:nvSpPr>
        <p:spPr>
          <a:xfrm>
            <a:off x="5074920" y="5468112"/>
            <a:ext cx="6537960" cy="566928"/>
          </a:xfrm>
          <a:prstGeom prst="roundRect">
            <a:avLst>
              <a:gd name="adj" fmla="val 16129"/>
            </a:avLst>
          </a:prstGeom>
          <a:solidFill>
            <a:srgbClr val="FFFFFF"/>
          </a:solidFill>
          <a:ln/>
          <a:effectLst>
            <a:outerShdw blurRad="114300" dist="38100" dir="5400000" algn="bl" rotWithShape="0">
              <a:srgbClr val="1B4B45">
                <a:alpha val="18000"/>
              </a:srgbClr>
            </a:outerShdw>
          </a:effectLst>
        </p:spPr>
      </p:sp>
      <p:sp>
        <p:nvSpPr>
          <p:cNvPr id="36" name="Shape 27"/>
          <p:cNvSpPr/>
          <p:nvPr/>
        </p:nvSpPr>
        <p:spPr>
          <a:xfrm>
            <a:off x="5221224" y="5577840"/>
            <a:ext cx="347472" cy="347472"/>
          </a:xfrm>
          <a:prstGeom prst="ellipse">
            <a:avLst/>
          </a:prstGeom>
          <a:solidFill>
            <a:srgbClr val="02C39A"/>
          </a:solidFill>
          <a:ln/>
        </p:spPr>
      </p:sp>
      <p:pic>
        <p:nvPicPr>
          <p:cNvPr id="37" name="Image 7" descr="/home/claude/booking_ppt/icons/check_white.png"/>
          <p:cNvPicPr>
            <a:picLocks noChangeAspect="1"/>
          </p:cNvPicPr>
          <p:nvPr/>
        </p:nvPicPr>
        <p:blipFill>
          <a:blip r:embed="rId4"/>
          <a:stretch>
            <a:fillRect/>
          </a:stretch>
        </p:blipFill>
        <p:spPr>
          <a:xfrm>
            <a:off x="5266395" y="5623011"/>
            <a:ext cx="257129" cy="257129"/>
          </a:xfrm>
          <a:prstGeom prst="rect">
            <a:avLst/>
          </a:prstGeom>
        </p:spPr>
      </p:pic>
      <p:sp>
        <p:nvSpPr>
          <p:cNvPr id="38" name="Text 28"/>
          <p:cNvSpPr/>
          <p:nvPr/>
        </p:nvSpPr>
        <p:spPr>
          <a:xfrm>
            <a:off x="5696712" y="5468112"/>
            <a:ext cx="5715000" cy="566928"/>
          </a:xfrm>
          <a:prstGeom prst="rect">
            <a:avLst/>
          </a:prstGeom>
          <a:noFill/>
          <a:ln/>
        </p:spPr>
        <p:txBody>
          <a:bodyPr wrap="square" rtlCol="0" anchor="ctr"/>
          <a:lstStyle/>
          <a:p>
            <a:pPr marL="0" indent="0">
              <a:buNone/>
            </a:pPr>
            <a:r>
              <a:rPr lang="en-US" sz="1300" dirty="0">
                <a:solidFill>
                  <a:srgbClr val="0F2E2A"/>
                </a:solidFill>
                <a:latin typeface="Calibri" pitchFamily="34" charset="0"/>
                <a:ea typeface="Calibri" pitchFamily="34" charset="-122"/>
                <a:cs typeface="Calibri" pitchFamily="34" charset="-120"/>
              </a:rPr>
              <a:t>Block / unblock time slots</a:t>
            </a:r>
            <a:endParaRPr lang="en-US" sz="1300" dirty="0"/>
          </a:p>
        </p:txBody>
      </p:sp>
      <p:sp>
        <p:nvSpPr>
          <p:cNvPr id="39" name="Text 29"/>
          <p:cNvSpPr/>
          <p:nvPr/>
        </p:nvSpPr>
        <p:spPr>
          <a:xfrm>
            <a:off x="457200" y="6519672"/>
            <a:ext cx="7315200" cy="274320"/>
          </a:xfrm>
          <a:prstGeom prst="rect">
            <a:avLst/>
          </a:prstGeom>
          <a:noFill/>
          <a:ln/>
        </p:spPr>
        <p:txBody>
          <a:bodyPr wrap="square" rtlCol="0" anchor="ctr"/>
          <a:lstStyle/>
          <a:p>
            <a:pPr marL="0" indent="0">
              <a:buNone/>
            </a:pPr>
            <a:r>
              <a:rPr lang="en-US" sz="900" kern="0" spc="100" dirty="0">
                <a:solidFill>
                  <a:srgbClr val="5C7A75"/>
                </a:solidFill>
                <a:latin typeface="Calibri" pitchFamily="34" charset="0"/>
                <a:ea typeface="Calibri" pitchFamily="34" charset="-122"/>
                <a:cs typeface="Calibri" pitchFamily="34" charset="-120"/>
              </a:rPr>
              <a:t>DOCTOR APPOINTMENT BOOKING SYSTEM  ·  PROJECT PLANNING</a:t>
            </a:r>
            <a:endParaRPr lang="en-US" sz="900" dirty="0"/>
          </a:p>
        </p:txBody>
      </p:sp>
      <p:sp>
        <p:nvSpPr>
          <p:cNvPr id="40" name="Text 30"/>
          <p:cNvSpPr/>
          <p:nvPr/>
        </p:nvSpPr>
        <p:spPr>
          <a:xfrm>
            <a:off x="11338560" y="6519672"/>
            <a:ext cx="457200" cy="274320"/>
          </a:xfrm>
          <a:prstGeom prst="rect">
            <a:avLst/>
          </a:prstGeom>
          <a:noFill/>
          <a:ln/>
        </p:spPr>
        <p:txBody>
          <a:bodyPr wrap="square" rtlCol="0" anchor="ctr"/>
          <a:lstStyle/>
          <a:p>
            <a:pPr marL="0" indent="0" algn="r">
              <a:buNone/>
            </a:pPr>
            <a:r>
              <a:rPr lang="en-US" sz="900" dirty="0">
                <a:solidFill>
                  <a:srgbClr val="5C7A75"/>
                </a:solidFill>
                <a:latin typeface="Calibri" pitchFamily="34" charset="0"/>
                <a:ea typeface="Calibri" pitchFamily="34" charset="-122"/>
                <a:cs typeface="Calibri" pitchFamily="34" charset="-120"/>
              </a:rPr>
              <a:t>05</a:t>
            </a:r>
            <a:endParaRPr lang="en-US" sz="9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2E2B"/>
        </a:solidFill>
        <a:effectLst/>
      </p:bgPr>
    </p:bg>
    <p:spTree>
      <p:nvGrpSpPr>
        <p:cNvPr id="1" name=""/>
        <p:cNvGrpSpPr/>
        <p:nvPr/>
      </p:nvGrpSpPr>
      <p:grpSpPr>
        <a:xfrm>
          <a:off x="0" y="0"/>
          <a:ext cx="0" cy="0"/>
          <a:chOff x="0" y="0"/>
          <a:chExt cx="0" cy="0"/>
        </a:xfrm>
      </p:grpSpPr>
      <p:sp>
        <p:nvSpPr>
          <p:cNvPr id="2" name="Shape 0"/>
          <p:cNvSpPr/>
          <p:nvPr/>
        </p:nvSpPr>
        <p:spPr>
          <a:xfrm>
            <a:off x="8046720" y="-2743200"/>
            <a:ext cx="7315200" cy="7315200"/>
          </a:xfrm>
          <a:prstGeom prst="ellipse">
            <a:avLst/>
          </a:prstGeom>
          <a:solidFill>
            <a:srgbClr val="0E3D39"/>
          </a:solidFill>
          <a:ln/>
        </p:spPr>
      </p:sp>
      <p:sp>
        <p:nvSpPr>
          <p:cNvPr id="3" name="Shape 1"/>
          <p:cNvSpPr/>
          <p:nvPr/>
        </p:nvSpPr>
        <p:spPr>
          <a:xfrm>
            <a:off x="685800" y="685800"/>
            <a:ext cx="4480560" cy="347472"/>
          </a:xfrm>
          <a:prstGeom prst="roundRect">
            <a:avLst>
              <a:gd name="adj" fmla="val 50000"/>
            </a:avLst>
          </a:prstGeom>
          <a:solidFill>
            <a:srgbClr val="12504A"/>
          </a:solidFill>
          <a:ln/>
        </p:spPr>
      </p:sp>
      <p:sp>
        <p:nvSpPr>
          <p:cNvPr id="4" name="Text 2"/>
          <p:cNvSpPr/>
          <p:nvPr/>
        </p:nvSpPr>
        <p:spPr>
          <a:xfrm>
            <a:off x="685800" y="685800"/>
            <a:ext cx="4480560" cy="347472"/>
          </a:xfrm>
          <a:prstGeom prst="rect">
            <a:avLst/>
          </a:prstGeom>
          <a:noFill/>
          <a:ln/>
        </p:spPr>
        <p:txBody>
          <a:bodyPr wrap="square" rtlCol="0" anchor="ctr"/>
          <a:lstStyle/>
          <a:p>
            <a:pPr marL="0" indent="0" algn="ctr">
              <a:buNone/>
            </a:pPr>
            <a:r>
              <a:rPr lang="en-US" sz="1150" b="1" kern="0" spc="200" dirty="0">
                <a:solidFill>
                  <a:srgbClr val="02C39A"/>
                </a:solidFill>
                <a:latin typeface="Calibri" pitchFamily="34" charset="0"/>
                <a:ea typeface="Calibri" pitchFamily="34" charset="-122"/>
                <a:cs typeface="Calibri" pitchFamily="34" charset="-120"/>
              </a:rPr>
              <a:t>TECH APPROACH FOR THIS BUILD</a:t>
            </a:r>
            <a:endParaRPr lang="en-US" sz="1150" dirty="0"/>
          </a:p>
        </p:txBody>
      </p:sp>
      <p:sp>
        <p:nvSpPr>
          <p:cNvPr id="5" name="Text 3"/>
          <p:cNvSpPr/>
          <p:nvPr/>
        </p:nvSpPr>
        <p:spPr>
          <a:xfrm>
            <a:off x="685800" y="1417320"/>
            <a:ext cx="9601200" cy="1645920"/>
          </a:xfrm>
          <a:prstGeom prst="rect">
            <a:avLst/>
          </a:prstGeom>
          <a:noFill/>
          <a:ln/>
        </p:spPr>
        <p:txBody>
          <a:bodyPr wrap="square" rtlCol="0" anchor="ctr"/>
          <a:lstStyle/>
          <a:p>
            <a:pPr marL="0" indent="0">
              <a:lnSpc>
                <a:spcPts val="4600"/>
              </a:lnSpc>
              <a:buNone/>
            </a:pPr>
            <a:r>
              <a:rPr lang="en-US" sz="4000" b="1" dirty="0">
                <a:solidFill>
                  <a:srgbClr val="FFFFFF"/>
                </a:solidFill>
                <a:latin typeface="Century Schoolbook" pitchFamily="34" charset="0"/>
                <a:ea typeface="Century Schoolbook" pitchFamily="34" charset="-122"/>
                <a:cs typeface="Century Schoolbook" pitchFamily="34" charset="-120"/>
              </a:rPr>
              <a:t>Functions Only.
</a:t>
            </a:r>
            <a:r>
              <a:rPr lang="en-US" sz="4000" b="1" dirty="0">
                <a:solidFill>
                  <a:srgbClr val="02C39A"/>
                </a:solidFill>
                <a:latin typeface="Century Schoolbook" pitchFamily="34" charset="0"/>
                <a:ea typeface="Century Schoolbook" pitchFamily="34" charset="-122"/>
                <a:cs typeface="Century Schoolbook" pitchFamily="34" charset="-120"/>
              </a:rPr>
              <a:t>No Classes, No OOP.</a:t>
            </a:r>
            <a:endParaRPr lang="en-US" sz="4000" dirty="0"/>
          </a:p>
        </p:txBody>
      </p:sp>
      <p:sp>
        <p:nvSpPr>
          <p:cNvPr id="6" name="Text 4"/>
          <p:cNvSpPr/>
          <p:nvPr/>
        </p:nvSpPr>
        <p:spPr>
          <a:xfrm>
            <a:off x="685800" y="3246120"/>
            <a:ext cx="9601200" cy="1645920"/>
          </a:xfrm>
          <a:prstGeom prst="rect">
            <a:avLst/>
          </a:prstGeom>
          <a:noFill/>
          <a:ln/>
        </p:spPr>
        <p:txBody>
          <a:bodyPr wrap="square" rtlCol="0" anchor="ctr"/>
          <a:lstStyle/>
          <a:p>
            <a:pPr marL="0" indent="0">
              <a:lnSpc>
                <a:spcPts val="4600"/>
              </a:lnSpc>
              <a:buNone/>
            </a:pPr>
            <a:r>
              <a:rPr lang="en-US" sz="4000" b="1" dirty="0">
                <a:solidFill>
                  <a:srgbClr val="FFFFFF"/>
                </a:solidFill>
                <a:latin typeface="Century Schoolbook" pitchFamily="34" charset="0"/>
                <a:ea typeface="Century Schoolbook" pitchFamily="34" charset="-122"/>
                <a:cs typeface="Century Schoolbook" pitchFamily="34" charset="-120"/>
              </a:rPr>
              <a:t>One JSON File Per Entity.
</a:t>
            </a:r>
            <a:r>
              <a:rPr lang="en-US" sz="4000" b="1" dirty="0">
                <a:solidFill>
                  <a:srgbClr val="02C39A"/>
                </a:solidFill>
                <a:latin typeface="Century Schoolbook" pitchFamily="34" charset="0"/>
                <a:ea typeface="Century Schoolbook" pitchFamily="34" charset="-122"/>
                <a:cs typeface="Century Schoolbook" pitchFamily="34" charset="-120"/>
              </a:rPr>
              <a:t>No Database Server.</a:t>
            </a:r>
            <a:endParaRPr lang="en-US" sz="4000" dirty="0"/>
          </a:p>
        </p:txBody>
      </p:sp>
      <p:sp>
        <p:nvSpPr>
          <p:cNvPr id="7" name="Shape 5"/>
          <p:cNvSpPr/>
          <p:nvPr/>
        </p:nvSpPr>
        <p:spPr>
          <a:xfrm>
            <a:off x="713232" y="5166360"/>
            <a:ext cx="457200" cy="457200"/>
          </a:xfrm>
          <a:prstGeom prst="ellipse">
            <a:avLst/>
          </a:prstGeom>
          <a:solidFill>
            <a:srgbClr val="02C39A"/>
          </a:solidFill>
          <a:ln/>
        </p:spPr>
      </p:sp>
      <p:pic>
        <p:nvPicPr>
          <p:cNvPr id="8" name="Image 0" descr="/home/claude/booking_ppt/icons/code_dark.png"/>
          <p:cNvPicPr>
            <a:picLocks noChangeAspect="1"/>
          </p:cNvPicPr>
          <p:nvPr/>
        </p:nvPicPr>
        <p:blipFill>
          <a:blip r:embed="rId3"/>
          <a:stretch>
            <a:fillRect/>
          </a:stretch>
        </p:blipFill>
        <p:spPr>
          <a:xfrm>
            <a:off x="772668" y="5225796"/>
            <a:ext cx="338328" cy="338328"/>
          </a:xfrm>
          <a:prstGeom prst="rect">
            <a:avLst/>
          </a:prstGeom>
        </p:spPr>
      </p:pic>
      <p:sp>
        <p:nvSpPr>
          <p:cNvPr id="9" name="Text 6"/>
          <p:cNvSpPr/>
          <p:nvPr/>
        </p:nvSpPr>
        <p:spPr>
          <a:xfrm>
            <a:off x="1307592" y="5120640"/>
            <a:ext cx="4846320" cy="822960"/>
          </a:xfrm>
          <a:prstGeom prst="rect">
            <a:avLst/>
          </a:prstGeom>
          <a:noFill/>
          <a:ln/>
        </p:spPr>
        <p:txBody>
          <a:bodyPr wrap="square" rtlCol="0" anchor="ctr"/>
          <a:lstStyle/>
          <a:p>
            <a:pPr marL="0" indent="0">
              <a:lnSpc>
                <a:spcPts val="1500"/>
              </a:lnSpc>
              <a:buNone/>
            </a:pPr>
            <a:r>
              <a:rPr lang="en-US" sz="1150" dirty="0">
                <a:solidFill>
                  <a:srgbClr val="BFE3DE"/>
                </a:solidFill>
                <a:latin typeface="Calibri" pitchFamily="34" charset="0"/>
                <a:ea typeface="Calibri" pitchFamily="34" charset="-122"/>
                <a:cs typeface="Calibri" pitchFamily="34" charset="-120"/>
              </a:rPr>
              <a:t>Plain functions like add_doctor() and create_appointment() — every operation is one clear, testable function.</a:t>
            </a:r>
            <a:endParaRPr lang="en-US" sz="1150" dirty="0"/>
          </a:p>
        </p:txBody>
      </p:sp>
      <p:sp>
        <p:nvSpPr>
          <p:cNvPr id="10" name="Shape 7"/>
          <p:cNvSpPr/>
          <p:nvPr/>
        </p:nvSpPr>
        <p:spPr>
          <a:xfrm>
            <a:off x="6291072" y="5166360"/>
            <a:ext cx="457200" cy="457200"/>
          </a:xfrm>
          <a:prstGeom prst="ellipse">
            <a:avLst/>
          </a:prstGeom>
          <a:solidFill>
            <a:srgbClr val="02C39A"/>
          </a:solidFill>
          <a:ln/>
        </p:spPr>
      </p:sp>
      <p:pic>
        <p:nvPicPr>
          <p:cNvPr id="11" name="Image 1" descr="/home/claude/booking_ppt/icons/json_dark.png"/>
          <p:cNvPicPr>
            <a:picLocks noChangeAspect="1"/>
          </p:cNvPicPr>
          <p:nvPr/>
        </p:nvPicPr>
        <p:blipFill>
          <a:blip r:embed="rId4"/>
          <a:stretch>
            <a:fillRect/>
          </a:stretch>
        </p:blipFill>
        <p:spPr>
          <a:xfrm>
            <a:off x="6350508" y="5225796"/>
            <a:ext cx="338328" cy="338328"/>
          </a:xfrm>
          <a:prstGeom prst="rect">
            <a:avLst/>
          </a:prstGeom>
        </p:spPr>
      </p:pic>
      <p:sp>
        <p:nvSpPr>
          <p:cNvPr id="12" name="Text 8"/>
          <p:cNvSpPr/>
          <p:nvPr/>
        </p:nvSpPr>
        <p:spPr>
          <a:xfrm>
            <a:off x="6885432" y="5120640"/>
            <a:ext cx="4846320" cy="822960"/>
          </a:xfrm>
          <a:prstGeom prst="rect">
            <a:avLst/>
          </a:prstGeom>
          <a:noFill/>
          <a:ln/>
        </p:spPr>
        <p:txBody>
          <a:bodyPr wrap="square" rtlCol="0" anchor="ctr"/>
          <a:lstStyle/>
          <a:p>
            <a:pPr marL="0" indent="0">
              <a:lnSpc>
                <a:spcPts val="1500"/>
              </a:lnSpc>
              <a:buNone/>
            </a:pPr>
            <a:r>
              <a:rPr lang="en-US" sz="1150" dirty="0">
                <a:solidFill>
                  <a:srgbClr val="BFE3DE"/>
                </a:solidFill>
                <a:latin typeface="Calibri" pitchFamily="34" charset="0"/>
                <a:ea typeface="Calibri" pitchFamily="34" charset="-122"/>
                <a:cs typeface="Calibri" pitchFamily="34" charset="-120"/>
              </a:rPr>
              <a:t>doctors.json, patients.json, schedules.json and appointments.json read &amp; written with Python's built-in json module.</a:t>
            </a:r>
            <a:endParaRPr lang="en-US" sz="1150" dirty="0"/>
          </a:p>
        </p:txBody>
      </p:sp>
      <p:sp>
        <p:nvSpPr>
          <p:cNvPr id="13" name="Text 9"/>
          <p:cNvSpPr/>
          <p:nvPr/>
        </p:nvSpPr>
        <p:spPr>
          <a:xfrm>
            <a:off x="457200" y="6519672"/>
            <a:ext cx="7315200" cy="274320"/>
          </a:xfrm>
          <a:prstGeom prst="rect">
            <a:avLst/>
          </a:prstGeom>
          <a:noFill/>
          <a:ln/>
        </p:spPr>
        <p:txBody>
          <a:bodyPr wrap="square" rtlCol="0" anchor="ctr"/>
          <a:lstStyle/>
          <a:p>
            <a:pPr marL="0" indent="0">
              <a:buNone/>
            </a:pPr>
            <a:r>
              <a:rPr lang="en-US" sz="900" kern="0" spc="100" dirty="0">
                <a:solidFill>
                  <a:srgbClr val="7FB8B0"/>
                </a:solidFill>
                <a:latin typeface="Calibri" pitchFamily="34" charset="0"/>
                <a:ea typeface="Calibri" pitchFamily="34" charset="-122"/>
                <a:cs typeface="Calibri" pitchFamily="34" charset="-120"/>
              </a:rPr>
              <a:t>DOCTOR APPOINTMENT BOOKING SYSTEM  ·  PROJECT PLANNING</a:t>
            </a:r>
            <a:endParaRPr lang="en-US" sz="900" dirty="0"/>
          </a:p>
        </p:txBody>
      </p:sp>
      <p:sp>
        <p:nvSpPr>
          <p:cNvPr id="14" name="Text 10"/>
          <p:cNvSpPr/>
          <p:nvPr/>
        </p:nvSpPr>
        <p:spPr>
          <a:xfrm>
            <a:off x="11338560" y="6519672"/>
            <a:ext cx="457200" cy="274320"/>
          </a:xfrm>
          <a:prstGeom prst="rect">
            <a:avLst/>
          </a:prstGeom>
          <a:noFill/>
          <a:ln/>
        </p:spPr>
        <p:txBody>
          <a:bodyPr wrap="square" rtlCol="0" anchor="ctr"/>
          <a:lstStyle/>
          <a:p>
            <a:pPr marL="0" indent="0" algn="r">
              <a:buNone/>
            </a:pPr>
            <a:r>
              <a:rPr lang="en-US" sz="900" dirty="0">
                <a:solidFill>
                  <a:srgbClr val="7FB8B0"/>
                </a:solidFill>
                <a:latin typeface="Calibri" pitchFamily="34" charset="0"/>
                <a:ea typeface="Calibri" pitchFamily="34" charset="-122"/>
                <a:cs typeface="Calibri" pitchFamily="34" charset="-120"/>
              </a:rPr>
              <a:t>06</a:t>
            </a:r>
            <a:endParaRPr lang="en-US" sz="9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BFA"/>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47472"/>
          </a:xfrm>
          <a:prstGeom prst="roundRect">
            <a:avLst>
              <a:gd name="adj" fmla="val 50000"/>
            </a:avLst>
          </a:prstGeom>
          <a:solidFill>
            <a:srgbClr val="E4F5F2"/>
          </a:solidFill>
          <a:ln/>
        </p:spPr>
      </p:sp>
      <p:sp>
        <p:nvSpPr>
          <p:cNvPr id="3" name="Text 1"/>
          <p:cNvSpPr/>
          <p:nvPr/>
        </p:nvSpPr>
        <p:spPr>
          <a:xfrm>
            <a:off x="548640" y="457200"/>
            <a:ext cx="3291840" cy="347472"/>
          </a:xfrm>
          <a:prstGeom prst="rect">
            <a:avLst/>
          </a:prstGeom>
          <a:noFill/>
          <a:ln/>
        </p:spPr>
        <p:txBody>
          <a:bodyPr wrap="square" rtlCol="0" anchor="ctr"/>
          <a:lstStyle/>
          <a:p>
            <a:pPr marL="0" indent="0" algn="ctr">
              <a:buNone/>
            </a:pPr>
            <a:r>
              <a:rPr lang="en-US" sz="1150" b="1" kern="0" spc="200" dirty="0">
                <a:solidFill>
                  <a:srgbClr val="028090"/>
                </a:solidFill>
                <a:latin typeface="Calibri" pitchFamily="34" charset="0"/>
                <a:ea typeface="Calibri" pitchFamily="34" charset="-122"/>
                <a:cs typeface="Calibri" pitchFamily="34" charset="-120"/>
              </a:rPr>
              <a:t>DATA MODEL</a:t>
            </a:r>
            <a:endParaRPr lang="en-US" sz="1150" dirty="0"/>
          </a:p>
        </p:txBody>
      </p:sp>
      <p:sp>
        <p:nvSpPr>
          <p:cNvPr id="4" name="Text 2"/>
          <p:cNvSpPr/>
          <p:nvPr/>
        </p:nvSpPr>
        <p:spPr>
          <a:xfrm>
            <a:off x="548640" y="896112"/>
            <a:ext cx="10515600" cy="822960"/>
          </a:xfrm>
          <a:prstGeom prst="rect">
            <a:avLst/>
          </a:prstGeom>
          <a:noFill/>
          <a:ln/>
        </p:spPr>
        <p:txBody>
          <a:bodyPr wrap="square" rtlCol="0" anchor="ctr"/>
          <a:lstStyle/>
          <a:p>
            <a:pPr marL="0" indent="0" algn="l">
              <a:buNone/>
            </a:pPr>
            <a:r>
              <a:rPr lang="en-US" sz="3200" b="1" dirty="0">
                <a:solidFill>
                  <a:srgbClr val="0F2E2A"/>
                </a:solidFill>
                <a:latin typeface="Century Schoolbook" pitchFamily="34" charset="0"/>
                <a:ea typeface="Century Schoolbook" pitchFamily="34" charset="-122"/>
                <a:cs typeface="Century Schoolbook" pitchFamily="34" charset="-120"/>
              </a:rPr>
              <a:t>Four Entities Power the Whole System</a:t>
            </a:r>
            <a:endParaRPr lang="en-US" sz="3200" dirty="0"/>
          </a:p>
        </p:txBody>
      </p:sp>
      <p:sp>
        <p:nvSpPr>
          <p:cNvPr id="5" name="Shape 3"/>
          <p:cNvSpPr/>
          <p:nvPr/>
        </p:nvSpPr>
        <p:spPr>
          <a:xfrm>
            <a:off x="548640" y="1691640"/>
            <a:ext cx="2697480" cy="4480560"/>
          </a:xfrm>
          <a:prstGeom prst="roundRect">
            <a:avLst>
              <a:gd name="adj" fmla="val 4068"/>
            </a:avLst>
          </a:prstGeom>
          <a:solidFill>
            <a:srgbClr val="FFFFFF"/>
          </a:solidFill>
          <a:ln/>
          <a:effectLst>
            <a:outerShdw blurRad="114300" dist="38100" dir="5400000" algn="bl" rotWithShape="0">
              <a:srgbClr val="1B4B45">
                <a:alpha val="18000"/>
              </a:srgbClr>
            </a:outerShdw>
          </a:effectLst>
        </p:spPr>
      </p:sp>
      <p:sp>
        <p:nvSpPr>
          <p:cNvPr id="6" name="Shape 4"/>
          <p:cNvSpPr/>
          <p:nvPr/>
        </p:nvSpPr>
        <p:spPr>
          <a:xfrm>
            <a:off x="548640" y="1691640"/>
            <a:ext cx="2697480" cy="1051560"/>
          </a:xfrm>
          <a:prstGeom prst="roundRect">
            <a:avLst>
              <a:gd name="adj" fmla="val 10435"/>
            </a:avLst>
          </a:prstGeom>
          <a:solidFill>
            <a:srgbClr val="028090"/>
          </a:solidFill>
          <a:ln/>
        </p:spPr>
      </p:sp>
      <p:sp>
        <p:nvSpPr>
          <p:cNvPr id="7" name="Shape 5"/>
          <p:cNvSpPr/>
          <p:nvPr/>
        </p:nvSpPr>
        <p:spPr>
          <a:xfrm>
            <a:off x="548640" y="2194560"/>
            <a:ext cx="2697480" cy="548640"/>
          </a:xfrm>
          <a:prstGeom prst="rect">
            <a:avLst/>
          </a:prstGeom>
          <a:solidFill>
            <a:srgbClr val="028090"/>
          </a:solidFill>
          <a:ln/>
        </p:spPr>
      </p:sp>
      <p:sp>
        <p:nvSpPr>
          <p:cNvPr id="8" name="Shape 6"/>
          <p:cNvSpPr/>
          <p:nvPr/>
        </p:nvSpPr>
        <p:spPr>
          <a:xfrm>
            <a:off x="1586484" y="1892808"/>
            <a:ext cx="621792" cy="621792"/>
          </a:xfrm>
          <a:prstGeom prst="ellipse">
            <a:avLst/>
          </a:prstGeom>
          <a:solidFill>
            <a:srgbClr val="FFFFFF"/>
          </a:solidFill>
          <a:ln/>
        </p:spPr>
      </p:sp>
      <p:pic>
        <p:nvPicPr>
          <p:cNvPr id="9" name="Image 0" descr="/home/claude/booking_ppt/icons/doctor_white.png"/>
          <p:cNvPicPr>
            <a:picLocks noChangeAspect="1"/>
          </p:cNvPicPr>
          <p:nvPr/>
        </p:nvPicPr>
        <p:blipFill>
          <a:blip r:embed="rId3"/>
          <a:stretch>
            <a:fillRect/>
          </a:stretch>
        </p:blipFill>
        <p:spPr>
          <a:xfrm>
            <a:off x="1667317" y="1973641"/>
            <a:ext cx="460126" cy="460126"/>
          </a:xfrm>
          <a:prstGeom prst="rect">
            <a:avLst/>
          </a:prstGeom>
        </p:spPr>
      </p:pic>
      <p:sp>
        <p:nvSpPr>
          <p:cNvPr id="10" name="Text 7"/>
          <p:cNvSpPr/>
          <p:nvPr/>
        </p:nvSpPr>
        <p:spPr>
          <a:xfrm>
            <a:off x="548640" y="2834640"/>
            <a:ext cx="2697480" cy="365760"/>
          </a:xfrm>
          <a:prstGeom prst="rect">
            <a:avLst/>
          </a:prstGeom>
          <a:noFill/>
          <a:ln/>
        </p:spPr>
        <p:txBody>
          <a:bodyPr wrap="square" rtlCol="0" anchor="ctr"/>
          <a:lstStyle/>
          <a:p>
            <a:pPr marL="0" indent="0" algn="ctr">
              <a:buNone/>
            </a:pPr>
            <a:r>
              <a:rPr lang="en-US" sz="1500" b="1" dirty="0">
                <a:solidFill>
                  <a:srgbClr val="0F2E2A"/>
                </a:solidFill>
                <a:latin typeface="Calibri" pitchFamily="34" charset="0"/>
                <a:ea typeface="Calibri" pitchFamily="34" charset="-122"/>
                <a:cs typeface="Calibri" pitchFamily="34" charset="-120"/>
              </a:rPr>
              <a:t>Doctor</a:t>
            </a:r>
            <a:endParaRPr lang="en-US" sz="1500" dirty="0"/>
          </a:p>
        </p:txBody>
      </p:sp>
      <p:sp>
        <p:nvSpPr>
          <p:cNvPr id="11" name="Shape 8"/>
          <p:cNvSpPr/>
          <p:nvPr/>
        </p:nvSpPr>
        <p:spPr>
          <a:xfrm>
            <a:off x="804672" y="3419856"/>
            <a:ext cx="82296" cy="82296"/>
          </a:xfrm>
          <a:prstGeom prst="ellipse">
            <a:avLst/>
          </a:prstGeom>
          <a:solidFill>
            <a:srgbClr val="028090"/>
          </a:solidFill>
          <a:ln/>
        </p:spPr>
      </p:sp>
      <p:sp>
        <p:nvSpPr>
          <p:cNvPr id="12" name="Text 9"/>
          <p:cNvSpPr/>
          <p:nvPr/>
        </p:nvSpPr>
        <p:spPr>
          <a:xfrm>
            <a:off x="987552" y="3264408"/>
            <a:ext cx="2057400" cy="411480"/>
          </a:xfrm>
          <a:prstGeom prst="rect">
            <a:avLst/>
          </a:prstGeom>
          <a:noFill/>
          <a:ln/>
        </p:spPr>
        <p:txBody>
          <a:bodyPr wrap="square" rtlCol="0" anchor="t"/>
          <a:lstStyle/>
          <a:p>
            <a:pPr marL="0" indent="0">
              <a:buNone/>
            </a:pPr>
            <a:r>
              <a:rPr lang="en-US" sz="1100" dirty="0">
                <a:solidFill>
                  <a:srgbClr val="5C7A75"/>
                </a:solidFill>
                <a:latin typeface="Calibri" pitchFamily="34" charset="0"/>
                <a:ea typeface="Calibri" pitchFamily="34" charset="-122"/>
                <a:cs typeface="Calibri" pitchFamily="34" charset="-120"/>
              </a:rPr>
              <a:t>id</a:t>
            </a:r>
            <a:endParaRPr lang="en-US" sz="1100" dirty="0"/>
          </a:p>
        </p:txBody>
      </p:sp>
      <p:sp>
        <p:nvSpPr>
          <p:cNvPr id="13" name="Shape 10"/>
          <p:cNvSpPr/>
          <p:nvPr/>
        </p:nvSpPr>
        <p:spPr>
          <a:xfrm>
            <a:off x="804672" y="3986784"/>
            <a:ext cx="82296" cy="82296"/>
          </a:xfrm>
          <a:prstGeom prst="ellipse">
            <a:avLst/>
          </a:prstGeom>
          <a:solidFill>
            <a:srgbClr val="028090"/>
          </a:solidFill>
          <a:ln/>
        </p:spPr>
      </p:sp>
      <p:sp>
        <p:nvSpPr>
          <p:cNvPr id="14" name="Text 11"/>
          <p:cNvSpPr/>
          <p:nvPr/>
        </p:nvSpPr>
        <p:spPr>
          <a:xfrm>
            <a:off x="987552" y="3831336"/>
            <a:ext cx="2057400" cy="411480"/>
          </a:xfrm>
          <a:prstGeom prst="rect">
            <a:avLst/>
          </a:prstGeom>
          <a:noFill/>
          <a:ln/>
        </p:spPr>
        <p:txBody>
          <a:bodyPr wrap="square" rtlCol="0" anchor="t"/>
          <a:lstStyle/>
          <a:p>
            <a:pPr marL="0" indent="0">
              <a:buNone/>
            </a:pPr>
            <a:r>
              <a:rPr lang="en-US" sz="1100" dirty="0">
                <a:solidFill>
                  <a:srgbClr val="5C7A75"/>
                </a:solidFill>
                <a:latin typeface="Calibri" pitchFamily="34" charset="0"/>
                <a:ea typeface="Calibri" pitchFamily="34" charset="-122"/>
                <a:cs typeface="Calibri" pitchFamily="34" charset="-120"/>
              </a:rPr>
              <a:t>name</a:t>
            </a:r>
            <a:endParaRPr lang="en-US" sz="1100" dirty="0"/>
          </a:p>
        </p:txBody>
      </p:sp>
      <p:sp>
        <p:nvSpPr>
          <p:cNvPr id="15" name="Shape 12"/>
          <p:cNvSpPr/>
          <p:nvPr/>
        </p:nvSpPr>
        <p:spPr>
          <a:xfrm>
            <a:off x="804672" y="4553712"/>
            <a:ext cx="82296" cy="82296"/>
          </a:xfrm>
          <a:prstGeom prst="ellipse">
            <a:avLst/>
          </a:prstGeom>
          <a:solidFill>
            <a:srgbClr val="028090"/>
          </a:solidFill>
          <a:ln/>
        </p:spPr>
      </p:sp>
      <p:sp>
        <p:nvSpPr>
          <p:cNvPr id="16" name="Text 13"/>
          <p:cNvSpPr/>
          <p:nvPr/>
        </p:nvSpPr>
        <p:spPr>
          <a:xfrm>
            <a:off x="987552" y="4398264"/>
            <a:ext cx="2057400" cy="411480"/>
          </a:xfrm>
          <a:prstGeom prst="rect">
            <a:avLst/>
          </a:prstGeom>
          <a:noFill/>
          <a:ln/>
        </p:spPr>
        <p:txBody>
          <a:bodyPr wrap="square" rtlCol="0" anchor="t"/>
          <a:lstStyle/>
          <a:p>
            <a:pPr marL="0" indent="0">
              <a:buNone/>
            </a:pPr>
            <a:r>
              <a:rPr lang="en-US" sz="1100" dirty="0">
                <a:solidFill>
                  <a:srgbClr val="5C7A75"/>
                </a:solidFill>
                <a:latin typeface="Calibri" pitchFamily="34" charset="0"/>
                <a:ea typeface="Calibri" pitchFamily="34" charset="-122"/>
                <a:cs typeface="Calibri" pitchFamily="34" charset="-120"/>
              </a:rPr>
              <a:t>specialization</a:t>
            </a:r>
            <a:endParaRPr lang="en-US" sz="1100" dirty="0"/>
          </a:p>
        </p:txBody>
      </p:sp>
      <p:sp>
        <p:nvSpPr>
          <p:cNvPr id="17" name="Shape 14"/>
          <p:cNvSpPr/>
          <p:nvPr/>
        </p:nvSpPr>
        <p:spPr>
          <a:xfrm>
            <a:off x="804672" y="5120640"/>
            <a:ext cx="82296" cy="82296"/>
          </a:xfrm>
          <a:prstGeom prst="ellipse">
            <a:avLst/>
          </a:prstGeom>
          <a:solidFill>
            <a:srgbClr val="028090"/>
          </a:solidFill>
          <a:ln/>
        </p:spPr>
      </p:sp>
      <p:sp>
        <p:nvSpPr>
          <p:cNvPr id="18" name="Text 15"/>
          <p:cNvSpPr/>
          <p:nvPr/>
        </p:nvSpPr>
        <p:spPr>
          <a:xfrm>
            <a:off x="987552" y="4965192"/>
            <a:ext cx="2057400" cy="411480"/>
          </a:xfrm>
          <a:prstGeom prst="rect">
            <a:avLst/>
          </a:prstGeom>
          <a:noFill/>
          <a:ln/>
        </p:spPr>
        <p:txBody>
          <a:bodyPr wrap="square" rtlCol="0" anchor="t"/>
          <a:lstStyle/>
          <a:p>
            <a:pPr marL="0" indent="0">
              <a:buNone/>
            </a:pPr>
            <a:r>
              <a:rPr lang="en-US" sz="1100" dirty="0">
                <a:solidFill>
                  <a:srgbClr val="5C7A75"/>
                </a:solidFill>
                <a:latin typeface="Calibri" pitchFamily="34" charset="0"/>
                <a:ea typeface="Calibri" pitchFamily="34" charset="-122"/>
                <a:cs typeface="Calibri" pitchFamily="34" charset="-120"/>
              </a:rPr>
              <a:t>phone (optional)</a:t>
            </a:r>
            <a:endParaRPr lang="en-US" sz="1100" dirty="0"/>
          </a:p>
        </p:txBody>
      </p:sp>
      <p:sp>
        <p:nvSpPr>
          <p:cNvPr id="19" name="Shape 16"/>
          <p:cNvSpPr/>
          <p:nvPr/>
        </p:nvSpPr>
        <p:spPr>
          <a:xfrm>
            <a:off x="804672" y="5687568"/>
            <a:ext cx="82296" cy="82296"/>
          </a:xfrm>
          <a:prstGeom prst="ellipse">
            <a:avLst/>
          </a:prstGeom>
          <a:solidFill>
            <a:srgbClr val="028090"/>
          </a:solidFill>
          <a:ln/>
        </p:spPr>
      </p:sp>
      <p:sp>
        <p:nvSpPr>
          <p:cNvPr id="20" name="Text 17"/>
          <p:cNvSpPr/>
          <p:nvPr/>
        </p:nvSpPr>
        <p:spPr>
          <a:xfrm>
            <a:off x="987552" y="5532120"/>
            <a:ext cx="2057400" cy="411480"/>
          </a:xfrm>
          <a:prstGeom prst="rect">
            <a:avLst/>
          </a:prstGeom>
          <a:noFill/>
          <a:ln/>
        </p:spPr>
        <p:txBody>
          <a:bodyPr wrap="square" rtlCol="0" anchor="t"/>
          <a:lstStyle/>
          <a:p>
            <a:pPr marL="0" indent="0">
              <a:buNone/>
            </a:pPr>
            <a:r>
              <a:rPr lang="en-US" sz="1100" dirty="0">
                <a:solidFill>
                  <a:srgbClr val="5C7A75"/>
                </a:solidFill>
                <a:latin typeface="Calibri" pitchFamily="34" charset="0"/>
                <a:ea typeface="Calibri" pitchFamily="34" charset="-122"/>
                <a:cs typeface="Calibri" pitchFamily="34" charset="-120"/>
              </a:rPr>
              <a:t>status</a:t>
            </a:r>
            <a:endParaRPr lang="en-US" sz="1100" dirty="0"/>
          </a:p>
        </p:txBody>
      </p:sp>
      <p:sp>
        <p:nvSpPr>
          <p:cNvPr id="21" name="Shape 18"/>
          <p:cNvSpPr/>
          <p:nvPr/>
        </p:nvSpPr>
        <p:spPr>
          <a:xfrm>
            <a:off x="3465576" y="1691640"/>
            <a:ext cx="2697480" cy="4480560"/>
          </a:xfrm>
          <a:prstGeom prst="roundRect">
            <a:avLst>
              <a:gd name="adj" fmla="val 4068"/>
            </a:avLst>
          </a:prstGeom>
          <a:solidFill>
            <a:srgbClr val="FFFFFF"/>
          </a:solidFill>
          <a:ln/>
          <a:effectLst>
            <a:outerShdw blurRad="114300" dist="38100" dir="5400000" algn="bl" rotWithShape="0">
              <a:srgbClr val="1B4B45">
                <a:alpha val="18000"/>
              </a:srgbClr>
            </a:outerShdw>
          </a:effectLst>
        </p:spPr>
      </p:sp>
      <p:sp>
        <p:nvSpPr>
          <p:cNvPr id="22" name="Shape 19"/>
          <p:cNvSpPr/>
          <p:nvPr/>
        </p:nvSpPr>
        <p:spPr>
          <a:xfrm>
            <a:off x="3465576" y="1691640"/>
            <a:ext cx="2697480" cy="1051560"/>
          </a:xfrm>
          <a:prstGeom prst="roundRect">
            <a:avLst>
              <a:gd name="adj" fmla="val 10435"/>
            </a:avLst>
          </a:prstGeom>
          <a:solidFill>
            <a:srgbClr val="00A896"/>
          </a:solidFill>
          <a:ln/>
        </p:spPr>
      </p:sp>
      <p:sp>
        <p:nvSpPr>
          <p:cNvPr id="23" name="Shape 20"/>
          <p:cNvSpPr/>
          <p:nvPr/>
        </p:nvSpPr>
        <p:spPr>
          <a:xfrm>
            <a:off x="3465576" y="2194560"/>
            <a:ext cx="2697480" cy="548640"/>
          </a:xfrm>
          <a:prstGeom prst="rect">
            <a:avLst/>
          </a:prstGeom>
          <a:solidFill>
            <a:srgbClr val="00A896"/>
          </a:solidFill>
          <a:ln/>
        </p:spPr>
      </p:sp>
      <p:sp>
        <p:nvSpPr>
          <p:cNvPr id="24" name="Shape 21"/>
          <p:cNvSpPr/>
          <p:nvPr/>
        </p:nvSpPr>
        <p:spPr>
          <a:xfrm>
            <a:off x="4503420" y="1892808"/>
            <a:ext cx="621792" cy="621792"/>
          </a:xfrm>
          <a:prstGeom prst="ellipse">
            <a:avLst/>
          </a:prstGeom>
          <a:solidFill>
            <a:srgbClr val="FFFFFF"/>
          </a:solidFill>
          <a:ln/>
        </p:spPr>
      </p:sp>
      <p:pic>
        <p:nvPicPr>
          <p:cNvPr id="25" name="Image 1" descr="/home/claude/booking_ppt/icons/patient_dark.png"/>
          <p:cNvPicPr>
            <a:picLocks noChangeAspect="1"/>
          </p:cNvPicPr>
          <p:nvPr/>
        </p:nvPicPr>
        <p:blipFill>
          <a:blip r:embed="rId4"/>
          <a:stretch>
            <a:fillRect/>
          </a:stretch>
        </p:blipFill>
        <p:spPr>
          <a:xfrm>
            <a:off x="4584253" y="1973641"/>
            <a:ext cx="460126" cy="460126"/>
          </a:xfrm>
          <a:prstGeom prst="rect">
            <a:avLst/>
          </a:prstGeom>
        </p:spPr>
      </p:pic>
      <p:sp>
        <p:nvSpPr>
          <p:cNvPr id="26" name="Text 22"/>
          <p:cNvSpPr/>
          <p:nvPr/>
        </p:nvSpPr>
        <p:spPr>
          <a:xfrm>
            <a:off x="3465576" y="2834640"/>
            <a:ext cx="2697480" cy="365760"/>
          </a:xfrm>
          <a:prstGeom prst="rect">
            <a:avLst/>
          </a:prstGeom>
          <a:noFill/>
          <a:ln/>
        </p:spPr>
        <p:txBody>
          <a:bodyPr wrap="square" rtlCol="0" anchor="ctr"/>
          <a:lstStyle/>
          <a:p>
            <a:pPr marL="0" indent="0" algn="ctr">
              <a:buNone/>
            </a:pPr>
            <a:r>
              <a:rPr lang="en-US" sz="1500" b="1" dirty="0">
                <a:solidFill>
                  <a:srgbClr val="0F2E2A"/>
                </a:solidFill>
                <a:latin typeface="Calibri" pitchFamily="34" charset="0"/>
                <a:ea typeface="Calibri" pitchFamily="34" charset="-122"/>
                <a:cs typeface="Calibri" pitchFamily="34" charset="-120"/>
              </a:rPr>
              <a:t>Patient</a:t>
            </a:r>
            <a:endParaRPr lang="en-US" sz="1500" dirty="0"/>
          </a:p>
        </p:txBody>
      </p:sp>
      <p:sp>
        <p:nvSpPr>
          <p:cNvPr id="27" name="Shape 23"/>
          <p:cNvSpPr/>
          <p:nvPr/>
        </p:nvSpPr>
        <p:spPr>
          <a:xfrm>
            <a:off x="3721608" y="3419856"/>
            <a:ext cx="82296" cy="82296"/>
          </a:xfrm>
          <a:prstGeom prst="ellipse">
            <a:avLst/>
          </a:prstGeom>
          <a:solidFill>
            <a:srgbClr val="00A896"/>
          </a:solidFill>
          <a:ln/>
        </p:spPr>
      </p:sp>
      <p:sp>
        <p:nvSpPr>
          <p:cNvPr id="28" name="Text 24"/>
          <p:cNvSpPr/>
          <p:nvPr/>
        </p:nvSpPr>
        <p:spPr>
          <a:xfrm>
            <a:off x="3904488" y="3264408"/>
            <a:ext cx="2057400" cy="411480"/>
          </a:xfrm>
          <a:prstGeom prst="rect">
            <a:avLst/>
          </a:prstGeom>
          <a:noFill/>
          <a:ln/>
        </p:spPr>
        <p:txBody>
          <a:bodyPr wrap="square" rtlCol="0" anchor="t"/>
          <a:lstStyle/>
          <a:p>
            <a:pPr marL="0" indent="0">
              <a:buNone/>
            </a:pPr>
            <a:r>
              <a:rPr lang="en-US" sz="1100" dirty="0">
                <a:solidFill>
                  <a:srgbClr val="5C7A75"/>
                </a:solidFill>
                <a:latin typeface="Calibri" pitchFamily="34" charset="0"/>
                <a:ea typeface="Calibri" pitchFamily="34" charset="-122"/>
                <a:cs typeface="Calibri" pitchFamily="34" charset="-120"/>
              </a:rPr>
              <a:t>id</a:t>
            </a:r>
            <a:endParaRPr lang="en-US" sz="1100" dirty="0"/>
          </a:p>
        </p:txBody>
      </p:sp>
      <p:sp>
        <p:nvSpPr>
          <p:cNvPr id="29" name="Shape 25"/>
          <p:cNvSpPr/>
          <p:nvPr/>
        </p:nvSpPr>
        <p:spPr>
          <a:xfrm>
            <a:off x="3721608" y="3986784"/>
            <a:ext cx="82296" cy="82296"/>
          </a:xfrm>
          <a:prstGeom prst="ellipse">
            <a:avLst/>
          </a:prstGeom>
          <a:solidFill>
            <a:srgbClr val="00A896"/>
          </a:solidFill>
          <a:ln/>
        </p:spPr>
      </p:sp>
      <p:sp>
        <p:nvSpPr>
          <p:cNvPr id="30" name="Text 26"/>
          <p:cNvSpPr/>
          <p:nvPr/>
        </p:nvSpPr>
        <p:spPr>
          <a:xfrm>
            <a:off x="3904488" y="3831336"/>
            <a:ext cx="2057400" cy="411480"/>
          </a:xfrm>
          <a:prstGeom prst="rect">
            <a:avLst/>
          </a:prstGeom>
          <a:noFill/>
          <a:ln/>
        </p:spPr>
        <p:txBody>
          <a:bodyPr wrap="square" rtlCol="0" anchor="t"/>
          <a:lstStyle/>
          <a:p>
            <a:pPr marL="0" indent="0">
              <a:buNone/>
            </a:pPr>
            <a:r>
              <a:rPr lang="en-US" sz="1100" dirty="0">
                <a:solidFill>
                  <a:srgbClr val="5C7A75"/>
                </a:solidFill>
                <a:latin typeface="Calibri" pitchFamily="34" charset="0"/>
                <a:ea typeface="Calibri" pitchFamily="34" charset="-122"/>
                <a:cs typeface="Calibri" pitchFamily="34" charset="-120"/>
              </a:rPr>
              <a:t>name</a:t>
            </a:r>
            <a:endParaRPr lang="en-US" sz="1100" dirty="0"/>
          </a:p>
        </p:txBody>
      </p:sp>
      <p:sp>
        <p:nvSpPr>
          <p:cNvPr id="31" name="Shape 27"/>
          <p:cNvSpPr/>
          <p:nvPr/>
        </p:nvSpPr>
        <p:spPr>
          <a:xfrm>
            <a:off x="3721608" y="4553712"/>
            <a:ext cx="82296" cy="82296"/>
          </a:xfrm>
          <a:prstGeom prst="ellipse">
            <a:avLst/>
          </a:prstGeom>
          <a:solidFill>
            <a:srgbClr val="00A896"/>
          </a:solidFill>
          <a:ln/>
        </p:spPr>
      </p:sp>
      <p:sp>
        <p:nvSpPr>
          <p:cNvPr id="32" name="Text 28"/>
          <p:cNvSpPr/>
          <p:nvPr/>
        </p:nvSpPr>
        <p:spPr>
          <a:xfrm>
            <a:off x="3904488" y="4398264"/>
            <a:ext cx="2057400" cy="411480"/>
          </a:xfrm>
          <a:prstGeom prst="rect">
            <a:avLst/>
          </a:prstGeom>
          <a:noFill/>
          <a:ln/>
        </p:spPr>
        <p:txBody>
          <a:bodyPr wrap="square" rtlCol="0" anchor="t"/>
          <a:lstStyle/>
          <a:p>
            <a:pPr marL="0" indent="0">
              <a:buNone/>
            </a:pPr>
            <a:r>
              <a:rPr lang="en-US" sz="1100" dirty="0">
                <a:solidFill>
                  <a:srgbClr val="5C7A75"/>
                </a:solidFill>
                <a:latin typeface="Calibri" pitchFamily="34" charset="0"/>
                <a:ea typeface="Calibri" pitchFamily="34" charset="-122"/>
                <a:cs typeface="Calibri" pitchFamily="34" charset="-120"/>
              </a:rPr>
              <a:t>phone</a:t>
            </a:r>
            <a:endParaRPr lang="en-US" sz="1100" dirty="0"/>
          </a:p>
        </p:txBody>
      </p:sp>
      <p:sp>
        <p:nvSpPr>
          <p:cNvPr id="33" name="Shape 29"/>
          <p:cNvSpPr/>
          <p:nvPr/>
        </p:nvSpPr>
        <p:spPr>
          <a:xfrm>
            <a:off x="3721608" y="5120640"/>
            <a:ext cx="82296" cy="82296"/>
          </a:xfrm>
          <a:prstGeom prst="ellipse">
            <a:avLst/>
          </a:prstGeom>
          <a:solidFill>
            <a:srgbClr val="00A896"/>
          </a:solidFill>
          <a:ln/>
        </p:spPr>
      </p:sp>
      <p:sp>
        <p:nvSpPr>
          <p:cNvPr id="34" name="Text 30"/>
          <p:cNvSpPr/>
          <p:nvPr/>
        </p:nvSpPr>
        <p:spPr>
          <a:xfrm>
            <a:off x="3904488" y="4965192"/>
            <a:ext cx="2057400" cy="411480"/>
          </a:xfrm>
          <a:prstGeom prst="rect">
            <a:avLst/>
          </a:prstGeom>
          <a:noFill/>
          <a:ln/>
        </p:spPr>
        <p:txBody>
          <a:bodyPr wrap="square" rtlCol="0" anchor="t"/>
          <a:lstStyle/>
          <a:p>
            <a:pPr marL="0" indent="0">
              <a:buNone/>
            </a:pPr>
            <a:r>
              <a:rPr lang="en-US" sz="1100" dirty="0">
                <a:solidFill>
                  <a:srgbClr val="5C7A75"/>
                </a:solidFill>
                <a:latin typeface="Calibri" pitchFamily="34" charset="0"/>
                <a:ea typeface="Calibri" pitchFamily="34" charset="-122"/>
                <a:cs typeface="Calibri" pitchFamily="34" charset="-120"/>
              </a:rPr>
              <a:t>age</a:t>
            </a:r>
            <a:endParaRPr lang="en-US" sz="1100" dirty="0"/>
          </a:p>
        </p:txBody>
      </p:sp>
      <p:sp>
        <p:nvSpPr>
          <p:cNvPr id="35" name="Shape 31"/>
          <p:cNvSpPr/>
          <p:nvPr/>
        </p:nvSpPr>
        <p:spPr>
          <a:xfrm>
            <a:off x="3721608" y="5687568"/>
            <a:ext cx="82296" cy="82296"/>
          </a:xfrm>
          <a:prstGeom prst="ellipse">
            <a:avLst/>
          </a:prstGeom>
          <a:solidFill>
            <a:srgbClr val="00A896"/>
          </a:solidFill>
          <a:ln/>
        </p:spPr>
      </p:sp>
      <p:sp>
        <p:nvSpPr>
          <p:cNvPr id="36" name="Text 32"/>
          <p:cNvSpPr/>
          <p:nvPr/>
        </p:nvSpPr>
        <p:spPr>
          <a:xfrm>
            <a:off x="3904488" y="5532120"/>
            <a:ext cx="2057400" cy="411480"/>
          </a:xfrm>
          <a:prstGeom prst="rect">
            <a:avLst/>
          </a:prstGeom>
          <a:noFill/>
          <a:ln/>
        </p:spPr>
        <p:txBody>
          <a:bodyPr wrap="square" rtlCol="0" anchor="t"/>
          <a:lstStyle/>
          <a:p>
            <a:pPr marL="0" indent="0">
              <a:buNone/>
            </a:pPr>
            <a:r>
              <a:rPr lang="en-US" sz="1100" dirty="0">
                <a:solidFill>
                  <a:srgbClr val="5C7A75"/>
                </a:solidFill>
                <a:latin typeface="Calibri" pitchFamily="34" charset="0"/>
                <a:ea typeface="Calibri" pitchFamily="34" charset="-122"/>
                <a:cs typeface="Calibri" pitchFamily="34" charset="-120"/>
              </a:rPr>
              <a:t>gender (optional)</a:t>
            </a:r>
            <a:endParaRPr lang="en-US" sz="1100" dirty="0"/>
          </a:p>
        </p:txBody>
      </p:sp>
      <p:sp>
        <p:nvSpPr>
          <p:cNvPr id="37" name="Shape 33"/>
          <p:cNvSpPr/>
          <p:nvPr/>
        </p:nvSpPr>
        <p:spPr>
          <a:xfrm>
            <a:off x="6382512" y="1691640"/>
            <a:ext cx="2697480" cy="4480560"/>
          </a:xfrm>
          <a:prstGeom prst="roundRect">
            <a:avLst>
              <a:gd name="adj" fmla="val 4068"/>
            </a:avLst>
          </a:prstGeom>
          <a:solidFill>
            <a:srgbClr val="FFFFFF"/>
          </a:solidFill>
          <a:ln/>
          <a:effectLst>
            <a:outerShdw blurRad="114300" dist="38100" dir="5400000" algn="bl" rotWithShape="0">
              <a:srgbClr val="1B4B45">
                <a:alpha val="18000"/>
              </a:srgbClr>
            </a:outerShdw>
          </a:effectLst>
        </p:spPr>
      </p:sp>
      <p:sp>
        <p:nvSpPr>
          <p:cNvPr id="38" name="Shape 34"/>
          <p:cNvSpPr/>
          <p:nvPr/>
        </p:nvSpPr>
        <p:spPr>
          <a:xfrm>
            <a:off x="6382512" y="1691640"/>
            <a:ext cx="2697480" cy="1051560"/>
          </a:xfrm>
          <a:prstGeom prst="roundRect">
            <a:avLst>
              <a:gd name="adj" fmla="val 10435"/>
            </a:avLst>
          </a:prstGeom>
          <a:solidFill>
            <a:srgbClr val="02C39A"/>
          </a:solidFill>
          <a:ln/>
        </p:spPr>
      </p:sp>
      <p:sp>
        <p:nvSpPr>
          <p:cNvPr id="39" name="Shape 35"/>
          <p:cNvSpPr/>
          <p:nvPr/>
        </p:nvSpPr>
        <p:spPr>
          <a:xfrm>
            <a:off x="6382512" y="2194560"/>
            <a:ext cx="2697480" cy="548640"/>
          </a:xfrm>
          <a:prstGeom prst="rect">
            <a:avLst/>
          </a:prstGeom>
          <a:solidFill>
            <a:srgbClr val="02C39A"/>
          </a:solidFill>
          <a:ln/>
        </p:spPr>
      </p:sp>
      <p:sp>
        <p:nvSpPr>
          <p:cNvPr id="40" name="Shape 36"/>
          <p:cNvSpPr/>
          <p:nvPr/>
        </p:nvSpPr>
        <p:spPr>
          <a:xfrm>
            <a:off x="7420356" y="1892808"/>
            <a:ext cx="621792" cy="621792"/>
          </a:xfrm>
          <a:prstGeom prst="ellipse">
            <a:avLst/>
          </a:prstGeom>
          <a:solidFill>
            <a:srgbClr val="FFFFFF"/>
          </a:solidFill>
          <a:ln/>
        </p:spPr>
      </p:sp>
      <p:pic>
        <p:nvPicPr>
          <p:cNvPr id="41" name="Image 2" descr="/home/claude/booking_ppt/icons/calendar_dark.png"/>
          <p:cNvPicPr>
            <a:picLocks noChangeAspect="1"/>
          </p:cNvPicPr>
          <p:nvPr/>
        </p:nvPicPr>
        <p:blipFill>
          <a:blip r:embed="rId5"/>
          <a:stretch>
            <a:fillRect/>
          </a:stretch>
        </p:blipFill>
        <p:spPr>
          <a:xfrm>
            <a:off x="7501189" y="1973641"/>
            <a:ext cx="460126" cy="460126"/>
          </a:xfrm>
          <a:prstGeom prst="rect">
            <a:avLst/>
          </a:prstGeom>
        </p:spPr>
      </p:pic>
      <p:sp>
        <p:nvSpPr>
          <p:cNvPr id="42" name="Text 37"/>
          <p:cNvSpPr/>
          <p:nvPr/>
        </p:nvSpPr>
        <p:spPr>
          <a:xfrm>
            <a:off x="6382512" y="2834640"/>
            <a:ext cx="2697480" cy="365760"/>
          </a:xfrm>
          <a:prstGeom prst="rect">
            <a:avLst/>
          </a:prstGeom>
          <a:noFill/>
          <a:ln/>
        </p:spPr>
        <p:txBody>
          <a:bodyPr wrap="square" rtlCol="0" anchor="ctr"/>
          <a:lstStyle/>
          <a:p>
            <a:pPr marL="0" indent="0" algn="ctr">
              <a:buNone/>
            </a:pPr>
            <a:r>
              <a:rPr lang="en-US" sz="1500" b="1" dirty="0">
                <a:solidFill>
                  <a:srgbClr val="0F2E2A"/>
                </a:solidFill>
                <a:latin typeface="Calibri" pitchFamily="34" charset="0"/>
                <a:ea typeface="Calibri" pitchFamily="34" charset="-122"/>
                <a:cs typeface="Calibri" pitchFamily="34" charset="-120"/>
              </a:rPr>
              <a:t>Schedule</a:t>
            </a:r>
            <a:endParaRPr lang="en-US" sz="1500" dirty="0"/>
          </a:p>
        </p:txBody>
      </p:sp>
      <p:sp>
        <p:nvSpPr>
          <p:cNvPr id="43" name="Shape 38"/>
          <p:cNvSpPr/>
          <p:nvPr/>
        </p:nvSpPr>
        <p:spPr>
          <a:xfrm>
            <a:off x="6638544" y="3419856"/>
            <a:ext cx="82296" cy="82296"/>
          </a:xfrm>
          <a:prstGeom prst="ellipse">
            <a:avLst/>
          </a:prstGeom>
          <a:solidFill>
            <a:srgbClr val="02C39A"/>
          </a:solidFill>
          <a:ln/>
        </p:spPr>
      </p:sp>
      <p:sp>
        <p:nvSpPr>
          <p:cNvPr id="44" name="Text 39"/>
          <p:cNvSpPr/>
          <p:nvPr/>
        </p:nvSpPr>
        <p:spPr>
          <a:xfrm>
            <a:off x="6821424" y="3264408"/>
            <a:ext cx="2057400" cy="411480"/>
          </a:xfrm>
          <a:prstGeom prst="rect">
            <a:avLst/>
          </a:prstGeom>
          <a:noFill/>
          <a:ln/>
        </p:spPr>
        <p:txBody>
          <a:bodyPr wrap="square" rtlCol="0" anchor="t"/>
          <a:lstStyle/>
          <a:p>
            <a:pPr marL="0" indent="0">
              <a:buNone/>
            </a:pPr>
            <a:r>
              <a:rPr lang="en-US" sz="1100" dirty="0">
                <a:solidFill>
                  <a:srgbClr val="5C7A75"/>
                </a:solidFill>
                <a:latin typeface="Calibri" pitchFamily="34" charset="0"/>
                <a:ea typeface="Calibri" pitchFamily="34" charset="-122"/>
                <a:cs typeface="Calibri" pitchFamily="34" charset="-120"/>
              </a:rPr>
              <a:t>doctor_id</a:t>
            </a:r>
            <a:endParaRPr lang="en-US" sz="1100" dirty="0"/>
          </a:p>
        </p:txBody>
      </p:sp>
      <p:sp>
        <p:nvSpPr>
          <p:cNvPr id="45" name="Shape 40"/>
          <p:cNvSpPr/>
          <p:nvPr/>
        </p:nvSpPr>
        <p:spPr>
          <a:xfrm>
            <a:off x="6638544" y="3986784"/>
            <a:ext cx="82296" cy="82296"/>
          </a:xfrm>
          <a:prstGeom prst="ellipse">
            <a:avLst/>
          </a:prstGeom>
          <a:solidFill>
            <a:srgbClr val="02C39A"/>
          </a:solidFill>
          <a:ln/>
        </p:spPr>
      </p:sp>
      <p:sp>
        <p:nvSpPr>
          <p:cNvPr id="46" name="Text 41"/>
          <p:cNvSpPr/>
          <p:nvPr/>
        </p:nvSpPr>
        <p:spPr>
          <a:xfrm>
            <a:off x="6821424" y="3831336"/>
            <a:ext cx="2057400" cy="411480"/>
          </a:xfrm>
          <a:prstGeom prst="rect">
            <a:avLst/>
          </a:prstGeom>
          <a:noFill/>
          <a:ln/>
        </p:spPr>
        <p:txBody>
          <a:bodyPr wrap="square" rtlCol="0" anchor="t"/>
          <a:lstStyle/>
          <a:p>
            <a:pPr marL="0" indent="0">
              <a:buNone/>
            </a:pPr>
            <a:r>
              <a:rPr lang="en-US" sz="1100" dirty="0">
                <a:solidFill>
                  <a:srgbClr val="5C7A75"/>
                </a:solidFill>
                <a:latin typeface="Calibri" pitchFamily="34" charset="0"/>
                <a:ea typeface="Calibri" pitchFamily="34" charset="-122"/>
                <a:cs typeface="Calibri" pitchFamily="34" charset="-120"/>
              </a:rPr>
              <a:t>working_day</a:t>
            </a:r>
            <a:endParaRPr lang="en-US" sz="1100" dirty="0"/>
          </a:p>
        </p:txBody>
      </p:sp>
      <p:sp>
        <p:nvSpPr>
          <p:cNvPr id="47" name="Shape 42"/>
          <p:cNvSpPr/>
          <p:nvPr/>
        </p:nvSpPr>
        <p:spPr>
          <a:xfrm>
            <a:off x="6638544" y="4553712"/>
            <a:ext cx="82296" cy="82296"/>
          </a:xfrm>
          <a:prstGeom prst="ellipse">
            <a:avLst/>
          </a:prstGeom>
          <a:solidFill>
            <a:srgbClr val="02C39A"/>
          </a:solidFill>
          <a:ln/>
        </p:spPr>
      </p:sp>
      <p:sp>
        <p:nvSpPr>
          <p:cNvPr id="48" name="Text 43"/>
          <p:cNvSpPr/>
          <p:nvPr/>
        </p:nvSpPr>
        <p:spPr>
          <a:xfrm>
            <a:off x="6821424" y="4398264"/>
            <a:ext cx="2057400" cy="411480"/>
          </a:xfrm>
          <a:prstGeom prst="rect">
            <a:avLst/>
          </a:prstGeom>
          <a:noFill/>
          <a:ln/>
        </p:spPr>
        <p:txBody>
          <a:bodyPr wrap="square" rtlCol="0" anchor="t"/>
          <a:lstStyle/>
          <a:p>
            <a:pPr marL="0" indent="0">
              <a:buNone/>
            </a:pPr>
            <a:r>
              <a:rPr lang="en-US" sz="1100" dirty="0">
                <a:solidFill>
                  <a:srgbClr val="5C7A75"/>
                </a:solidFill>
                <a:latin typeface="Calibri" pitchFamily="34" charset="0"/>
                <a:ea typeface="Calibri" pitchFamily="34" charset="-122"/>
                <a:cs typeface="Calibri" pitchFamily="34" charset="-120"/>
              </a:rPr>
              <a:t>open / close time</a:t>
            </a:r>
            <a:endParaRPr lang="en-US" sz="1100" dirty="0"/>
          </a:p>
        </p:txBody>
      </p:sp>
      <p:sp>
        <p:nvSpPr>
          <p:cNvPr id="49" name="Shape 44"/>
          <p:cNvSpPr/>
          <p:nvPr/>
        </p:nvSpPr>
        <p:spPr>
          <a:xfrm>
            <a:off x="6638544" y="5120640"/>
            <a:ext cx="82296" cy="82296"/>
          </a:xfrm>
          <a:prstGeom prst="ellipse">
            <a:avLst/>
          </a:prstGeom>
          <a:solidFill>
            <a:srgbClr val="02C39A"/>
          </a:solidFill>
          <a:ln/>
        </p:spPr>
      </p:sp>
      <p:sp>
        <p:nvSpPr>
          <p:cNvPr id="50" name="Text 45"/>
          <p:cNvSpPr/>
          <p:nvPr/>
        </p:nvSpPr>
        <p:spPr>
          <a:xfrm>
            <a:off x="6821424" y="4965192"/>
            <a:ext cx="2057400" cy="411480"/>
          </a:xfrm>
          <a:prstGeom prst="rect">
            <a:avLst/>
          </a:prstGeom>
          <a:noFill/>
          <a:ln/>
        </p:spPr>
        <p:txBody>
          <a:bodyPr wrap="square" rtlCol="0" anchor="t"/>
          <a:lstStyle/>
          <a:p>
            <a:pPr marL="0" indent="0">
              <a:buNone/>
            </a:pPr>
            <a:r>
              <a:rPr lang="en-US" sz="1100" dirty="0">
                <a:solidFill>
                  <a:srgbClr val="5C7A75"/>
                </a:solidFill>
                <a:latin typeface="Calibri" pitchFamily="34" charset="0"/>
                <a:ea typeface="Calibri" pitchFamily="34" charset="-122"/>
                <a:cs typeface="Calibri" pitchFamily="34" charset="-120"/>
              </a:rPr>
              <a:t>slot_duration</a:t>
            </a:r>
            <a:endParaRPr lang="en-US" sz="1100" dirty="0"/>
          </a:p>
        </p:txBody>
      </p:sp>
      <p:sp>
        <p:nvSpPr>
          <p:cNvPr id="51" name="Shape 46"/>
          <p:cNvSpPr/>
          <p:nvPr/>
        </p:nvSpPr>
        <p:spPr>
          <a:xfrm>
            <a:off x="9299448" y="1691640"/>
            <a:ext cx="2697480" cy="4480560"/>
          </a:xfrm>
          <a:prstGeom prst="roundRect">
            <a:avLst>
              <a:gd name="adj" fmla="val 4068"/>
            </a:avLst>
          </a:prstGeom>
          <a:solidFill>
            <a:srgbClr val="FFFFFF"/>
          </a:solidFill>
          <a:ln/>
          <a:effectLst>
            <a:outerShdw blurRad="114300" dist="38100" dir="5400000" algn="bl" rotWithShape="0">
              <a:srgbClr val="1B4B45">
                <a:alpha val="18000"/>
              </a:srgbClr>
            </a:outerShdw>
          </a:effectLst>
        </p:spPr>
      </p:sp>
      <p:sp>
        <p:nvSpPr>
          <p:cNvPr id="52" name="Shape 47"/>
          <p:cNvSpPr/>
          <p:nvPr/>
        </p:nvSpPr>
        <p:spPr>
          <a:xfrm>
            <a:off x="9299448" y="1691640"/>
            <a:ext cx="2697480" cy="1051560"/>
          </a:xfrm>
          <a:prstGeom prst="roundRect">
            <a:avLst>
              <a:gd name="adj" fmla="val 10435"/>
            </a:avLst>
          </a:prstGeom>
          <a:solidFill>
            <a:srgbClr val="0E6E64"/>
          </a:solidFill>
          <a:ln/>
        </p:spPr>
      </p:sp>
      <p:sp>
        <p:nvSpPr>
          <p:cNvPr id="53" name="Shape 48"/>
          <p:cNvSpPr/>
          <p:nvPr/>
        </p:nvSpPr>
        <p:spPr>
          <a:xfrm>
            <a:off x="9299448" y="2194560"/>
            <a:ext cx="2697480" cy="548640"/>
          </a:xfrm>
          <a:prstGeom prst="rect">
            <a:avLst/>
          </a:prstGeom>
          <a:solidFill>
            <a:srgbClr val="0E6E64"/>
          </a:solidFill>
          <a:ln/>
        </p:spPr>
      </p:sp>
      <p:sp>
        <p:nvSpPr>
          <p:cNvPr id="54" name="Shape 49"/>
          <p:cNvSpPr/>
          <p:nvPr/>
        </p:nvSpPr>
        <p:spPr>
          <a:xfrm>
            <a:off x="10337292" y="1892808"/>
            <a:ext cx="621792" cy="621792"/>
          </a:xfrm>
          <a:prstGeom prst="ellipse">
            <a:avLst/>
          </a:prstGeom>
          <a:solidFill>
            <a:srgbClr val="FFFFFF"/>
          </a:solidFill>
          <a:ln/>
        </p:spPr>
      </p:sp>
      <p:pic>
        <p:nvPicPr>
          <p:cNvPr id="55" name="Image 3" descr="/home/claude/booking_ppt/icons/clock_white.png"/>
          <p:cNvPicPr>
            <a:picLocks noChangeAspect="1"/>
          </p:cNvPicPr>
          <p:nvPr/>
        </p:nvPicPr>
        <p:blipFill>
          <a:blip r:embed="rId6"/>
          <a:stretch>
            <a:fillRect/>
          </a:stretch>
        </p:blipFill>
        <p:spPr>
          <a:xfrm>
            <a:off x="10418125" y="1973641"/>
            <a:ext cx="460126" cy="460126"/>
          </a:xfrm>
          <a:prstGeom prst="rect">
            <a:avLst/>
          </a:prstGeom>
        </p:spPr>
      </p:pic>
      <p:sp>
        <p:nvSpPr>
          <p:cNvPr id="56" name="Text 50"/>
          <p:cNvSpPr/>
          <p:nvPr/>
        </p:nvSpPr>
        <p:spPr>
          <a:xfrm>
            <a:off x="9299448" y="2834640"/>
            <a:ext cx="2697480" cy="365760"/>
          </a:xfrm>
          <a:prstGeom prst="rect">
            <a:avLst/>
          </a:prstGeom>
          <a:noFill/>
          <a:ln/>
        </p:spPr>
        <p:txBody>
          <a:bodyPr wrap="square" rtlCol="0" anchor="ctr"/>
          <a:lstStyle/>
          <a:p>
            <a:pPr marL="0" indent="0" algn="ctr">
              <a:buNone/>
            </a:pPr>
            <a:r>
              <a:rPr lang="en-US" sz="1500" b="1" dirty="0">
                <a:solidFill>
                  <a:srgbClr val="0F2E2A"/>
                </a:solidFill>
                <a:latin typeface="Calibri" pitchFamily="34" charset="0"/>
                <a:ea typeface="Calibri" pitchFamily="34" charset="-122"/>
                <a:cs typeface="Calibri" pitchFamily="34" charset="-120"/>
              </a:rPr>
              <a:t>Appointment</a:t>
            </a:r>
            <a:endParaRPr lang="en-US" sz="1500" dirty="0"/>
          </a:p>
        </p:txBody>
      </p:sp>
      <p:sp>
        <p:nvSpPr>
          <p:cNvPr id="57" name="Shape 51"/>
          <p:cNvSpPr/>
          <p:nvPr/>
        </p:nvSpPr>
        <p:spPr>
          <a:xfrm>
            <a:off x="9555480" y="3419856"/>
            <a:ext cx="82296" cy="82296"/>
          </a:xfrm>
          <a:prstGeom prst="ellipse">
            <a:avLst/>
          </a:prstGeom>
          <a:solidFill>
            <a:srgbClr val="0E6E64"/>
          </a:solidFill>
          <a:ln/>
        </p:spPr>
      </p:sp>
      <p:sp>
        <p:nvSpPr>
          <p:cNvPr id="58" name="Text 52"/>
          <p:cNvSpPr/>
          <p:nvPr/>
        </p:nvSpPr>
        <p:spPr>
          <a:xfrm>
            <a:off x="9738360" y="3264408"/>
            <a:ext cx="2057400" cy="411480"/>
          </a:xfrm>
          <a:prstGeom prst="rect">
            <a:avLst/>
          </a:prstGeom>
          <a:noFill/>
          <a:ln/>
        </p:spPr>
        <p:txBody>
          <a:bodyPr wrap="square" rtlCol="0" anchor="t"/>
          <a:lstStyle/>
          <a:p>
            <a:pPr marL="0" indent="0">
              <a:buNone/>
            </a:pPr>
            <a:r>
              <a:rPr lang="en-US" sz="1100" dirty="0">
                <a:solidFill>
                  <a:srgbClr val="5C7A75"/>
                </a:solidFill>
                <a:latin typeface="Calibri" pitchFamily="34" charset="0"/>
                <a:ea typeface="Calibri" pitchFamily="34" charset="-122"/>
                <a:cs typeface="Calibri" pitchFamily="34" charset="-120"/>
              </a:rPr>
              <a:t>id</a:t>
            </a:r>
            <a:endParaRPr lang="en-US" sz="1100" dirty="0"/>
          </a:p>
        </p:txBody>
      </p:sp>
      <p:sp>
        <p:nvSpPr>
          <p:cNvPr id="59" name="Shape 53"/>
          <p:cNvSpPr/>
          <p:nvPr/>
        </p:nvSpPr>
        <p:spPr>
          <a:xfrm>
            <a:off x="9555480" y="3986784"/>
            <a:ext cx="82296" cy="82296"/>
          </a:xfrm>
          <a:prstGeom prst="ellipse">
            <a:avLst/>
          </a:prstGeom>
          <a:solidFill>
            <a:srgbClr val="0E6E64"/>
          </a:solidFill>
          <a:ln/>
        </p:spPr>
      </p:sp>
      <p:sp>
        <p:nvSpPr>
          <p:cNvPr id="60" name="Text 54"/>
          <p:cNvSpPr/>
          <p:nvPr/>
        </p:nvSpPr>
        <p:spPr>
          <a:xfrm>
            <a:off x="9738360" y="3831336"/>
            <a:ext cx="2057400" cy="411480"/>
          </a:xfrm>
          <a:prstGeom prst="rect">
            <a:avLst/>
          </a:prstGeom>
          <a:noFill/>
          <a:ln/>
        </p:spPr>
        <p:txBody>
          <a:bodyPr wrap="square" rtlCol="0" anchor="t"/>
          <a:lstStyle/>
          <a:p>
            <a:pPr marL="0" indent="0">
              <a:buNone/>
            </a:pPr>
            <a:r>
              <a:rPr lang="en-US" sz="1100" dirty="0">
                <a:solidFill>
                  <a:srgbClr val="5C7A75"/>
                </a:solidFill>
                <a:latin typeface="Calibri" pitchFamily="34" charset="0"/>
                <a:ea typeface="Calibri" pitchFamily="34" charset="-122"/>
                <a:cs typeface="Calibri" pitchFamily="34" charset="-120"/>
              </a:rPr>
              <a:t>patient_id</a:t>
            </a:r>
            <a:endParaRPr lang="en-US" sz="1100" dirty="0"/>
          </a:p>
        </p:txBody>
      </p:sp>
      <p:sp>
        <p:nvSpPr>
          <p:cNvPr id="61" name="Shape 55"/>
          <p:cNvSpPr/>
          <p:nvPr/>
        </p:nvSpPr>
        <p:spPr>
          <a:xfrm>
            <a:off x="9555480" y="4553712"/>
            <a:ext cx="82296" cy="82296"/>
          </a:xfrm>
          <a:prstGeom prst="ellipse">
            <a:avLst/>
          </a:prstGeom>
          <a:solidFill>
            <a:srgbClr val="0E6E64"/>
          </a:solidFill>
          <a:ln/>
        </p:spPr>
      </p:sp>
      <p:sp>
        <p:nvSpPr>
          <p:cNvPr id="62" name="Text 56"/>
          <p:cNvSpPr/>
          <p:nvPr/>
        </p:nvSpPr>
        <p:spPr>
          <a:xfrm>
            <a:off x="9738360" y="4398264"/>
            <a:ext cx="2057400" cy="411480"/>
          </a:xfrm>
          <a:prstGeom prst="rect">
            <a:avLst/>
          </a:prstGeom>
          <a:noFill/>
          <a:ln/>
        </p:spPr>
        <p:txBody>
          <a:bodyPr wrap="square" rtlCol="0" anchor="t"/>
          <a:lstStyle/>
          <a:p>
            <a:pPr marL="0" indent="0">
              <a:buNone/>
            </a:pPr>
            <a:r>
              <a:rPr lang="en-US" sz="1100" dirty="0">
                <a:solidFill>
                  <a:srgbClr val="5C7A75"/>
                </a:solidFill>
                <a:latin typeface="Calibri" pitchFamily="34" charset="0"/>
                <a:ea typeface="Calibri" pitchFamily="34" charset="-122"/>
                <a:cs typeface="Calibri" pitchFamily="34" charset="-120"/>
              </a:rPr>
              <a:t>doctor_id</a:t>
            </a:r>
            <a:endParaRPr lang="en-US" sz="1100" dirty="0"/>
          </a:p>
        </p:txBody>
      </p:sp>
      <p:sp>
        <p:nvSpPr>
          <p:cNvPr id="63" name="Shape 57"/>
          <p:cNvSpPr/>
          <p:nvPr/>
        </p:nvSpPr>
        <p:spPr>
          <a:xfrm>
            <a:off x="9555480" y="5120640"/>
            <a:ext cx="82296" cy="82296"/>
          </a:xfrm>
          <a:prstGeom prst="ellipse">
            <a:avLst/>
          </a:prstGeom>
          <a:solidFill>
            <a:srgbClr val="0E6E64"/>
          </a:solidFill>
          <a:ln/>
        </p:spPr>
      </p:sp>
      <p:sp>
        <p:nvSpPr>
          <p:cNvPr id="64" name="Text 58"/>
          <p:cNvSpPr/>
          <p:nvPr/>
        </p:nvSpPr>
        <p:spPr>
          <a:xfrm>
            <a:off x="9738360" y="4965192"/>
            <a:ext cx="2057400" cy="411480"/>
          </a:xfrm>
          <a:prstGeom prst="rect">
            <a:avLst/>
          </a:prstGeom>
          <a:noFill/>
          <a:ln/>
        </p:spPr>
        <p:txBody>
          <a:bodyPr wrap="square" rtlCol="0" anchor="t"/>
          <a:lstStyle/>
          <a:p>
            <a:pPr marL="0" indent="0">
              <a:buNone/>
            </a:pPr>
            <a:r>
              <a:rPr lang="en-US" sz="1100" dirty="0">
                <a:solidFill>
                  <a:srgbClr val="5C7A75"/>
                </a:solidFill>
                <a:latin typeface="Calibri" pitchFamily="34" charset="0"/>
                <a:ea typeface="Calibri" pitchFamily="34" charset="-122"/>
                <a:cs typeface="Calibri" pitchFamily="34" charset="-120"/>
              </a:rPr>
              <a:t>date, time, status</a:t>
            </a:r>
            <a:endParaRPr lang="en-US" sz="1100" dirty="0"/>
          </a:p>
        </p:txBody>
      </p:sp>
      <p:sp>
        <p:nvSpPr>
          <p:cNvPr id="65" name="Text 59"/>
          <p:cNvSpPr/>
          <p:nvPr/>
        </p:nvSpPr>
        <p:spPr>
          <a:xfrm>
            <a:off x="457200" y="6519672"/>
            <a:ext cx="7315200" cy="274320"/>
          </a:xfrm>
          <a:prstGeom prst="rect">
            <a:avLst/>
          </a:prstGeom>
          <a:noFill/>
          <a:ln/>
        </p:spPr>
        <p:txBody>
          <a:bodyPr wrap="square" rtlCol="0" anchor="ctr"/>
          <a:lstStyle/>
          <a:p>
            <a:pPr marL="0" indent="0">
              <a:buNone/>
            </a:pPr>
            <a:r>
              <a:rPr lang="en-US" sz="900" kern="0" spc="100" dirty="0">
                <a:solidFill>
                  <a:srgbClr val="5C7A75"/>
                </a:solidFill>
                <a:latin typeface="Calibri" pitchFamily="34" charset="0"/>
                <a:ea typeface="Calibri" pitchFamily="34" charset="-122"/>
                <a:cs typeface="Calibri" pitchFamily="34" charset="-120"/>
              </a:rPr>
              <a:t>DOCTOR APPOINTMENT BOOKING SYSTEM  ·  PROJECT PLANNING</a:t>
            </a:r>
            <a:endParaRPr lang="en-US" sz="900" dirty="0"/>
          </a:p>
        </p:txBody>
      </p:sp>
      <p:sp>
        <p:nvSpPr>
          <p:cNvPr id="66" name="Text 60"/>
          <p:cNvSpPr/>
          <p:nvPr/>
        </p:nvSpPr>
        <p:spPr>
          <a:xfrm>
            <a:off x="11338560" y="6519672"/>
            <a:ext cx="457200" cy="274320"/>
          </a:xfrm>
          <a:prstGeom prst="rect">
            <a:avLst/>
          </a:prstGeom>
          <a:noFill/>
          <a:ln/>
        </p:spPr>
        <p:txBody>
          <a:bodyPr wrap="square" rtlCol="0" anchor="ctr"/>
          <a:lstStyle/>
          <a:p>
            <a:pPr marL="0" indent="0" algn="r">
              <a:buNone/>
            </a:pPr>
            <a:r>
              <a:rPr lang="en-US" sz="900" dirty="0">
                <a:solidFill>
                  <a:srgbClr val="5C7A75"/>
                </a:solidFill>
                <a:latin typeface="Calibri" pitchFamily="34" charset="0"/>
                <a:ea typeface="Calibri" pitchFamily="34" charset="-122"/>
                <a:cs typeface="Calibri" pitchFamily="34" charset="-120"/>
              </a:rPr>
              <a:t>07</a:t>
            </a:r>
            <a:endParaRPr lang="en-US" sz="9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2E2B"/>
        </a:solidFill>
        <a:effectLst/>
      </p:bgPr>
    </p:bg>
    <p:spTree>
      <p:nvGrpSpPr>
        <p:cNvPr id="1" name=""/>
        <p:cNvGrpSpPr/>
        <p:nvPr/>
      </p:nvGrpSpPr>
      <p:grpSpPr>
        <a:xfrm>
          <a:off x="0" y="0"/>
          <a:ext cx="0" cy="0"/>
          <a:chOff x="0" y="0"/>
          <a:chExt cx="0" cy="0"/>
        </a:xfrm>
      </p:grpSpPr>
      <p:sp>
        <p:nvSpPr>
          <p:cNvPr id="2" name="Shape 0"/>
          <p:cNvSpPr/>
          <p:nvPr/>
        </p:nvSpPr>
        <p:spPr>
          <a:xfrm>
            <a:off x="685800" y="502920"/>
            <a:ext cx="5669280" cy="347472"/>
          </a:xfrm>
          <a:prstGeom prst="roundRect">
            <a:avLst>
              <a:gd name="adj" fmla="val 50000"/>
            </a:avLst>
          </a:prstGeom>
          <a:solidFill>
            <a:srgbClr val="12504A"/>
          </a:solidFill>
          <a:ln/>
        </p:spPr>
      </p:sp>
      <p:sp>
        <p:nvSpPr>
          <p:cNvPr id="3" name="Text 1"/>
          <p:cNvSpPr/>
          <p:nvPr/>
        </p:nvSpPr>
        <p:spPr>
          <a:xfrm>
            <a:off x="685800" y="502920"/>
            <a:ext cx="5669280" cy="347472"/>
          </a:xfrm>
          <a:prstGeom prst="rect">
            <a:avLst/>
          </a:prstGeom>
          <a:noFill/>
          <a:ln/>
        </p:spPr>
        <p:txBody>
          <a:bodyPr wrap="square" rtlCol="0" anchor="ctr"/>
          <a:lstStyle/>
          <a:p>
            <a:pPr marL="0" indent="0" algn="ctr">
              <a:buNone/>
            </a:pPr>
            <a:r>
              <a:rPr lang="en-US" sz="1150" b="1" kern="0" spc="200" dirty="0">
                <a:solidFill>
                  <a:srgbClr val="02C39A"/>
                </a:solidFill>
                <a:latin typeface="Calibri" pitchFamily="34" charset="0"/>
                <a:ea typeface="Calibri" pitchFamily="34" charset="-122"/>
                <a:cs typeface="Calibri" pitchFamily="34" charset="-120"/>
              </a:rPr>
              <a:t>WHAT THE JSON ACTUALLY LOOKS LIKE</a:t>
            </a:r>
            <a:endParaRPr lang="en-US" sz="1150" dirty="0"/>
          </a:p>
        </p:txBody>
      </p:sp>
      <p:sp>
        <p:nvSpPr>
          <p:cNvPr id="4" name="Text 2"/>
          <p:cNvSpPr/>
          <p:nvPr/>
        </p:nvSpPr>
        <p:spPr>
          <a:xfrm>
            <a:off x="548640" y="960120"/>
            <a:ext cx="10515600" cy="822960"/>
          </a:xfrm>
          <a:prstGeom prst="rect">
            <a:avLst/>
          </a:prstGeom>
          <a:noFill/>
          <a:ln/>
        </p:spPr>
        <p:txBody>
          <a:bodyPr wrap="square" rtlCol="0" anchor="ctr"/>
          <a:lstStyle/>
          <a:p>
            <a:pPr marL="0" indent="0" algn="l">
              <a:buNone/>
            </a:pPr>
            <a:r>
              <a:rPr lang="en-US" sz="3200" b="1" dirty="0">
                <a:solidFill>
                  <a:srgbClr val="FFFFFF"/>
                </a:solidFill>
                <a:latin typeface="Century Schoolbook" pitchFamily="34" charset="0"/>
                <a:ea typeface="Century Schoolbook" pitchFamily="34" charset="-122"/>
                <a:cs typeface="Century Schoolbook" pitchFamily="34" charset="-120"/>
              </a:rPr>
              <a:t>Two Records, Straight From the Files</a:t>
            </a:r>
            <a:endParaRPr lang="en-US" sz="3200" dirty="0"/>
          </a:p>
        </p:txBody>
      </p:sp>
      <p:sp>
        <p:nvSpPr>
          <p:cNvPr id="5" name="Shape 3"/>
          <p:cNvSpPr/>
          <p:nvPr/>
        </p:nvSpPr>
        <p:spPr>
          <a:xfrm>
            <a:off x="548640" y="1965960"/>
            <a:ext cx="5349240" cy="4297680"/>
          </a:xfrm>
          <a:prstGeom prst="roundRect">
            <a:avLst>
              <a:gd name="adj" fmla="val 2553"/>
            </a:avLst>
          </a:prstGeom>
          <a:solidFill>
            <a:srgbClr val="0E2320"/>
          </a:solidFill>
          <a:ln/>
        </p:spPr>
      </p:sp>
      <p:sp>
        <p:nvSpPr>
          <p:cNvPr id="6" name="Shape 4"/>
          <p:cNvSpPr/>
          <p:nvPr/>
        </p:nvSpPr>
        <p:spPr>
          <a:xfrm>
            <a:off x="548640" y="1965960"/>
            <a:ext cx="5349240" cy="502920"/>
          </a:xfrm>
          <a:prstGeom prst="roundRect">
            <a:avLst>
              <a:gd name="adj" fmla="val 21818"/>
            </a:avLst>
          </a:prstGeom>
          <a:solidFill>
            <a:srgbClr val="12403B"/>
          </a:solidFill>
          <a:ln/>
        </p:spPr>
      </p:sp>
      <p:sp>
        <p:nvSpPr>
          <p:cNvPr id="7" name="Shape 5"/>
          <p:cNvSpPr/>
          <p:nvPr/>
        </p:nvSpPr>
        <p:spPr>
          <a:xfrm>
            <a:off x="548640" y="2240280"/>
            <a:ext cx="5349240" cy="228600"/>
          </a:xfrm>
          <a:prstGeom prst="rect">
            <a:avLst/>
          </a:prstGeom>
          <a:solidFill>
            <a:srgbClr val="12403B"/>
          </a:solidFill>
          <a:ln/>
        </p:spPr>
      </p:sp>
      <p:pic>
        <p:nvPicPr>
          <p:cNvPr id="8" name="Image 0" descr="/home/claude/booking_ppt/icons/json_mint.png"/>
          <p:cNvPicPr>
            <a:picLocks noChangeAspect="1"/>
          </p:cNvPicPr>
          <p:nvPr/>
        </p:nvPicPr>
        <p:blipFill>
          <a:blip r:embed="rId3"/>
          <a:stretch>
            <a:fillRect/>
          </a:stretch>
        </p:blipFill>
        <p:spPr>
          <a:xfrm>
            <a:off x="731520" y="2093976"/>
            <a:ext cx="256032" cy="256032"/>
          </a:xfrm>
          <a:prstGeom prst="rect">
            <a:avLst/>
          </a:prstGeom>
        </p:spPr>
      </p:pic>
      <p:sp>
        <p:nvSpPr>
          <p:cNvPr id="9" name="Text 6"/>
          <p:cNvSpPr/>
          <p:nvPr/>
        </p:nvSpPr>
        <p:spPr>
          <a:xfrm>
            <a:off x="1078992" y="1965960"/>
            <a:ext cx="4114800" cy="502920"/>
          </a:xfrm>
          <a:prstGeom prst="rect">
            <a:avLst/>
          </a:prstGeom>
          <a:noFill/>
          <a:ln/>
        </p:spPr>
        <p:txBody>
          <a:bodyPr wrap="square" rtlCol="0" anchor="ctr"/>
          <a:lstStyle/>
          <a:p>
            <a:pPr marL="0" indent="0">
              <a:buNone/>
            </a:pPr>
            <a:r>
              <a:rPr lang="en-US" sz="1300" b="1" dirty="0">
                <a:solidFill>
                  <a:srgbClr val="E4FBF7"/>
                </a:solidFill>
                <a:latin typeface="Courier New" pitchFamily="34" charset="0"/>
                <a:ea typeface="Courier New" pitchFamily="34" charset="-122"/>
                <a:cs typeface="Courier New" pitchFamily="34" charset="-120"/>
              </a:rPr>
              <a:t>doctors.json</a:t>
            </a:r>
            <a:endParaRPr lang="en-US" sz="1300" dirty="0"/>
          </a:p>
        </p:txBody>
      </p:sp>
      <p:sp>
        <p:nvSpPr>
          <p:cNvPr id="10" name="Text 7"/>
          <p:cNvSpPr/>
          <p:nvPr/>
        </p:nvSpPr>
        <p:spPr>
          <a:xfrm>
            <a:off x="868680" y="2606040"/>
            <a:ext cx="4754880" cy="3520440"/>
          </a:xfrm>
          <a:prstGeom prst="rect">
            <a:avLst/>
          </a:prstGeom>
          <a:noFill/>
          <a:ln/>
        </p:spPr>
        <p:txBody>
          <a:bodyPr wrap="square" rtlCol="0" anchor="t"/>
          <a:lstStyle/>
          <a:p>
            <a:pPr marL="0" indent="0">
              <a:lnSpc>
                <a:spcPts val="1800"/>
              </a:lnSpc>
              <a:buNone/>
            </a:pPr>
            <a:r>
              <a:rPr lang="en-US" sz="1150" dirty="0">
                <a:solidFill>
                  <a:srgbClr val="CFEFEA"/>
                </a:solidFill>
                <a:latin typeface="Courier New" pitchFamily="34" charset="0"/>
                <a:ea typeface="Courier New" pitchFamily="34" charset="-122"/>
                <a:cs typeface="Courier New" pitchFamily="34" charset="-120"/>
              </a:rPr>
              <a:t>[
  {
    "id": 1,
    "name": "Dr. Rahman",
    "specialization": "Cardiology",
    "phone": "01700000000",
    "status": "active"
  }
]</a:t>
            </a:r>
            <a:endParaRPr lang="en-US" sz="1150" dirty="0"/>
          </a:p>
        </p:txBody>
      </p:sp>
      <p:sp>
        <p:nvSpPr>
          <p:cNvPr id="11" name="Shape 8"/>
          <p:cNvSpPr/>
          <p:nvPr/>
        </p:nvSpPr>
        <p:spPr>
          <a:xfrm>
            <a:off x="6263640" y="1965960"/>
            <a:ext cx="5349240" cy="4297680"/>
          </a:xfrm>
          <a:prstGeom prst="roundRect">
            <a:avLst>
              <a:gd name="adj" fmla="val 2553"/>
            </a:avLst>
          </a:prstGeom>
          <a:solidFill>
            <a:srgbClr val="0E2320"/>
          </a:solidFill>
          <a:ln/>
        </p:spPr>
      </p:sp>
      <p:sp>
        <p:nvSpPr>
          <p:cNvPr id="12" name="Shape 9"/>
          <p:cNvSpPr/>
          <p:nvPr/>
        </p:nvSpPr>
        <p:spPr>
          <a:xfrm>
            <a:off x="6263640" y="1965960"/>
            <a:ext cx="5349240" cy="502920"/>
          </a:xfrm>
          <a:prstGeom prst="roundRect">
            <a:avLst>
              <a:gd name="adj" fmla="val 21818"/>
            </a:avLst>
          </a:prstGeom>
          <a:solidFill>
            <a:srgbClr val="12403B"/>
          </a:solidFill>
          <a:ln/>
        </p:spPr>
      </p:sp>
      <p:sp>
        <p:nvSpPr>
          <p:cNvPr id="13" name="Shape 10"/>
          <p:cNvSpPr/>
          <p:nvPr/>
        </p:nvSpPr>
        <p:spPr>
          <a:xfrm>
            <a:off x="6263640" y="2240280"/>
            <a:ext cx="5349240" cy="228600"/>
          </a:xfrm>
          <a:prstGeom prst="rect">
            <a:avLst/>
          </a:prstGeom>
          <a:solidFill>
            <a:srgbClr val="12403B"/>
          </a:solidFill>
          <a:ln/>
        </p:spPr>
      </p:sp>
      <p:pic>
        <p:nvPicPr>
          <p:cNvPr id="14" name="Image 1" descr="/home/claude/booking_ppt/icons/json_mint.png"/>
          <p:cNvPicPr>
            <a:picLocks noChangeAspect="1"/>
          </p:cNvPicPr>
          <p:nvPr/>
        </p:nvPicPr>
        <p:blipFill>
          <a:blip r:embed="rId3"/>
          <a:stretch>
            <a:fillRect/>
          </a:stretch>
        </p:blipFill>
        <p:spPr>
          <a:xfrm>
            <a:off x="6446520" y="2093976"/>
            <a:ext cx="256032" cy="256032"/>
          </a:xfrm>
          <a:prstGeom prst="rect">
            <a:avLst/>
          </a:prstGeom>
        </p:spPr>
      </p:pic>
      <p:sp>
        <p:nvSpPr>
          <p:cNvPr id="15" name="Text 11"/>
          <p:cNvSpPr/>
          <p:nvPr/>
        </p:nvSpPr>
        <p:spPr>
          <a:xfrm>
            <a:off x="6793992" y="1965960"/>
            <a:ext cx="4114800" cy="502920"/>
          </a:xfrm>
          <a:prstGeom prst="rect">
            <a:avLst/>
          </a:prstGeom>
          <a:noFill/>
          <a:ln/>
        </p:spPr>
        <p:txBody>
          <a:bodyPr wrap="square" rtlCol="0" anchor="ctr"/>
          <a:lstStyle/>
          <a:p>
            <a:pPr marL="0" indent="0">
              <a:buNone/>
            </a:pPr>
            <a:r>
              <a:rPr lang="en-US" sz="1300" b="1" dirty="0">
                <a:solidFill>
                  <a:srgbClr val="E4FBF7"/>
                </a:solidFill>
                <a:latin typeface="Courier New" pitchFamily="34" charset="0"/>
                <a:ea typeface="Courier New" pitchFamily="34" charset="-122"/>
                <a:cs typeface="Courier New" pitchFamily="34" charset="-120"/>
              </a:rPr>
              <a:t>appointments.json</a:t>
            </a:r>
            <a:endParaRPr lang="en-US" sz="1300" dirty="0"/>
          </a:p>
        </p:txBody>
      </p:sp>
      <p:sp>
        <p:nvSpPr>
          <p:cNvPr id="16" name="Text 12"/>
          <p:cNvSpPr/>
          <p:nvPr/>
        </p:nvSpPr>
        <p:spPr>
          <a:xfrm>
            <a:off x="6583680" y="2606040"/>
            <a:ext cx="4754880" cy="3520440"/>
          </a:xfrm>
          <a:prstGeom prst="rect">
            <a:avLst/>
          </a:prstGeom>
          <a:noFill/>
          <a:ln/>
        </p:spPr>
        <p:txBody>
          <a:bodyPr wrap="square" rtlCol="0" anchor="t"/>
          <a:lstStyle/>
          <a:p>
            <a:pPr marL="0" indent="0">
              <a:lnSpc>
                <a:spcPts val="1800"/>
              </a:lnSpc>
              <a:buNone/>
            </a:pPr>
            <a:r>
              <a:rPr lang="en-US" sz="1150" dirty="0">
                <a:solidFill>
                  <a:srgbClr val="CFEFEA"/>
                </a:solidFill>
                <a:latin typeface="Courier New" pitchFamily="34" charset="0"/>
                <a:ea typeface="Courier New" pitchFamily="34" charset="-122"/>
                <a:cs typeface="Courier New" pitchFamily="34" charset="-120"/>
              </a:rPr>
              <a:t>[
  {
    "id": 1,
    "patient_id": 1,
    "doctor_id": 1,
    "date": "2026-08-10",
    "time": "10:00",
    "status": "confirmed"
  }
]</a:t>
            </a:r>
            <a:endParaRPr lang="en-US" sz="1150" dirty="0"/>
          </a:p>
        </p:txBody>
      </p:sp>
      <p:sp>
        <p:nvSpPr>
          <p:cNvPr id="17" name="Text 13"/>
          <p:cNvSpPr/>
          <p:nvPr/>
        </p:nvSpPr>
        <p:spPr>
          <a:xfrm>
            <a:off x="457200" y="6519672"/>
            <a:ext cx="7315200" cy="274320"/>
          </a:xfrm>
          <a:prstGeom prst="rect">
            <a:avLst/>
          </a:prstGeom>
          <a:noFill/>
          <a:ln/>
        </p:spPr>
        <p:txBody>
          <a:bodyPr wrap="square" rtlCol="0" anchor="ctr"/>
          <a:lstStyle/>
          <a:p>
            <a:pPr marL="0" indent="0">
              <a:buNone/>
            </a:pPr>
            <a:r>
              <a:rPr lang="en-US" sz="900" kern="0" spc="100" dirty="0">
                <a:solidFill>
                  <a:srgbClr val="7FB8B0"/>
                </a:solidFill>
                <a:latin typeface="Calibri" pitchFamily="34" charset="0"/>
                <a:ea typeface="Calibri" pitchFamily="34" charset="-122"/>
                <a:cs typeface="Calibri" pitchFamily="34" charset="-120"/>
              </a:rPr>
              <a:t>DOCTOR APPOINTMENT BOOKING SYSTEM  ·  PROJECT PLANNING</a:t>
            </a:r>
            <a:endParaRPr lang="en-US" sz="900" dirty="0"/>
          </a:p>
        </p:txBody>
      </p:sp>
      <p:sp>
        <p:nvSpPr>
          <p:cNvPr id="18" name="Text 14"/>
          <p:cNvSpPr/>
          <p:nvPr/>
        </p:nvSpPr>
        <p:spPr>
          <a:xfrm>
            <a:off x="11338560" y="6519672"/>
            <a:ext cx="457200" cy="274320"/>
          </a:xfrm>
          <a:prstGeom prst="rect">
            <a:avLst/>
          </a:prstGeom>
          <a:noFill/>
          <a:ln/>
        </p:spPr>
        <p:txBody>
          <a:bodyPr wrap="square" rtlCol="0" anchor="ctr"/>
          <a:lstStyle/>
          <a:p>
            <a:pPr marL="0" indent="0" algn="r">
              <a:buNone/>
            </a:pPr>
            <a:r>
              <a:rPr lang="en-US" sz="900" dirty="0">
                <a:solidFill>
                  <a:srgbClr val="7FB8B0"/>
                </a:solidFill>
                <a:latin typeface="Calibri" pitchFamily="34" charset="0"/>
                <a:ea typeface="Calibri" pitchFamily="34" charset="-122"/>
                <a:cs typeface="Calibri" pitchFamily="34" charset="-120"/>
              </a:rPr>
              <a:t>08</a:t>
            </a:r>
            <a:endParaRPr lang="en-US" sz="9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BFA"/>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47472"/>
          </a:xfrm>
          <a:prstGeom prst="roundRect">
            <a:avLst>
              <a:gd name="adj" fmla="val 50000"/>
            </a:avLst>
          </a:prstGeom>
          <a:solidFill>
            <a:srgbClr val="E4F5F2"/>
          </a:solidFill>
          <a:ln/>
        </p:spPr>
      </p:sp>
      <p:sp>
        <p:nvSpPr>
          <p:cNvPr id="3" name="Text 1"/>
          <p:cNvSpPr/>
          <p:nvPr/>
        </p:nvSpPr>
        <p:spPr>
          <a:xfrm>
            <a:off x="548640" y="457200"/>
            <a:ext cx="3291840" cy="347472"/>
          </a:xfrm>
          <a:prstGeom prst="rect">
            <a:avLst/>
          </a:prstGeom>
          <a:noFill/>
          <a:ln/>
        </p:spPr>
        <p:txBody>
          <a:bodyPr wrap="square" rtlCol="0" anchor="ctr"/>
          <a:lstStyle/>
          <a:p>
            <a:pPr marL="0" indent="0" algn="ctr">
              <a:buNone/>
            </a:pPr>
            <a:r>
              <a:rPr lang="en-US" sz="1150" b="1" kern="0" spc="200" dirty="0">
                <a:solidFill>
                  <a:srgbClr val="028090"/>
                </a:solidFill>
                <a:latin typeface="Calibri" pitchFamily="34" charset="0"/>
                <a:ea typeface="Calibri" pitchFamily="34" charset="-122"/>
                <a:cs typeface="Calibri" pitchFamily="34" charset="-120"/>
              </a:rPr>
              <a:t>SCHEDULING ENGINE</a:t>
            </a:r>
            <a:endParaRPr lang="en-US" sz="1150" dirty="0"/>
          </a:p>
        </p:txBody>
      </p:sp>
      <p:sp>
        <p:nvSpPr>
          <p:cNvPr id="4" name="Text 2"/>
          <p:cNvSpPr/>
          <p:nvPr/>
        </p:nvSpPr>
        <p:spPr>
          <a:xfrm>
            <a:off x="548640" y="896112"/>
            <a:ext cx="10515600" cy="822960"/>
          </a:xfrm>
          <a:prstGeom prst="rect">
            <a:avLst/>
          </a:prstGeom>
          <a:noFill/>
          <a:ln/>
        </p:spPr>
        <p:txBody>
          <a:bodyPr wrap="square" rtlCol="0" anchor="ctr"/>
          <a:lstStyle/>
          <a:p>
            <a:pPr marL="0" indent="0" algn="l">
              <a:buNone/>
            </a:pPr>
            <a:r>
              <a:rPr lang="en-US" sz="3200" b="1" dirty="0">
                <a:solidFill>
                  <a:srgbClr val="0F2E2A"/>
                </a:solidFill>
                <a:latin typeface="Century Schoolbook" pitchFamily="34" charset="0"/>
                <a:ea typeface="Century Schoolbook" pitchFamily="34" charset="-122"/>
                <a:cs typeface="Century Schoolbook" pitchFamily="34" charset="-120"/>
              </a:rPr>
              <a:t>Slots Are Generated, Never Hand-Typed</a:t>
            </a:r>
            <a:endParaRPr lang="en-US" sz="3200" dirty="0"/>
          </a:p>
        </p:txBody>
      </p:sp>
      <p:sp>
        <p:nvSpPr>
          <p:cNvPr id="5" name="Text 3"/>
          <p:cNvSpPr/>
          <p:nvPr/>
        </p:nvSpPr>
        <p:spPr>
          <a:xfrm>
            <a:off x="548640" y="1645920"/>
            <a:ext cx="10789920" cy="457200"/>
          </a:xfrm>
          <a:prstGeom prst="rect">
            <a:avLst/>
          </a:prstGeom>
          <a:noFill/>
          <a:ln/>
        </p:spPr>
        <p:txBody>
          <a:bodyPr wrap="square" rtlCol="0" anchor="ctr"/>
          <a:lstStyle/>
          <a:p>
            <a:pPr marL="0" indent="0">
              <a:buNone/>
            </a:pPr>
            <a:r>
              <a:rPr lang="en-US" sz="1300" dirty="0">
                <a:solidFill>
                  <a:srgbClr val="5C7A75"/>
                </a:solidFill>
                <a:latin typeface="Calibri" pitchFamily="34" charset="0"/>
                <a:ea typeface="Calibri" pitchFamily="34" charset="-122"/>
                <a:cs typeface="Calibri" pitchFamily="34" charset="-120"/>
              </a:rPr>
              <a:t>Nothing is stored slot-by-slot. A short schedule config expands into a full day of appointment times on demand.</a:t>
            </a:r>
            <a:endParaRPr lang="en-US" sz="1300" dirty="0"/>
          </a:p>
        </p:txBody>
      </p:sp>
      <p:sp>
        <p:nvSpPr>
          <p:cNvPr id="6" name="Shape 4"/>
          <p:cNvSpPr/>
          <p:nvPr/>
        </p:nvSpPr>
        <p:spPr>
          <a:xfrm>
            <a:off x="548640" y="2286000"/>
            <a:ext cx="3200400" cy="3566160"/>
          </a:xfrm>
          <a:prstGeom prst="roundRect">
            <a:avLst>
              <a:gd name="adj" fmla="val 3429"/>
            </a:avLst>
          </a:prstGeom>
          <a:solidFill>
            <a:srgbClr val="028090"/>
          </a:solidFill>
          <a:ln/>
          <a:effectLst>
            <a:outerShdw blurRad="114300" dist="38100" dir="5400000" algn="bl" rotWithShape="0">
              <a:srgbClr val="1B4B45">
                <a:alpha val="18000"/>
              </a:srgbClr>
            </a:outerShdw>
          </a:effectLst>
        </p:spPr>
      </p:sp>
      <p:sp>
        <p:nvSpPr>
          <p:cNvPr id="7" name="Text 5"/>
          <p:cNvSpPr/>
          <p:nvPr/>
        </p:nvSpPr>
        <p:spPr>
          <a:xfrm>
            <a:off x="822960" y="2514600"/>
            <a:ext cx="2743200" cy="36576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Dr. Rahman — Monday</a:t>
            </a:r>
            <a:endParaRPr lang="en-US" sz="1350" dirty="0"/>
          </a:p>
        </p:txBody>
      </p:sp>
      <p:sp>
        <p:nvSpPr>
          <p:cNvPr id="8" name="Text 6"/>
          <p:cNvSpPr/>
          <p:nvPr/>
        </p:nvSpPr>
        <p:spPr>
          <a:xfrm>
            <a:off x="822960" y="3063240"/>
            <a:ext cx="1645920" cy="365760"/>
          </a:xfrm>
          <a:prstGeom prst="rect">
            <a:avLst/>
          </a:prstGeom>
          <a:noFill/>
          <a:ln/>
        </p:spPr>
        <p:txBody>
          <a:bodyPr wrap="square" rtlCol="0" anchor="ctr"/>
          <a:lstStyle/>
          <a:p>
            <a:pPr marL="0" indent="0">
              <a:buNone/>
            </a:pPr>
            <a:r>
              <a:rPr lang="en-US" sz="1150" dirty="0">
                <a:solidFill>
                  <a:srgbClr val="BFE3DE"/>
                </a:solidFill>
                <a:latin typeface="Calibri" pitchFamily="34" charset="0"/>
                <a:ea typeface="Calibri" pitchFamily="34" charset="-122"/>
                <a:cs typeface="Calibri" pitchFamily="34" charset="-120"/>
              </a:rPr>
              <a:t>Opening</a:t>
            </a:r>
            <a:endParaRPr lang="en-US" sz="1150" dirty="0"/>
          </a:p>
        </p:txBody>
      </p:sp>
      <p:sp>
        <p:nvSpPr>
          <p:cNvPr id="9" name="Text 7"/>
          <p:cNvSpPr/>
          <p:nvPr/>
        </p:nvSpPr>
        <p:spPr>
          <a:xfrm>
            <a:off x="2377440" y="3063240"/>
            <a:ext cx="1188720" cy="365760"/>
          </a:xfrm>
          <a:prstGeom prst="rect">
            <a:avLst/>
          </a:prstGeom>
          <a:noFill/>
          <a:ln/>
        </p:spPr>
        <p:txBody>
          <a:bodyPr wrap="square"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09:00</a:t>
            </a:r>
            <a:endParaRPr lang="en-US" sz="1300" dirty="0"/>
          </a:p>
        </p:txBody>
      </p:sp>
      <p:sp>
        <p:nvSpPr>
          <p:cNvPr id="10" name="Text 8"/>
          <p:cNvSpPr/>
          <p:nvPr/>
        </p:nvSpPr>
        <p:spPr>
          <a:xfrm>
            <a:off x="822960" y="3630168"/>
            <a:ext cx="1645920" cy="365760"/>
          </a:xfrm>
          <a:prstGeom prst="rect">
            <a:avLst/>
          </a:prstGeom>
          <a:noFill/>
          <a:ln/>
        </p:spPr>
        <p:txBody>
          <a:bodyPr wrap="square" rtlCol="0" anchor="ctr"/>
          <a:lstStyle/>
          <a:p>
            <a:pPr marL="0" indent="0">
              <a:buNone/>
            </a:pPr>
            <a:r>
              <a:rPr lang="en-US" sz="1150" dirty="0">
                <a:solidFill>
                  <a:srgbClr val="BFE3DE"/>
                </a:solidFill>
                <a:latin typeface="Calibri" pitchFamily="34" charset="0"/>
                <a:ea typeface="Calibri" pitchFamily="34" charset="-122"/>
                <a:cs typeface="Calibri" pitchFamily="34" charset="-120"/>
              </a:rPr>
              <a:t>Closing</a:t>
            </a:r>
            <a:endParaRPr lang="en-US" sz="1150" dirty="0"/>
          </a:p>
        </p:txBody>
      </p:sp>
      <p:sp>
        <p:nvSpPr>
          <p:cNvPr id="11" name="Text 9"/>
          <p:cNvSpPr/>
          <p:nvPr/>
        </p:nvSpPr>
        <p:spPr>
          <a:xfrm>
            <a:off x="2377440" y="3630168"/>
            <a:ext cx="1188720" cy="365760"/>
          </a:xfrm>
          <a:prstGeom prst="rect">
            <a:avLst/>
          </a:prstGeom>
          <a:noFill/>
          <a:ln/>
        </p:spPr>
        <p:txBody>
          <a:bodyPr wrap="square"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12:00</a:t>
            </a:r>
            <a:endParaRPr lang="en-US" sz="1300" dirty="0"/>
          </a:p>
        </p:txBody>
      </p:sp>
      <p:sp>
        <p:nvSpPr>
          <p:cNvPr id="12" name="Text 10"/>
          <p:cNvSpPr/>
          <p:nvPr/>
        </p:nvSpPr>
        <p:spPr>
          <a:xfrm>
            <a:off x="822960" y="4197096"/>
            <a:ext cx="1645920" cy="365760"/>
          </a:xfrm>
          <a:prstGeom prst="rect">
            <a:avLst/>
          </a:prstGeom>
          <a:noFill/>
          <a:ln/>
        </p:spPr>
        <p:txBody>
          <a:bodyPr wrap="square" rtlCol="0" anchor="ctr"/>
          <a:lstStyle/>
          <a:p>
            <a:pPr marL="0" indent="0">
              <a:buNone/>
            </a:pPr>
            <a:r>
              <a:rPr lang="en-US" sz="1150" dirty="0">
                <a:solidFill>
                  <a:srgbClr val="BFE3DE"/>
                </a:solidFill>
                <a:latin typeface="Calibri" pitchFamily="34" charset="0"/>
                <a:ea typeface="Calibri" pitchFamily="34" charset="-122"/>
                <a:cs typeface="Calibri" pitchFamily="34" charset="-120"/>
              </a:rPr>
              <a:t>Slot duration</a:t>
            </a:r>
            <a:endParaRPr lang="en-US" sz="1150" dirty="0"/>
          </a:p>
        </p:txBody>
      </p:sp>
      <p:sp>
        <p:nvSpPr>
          <p:cNvPr id="13" name="Text 11"/>
          <p:cNvSpPr/>
          <p:nvPr/>
        </p:nvSpPr>
        <p:spPr>
          <a:xfrm>
            <a:off x="2377440" y="4197096"/>
            <a:ext cx="1188720" cy="365760"/>
          </a:xfrm>
          <a:prstGeom prst="rect">
            <a:avLst/>
          </a:prstGeom>
          <a:noFill/>
          <a:ln/>
        </p:spPr>
        <p:txBody>
          <a:bodyPr wrap="square"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30 min</a:t>
            </a:r>
            <a:endParaRPr lang="en-US" sz="1300" dirty="0"/>
          </a:p>
        </p:txBody>
      </p:sp>
      <p:sp>
        <p:nvSpPr>
          <p:cNvPr id="14" name="Text 12"/>
          <p:cNvSpPr/>
          <p:nvPr/>
        </p:nvSpPr>
        <p:spPr>
          <a:xfrm>
            <a:off x="822960" y="4892040"/>
            <a:ext cx="2651760" cy="822960"/>
          </a:xfrm>
          <a:prstGeom prst="rect">
            <a:avLst/>
          </a:prstGeom>
          <a:noFill/>
          <a:ln/>
        </p:spPr>
        <p:txBody>
          <a:bodyPr wrap="square" rtlCol="0" anchor="ctr"/>
          <a:lstStyle/>
          <a:p>
            <a:pPr marL="0" indent="0">
              <a:lnSpc>
                <a:spcPts val="1400"/>
              </a:lnSpc>
              <a:buNone/>
            </a:pPr>
            <a:r>
              <a:rPr lang="en-US" sz="1050" i="1" dirty="0">
                <a:solidFill>
                  <a:srgbClr val="D7F3EE"/>
                </a:solidFill>
                <a:latin typeface="Calibri" pitchFamily="34" charset="0"/>
                <a:ea typeface="Calibri" pitchFamily="34" charset="-122"/>
                <a:cs typeface="Calibri" pitchFamily="34" charset="-120"/>
              </a:rPr>
              <a:t>Change duration to 60 min and the generator returns half as many slots — automatically.</a:t>
            </a:r>
            <a:endParaRPr lang="en-US" sz="1050" dirty="0"/>
          </a:p>
        </p:txBody>
      </p:sp>
      <p:sp>
        <p:nvSpPr>
          <p:cNvPr id="15" name="Text 13"/>
          <p:cNvSpPr/>
          <p:nvPr/>
        </p:nvSpPr>
        <p:spPr>
          <a:xfrm>
            <a:off x="3767328" y="3611880"/>
            <a:ext cx="731520" cy="502920"/>
          </a:xfrm>
          <a:prstGeom prst="rect">
            <a:avLst/>
          </a:prstGeom>
          <a:noFill/>
          <a:ln/>
        </p:spPr>
        <p:txBody>
          <a:bodyPr wrap="square" rtlCol="0" anchor="ctr"/>
          <a:lstStyle/>
          <a:p>
            <a:pPr marL="0" indent="0" algn="ctr">
              <a:buNone/>
            </a:pPr>
            <a:r>
              <a:rPr lang="en-US" sz="2800" b="1" dirty="0">
                <a:solidFill>
                  <a:srgbClr val="028090"/>
                </a:solidFill>
                <a:latin typeface="Calibri" pitchFamily="34" charset="0"/>
                <a:ea typeface="Calibri" pitchFamily="34" charset="-122"/>
                <a:cs typeface="Calibri" pitchFamily="34" charset="-120"/>
              </a:rPr>
              <a:t>→</a:t>
            </a:r>
            <a:endParaRPr lang="en-US" sz="2800" dirty="0"/>
          </a:p>
        </p:txBody>
      </p:sp>
      <p:sp>
        <p:nvSpPr>
          <p:cNvPr id="16" name="Text 14"/>
          <p:cNvSpPr/>
          <p:nvPr/>
        </p:nvSpPr>
        <p:spPr>
          <a:xfrm>
            <a:off x="3675888" y="4114800"/>
            <a:ext cx="914400" cy="502920"/>
          </a:xfrm>
          <a:prstGeom prst="rect">
            <a:avLst/>
          </a:prstGeom>
          <a:noFill/>
          <a:ln/>
        </p:spPr>
        <p:txBody>
          <a:bodyPr wrap="square" rtlCol="0" anchor="ctr"/>
          <a:lstStyle/>
          <a:p>
            <a:pPr marL="0" indent="0" algn="ctr">
              <a:lnSpc>
                <a:spcPts val="1000"/>
              </a:lnSpc>
              <a:buNone/>
            </a:pPr>
            <a:r>
              <a:rPr lang="en-US" sz="850" dirty="0">
                <a:solidFill>
                  <a:srgbClr val="028090"/>
                </a:solidFill>
                <a:latin typeface="Courier New" pitchFamily="34" charset="0"/>
                <a:ea typeface="Courier New" pitchFamily="34" charset="-122"/>
                <a:cs typeface="Courier New" pitchFamily="34" charset="-120"/>
              </a:rPr>
              <a:t>generate_</a:t>
            </a:r>
            <a:endParaRPr lang="en-US" sz="850" dirty="0"/>
          </a:p>
          <a:p>
            <a:pPr marL="0" indent="0" algn="ctr">
              <a:lnSpc>
                <a:spcPts val="1000"/>
              </a:lnSpc>
              <a:buNone/>
            </a:pPr>
            <a:r>
              <a:rPr lang="en-US" sz="850" dirty="0">
                <a:solidFill>
                  <a:srgbClr val="028090"/>
                </a:solidFill>
                <a:latin typeface="Courier New" pitchFamily="34" charset="0"/>
                <a:ea typeface="Courier New" pitchFamily="34" charset="-122"/>
                <a:cs typeface="Courier New" pitchFamily="34" charset="-120"/>
              </a:rPr>
              <a:t>slots()</a:t>
            </a:r>
            <a:endParaRPr lang="en-US" sz="850" dirty="0"/>
          </a:p>
        </p:txBody>
      </p:sp>
      <p:sp>
        <p:nvSpPr>
          <p:cNvPr id="17" name="Shape 15"/>
          <p:cNvSpPr/>
          <p:nvPr/>
        </p:nvSpPr>
        <p:spPr>
          <a:xfrm>
            <a:off x="4526280" y="2286000"/>
            <a:ext cx="3383280" cy="3566160"/>
          </a:xfrm>
          <a:prstGeom prst="roundRect">
            <a:avLst>
              <a:gd name="adj" fmla="val 3243"/>
            </a:avLst>
          </a:prstGeom>
          <a:solidFill>
            <a:srgbClr val="FFFFFF"/>
          </a:solidFill>
          <a:ln/>
          <a:effectLst>
            <a:outerShdw blurRad="114300" dist="38100" dir="5400000" algn="bl" rotWithShape="0">
              <a:srgbClr val="1B4B45">
                <a:alpha val="18000"/>
              </a:srgbClr>
            </a:outerShdw>
          </a:effectLst>
        </p:spPr>
      </p:sp>
      <p:sp>
        <p:nvSpPr>
          <p:cNvPr id="18" name="Text 16"/>
          <p:cNvSpPr/>
          <p:nvPr/>
        </p:nvSpPr>
        <p:spPr>
          <a:xfrm>
            <a:off x="4754880" y="2450592"/>
            <a:ext cx="2926080" cy="320040"/>
          </a:xfrm>
          <a:prstGeom prst="rect">
            <a:avLst/>
          </a:prstGeom>
          <a:noFill/>
          <a:ln/>
        </p:spPr>
        <p:txBody>
          <a:bodyPr wrap="square" rtlCol="0" anchor="ctr"/>
          <a:lstStyle/>
          <a:p>
            <a:pPr marL="0" indent="0">
              <a:buNone/>
            </a:pPr>
            <a:r>
              <a:rPr lang="en-US" sz="1250" b="1" dirty="0">
                <a:solidFill>
                  <a:srgbClr val="0F2E2A"/>
                </a:solidFill>
                <a:latin typeface="Calibri" pitchFamily="34" charset="0"/>
                <a:ea typeface="Calibri" pitchFamily="34" charset="-122"/>
                <a:cs typeface="Calibri" pitchFamily="34" charset="-120"/>
              </a:rPr>
              <a:t>30-minute slots</a:t>
            </a:r>
            <a:endParaRPr lang="en-US" sz="1250" dirty="0"/>
          </a:p>
        </p:txBody>
      </p:sp>
      <p:sp>
        <p:nvSpPr>
          <p:cNvPr id="19" name="Shape 17"/>
          <p:cNvSpPr/>
          <p:nvPr/>
        </p:nvSpPr>
        <p:spPr>
          <a:xfrm>
            <a:off x="4754880" y="2926080"/>
            <a:ext cx="1417320" cy="658368"/>
          </a:xfrm>
          <a:prstGeom prst="roundRect">
            <a:avLst>
              <a:gd name="adj" fmla="val 13889"/>
            </a:avLst>
          </a:prstGeom>
          <a:solidFill>
            <a:srgbClr val="E4F5F2"/>
          </a:solidFill>
          <a:ln/>
        </p:spPr>
      </p:sp>
      <p:sp>
        <p:nvSpPr>
          <p:cNvPr id="20" name="Text 18"/>
          <p:cNvSpPr/>
          <p:nvPr/>
        </p:nvSpPr>
        <p:spPr>
          <a:xfrm>
            <a:off x="4754880" y="2926080"/>
            <a:ext cx="1417320" cy="658368"/>
          </a:xfrm>
          <a:prstGeom prst="rect">
            <a:avLst/>
          </a:prstGeom>
          <a:noFill/>
          <a:ln/>
        </p:spPr>
        <p:txBody>
          <a:bodyPr wrap="square" rtlCol="0" anchor="ctr"/>
          <a:lstStyle/>
          <a:p>
            <a:pPr marL="0" indent="0" algn="ctr">
              <a:buNone/>
            </a:pPr>
            <a:r>
              <a:rPr lang="en-US" sz="1400" b="1" dirty="0">
                <a:solidFill>
                  <a:srgbClr val="028090"/>
                </a:solidFill>
                <a:latin typeface="Courier New" pitchFamily="34" charset="0"/>
                <a:ea typeface="Courier New" pitchFamily="34" charset="-122"/>
                <a:cs typeface="Courier New" pitchFamily="34" charset="-120"/>
              </a:rPr>
              <a:t>09:00</a:t>
            </a:r>
            <a:endParaRPr lang="en-US" sz="1400" dirty="0"/>
          </a:p>
        </p:txBody>
      </p:sp>
      <p:sp>
        <p:nvSpPr>
          <p:cNvPr id="21" name="Shape 19"/>
          <p:cNvSpPr/>
          <p:nvPr/>
        </p:nvSpPr>
        <p:spPr>
          <a:xfrm>
            <a:off x="6309360" y="2926080"/>
            <a:ext cx="1417320" cy="658368"/>
          </a:xfrm>
          <a:prstGeom prst="roundRect">
            <a:avLst>
              <a:gd name="adj" fmla="val 13889"/>
            </a:avLst>
          </a:prstGeom>
          <a:solidFill>
            <a:srgbClr val="E4F5F2"/>
          </a:solidFill>
          <a:ln/>
        </p:spPr>
      </p:sp>
      <p:sp>
        <p:nvSpPr>
          <p:cNvPr id="22" name="Text 20"/>
          <p:cNvSpPr/>
          <p:nvPr/>
        </p:nvSpPr>
        <p:spPr>
          <a:xfrm>
            <a:off x="6309360" y="2926080"/>
            <a:ext cx="1417320" cy="658368"/>
          </a:xfrm>
          <a:prstGeom prst="rect">
            <a:avLst/>
          </a:prstGeom>
          <a:noFill/>
          <a:ln/>
        </p:spPr>
        <p:txBody>
          <a:bodyPr wrap="square" rtlCol="0" anchor="ctr"/>
          <a:lstStyle/>
          <a:p>
            <a:pPr marL="0" indent="0" algn="ctr">
              <a:buNone/>
            </a:pPr>
            <a:r>
              <a:rPr lang="en-US" sz="1400" b="1" dirty="0">
                <a:solidFill>
                  <a:srgbClr val="028090"/>
                </a:solidFill>
                <a:latin typeface="Courier New" pitchFamily="34" charset="0"/>
                <a:ea typeface="Courier New" pitchFamily="34" charset="-122"/>
                <a:cs typeface="Courier New" pitchFamily="34" charset="-120"/>
              </a:rPr>
              <a:t>09:30</a:t>
            </a:r>
            <a:endParaRPr lang="en-US" sz="1400" dirty="0"/>
          </a:p>
        </p:txBody>
      </p:sp>
      <p:sp>
        <p:nvSpPr>
          <p:cNvPr id="23" name="Shape 21"/>
          <p:cNvSpPr/>
          <p:nvPr/>
        </p:nvSpPr>
        <p:spPr>
          <a:xfrm>
            <a:off x="4754880" y="3749040"/>
            <a:ext cx="1417320" cy="658368"/>
          </a:xfrm>
          <a:prstGeom prst="roundRect">
            <a:avLst>
              <a:gd name="adj" fmla="val 13889"/>
            </a:avLst>
          </a:prstGeom>
          <a:solidFill>
            <a:srgbClr val="E4F5F2"/>
          </a:solidFill>
          <a:ln/>
        </p:spPr>
      </p:sp>
      <p:sp>
        <p:nvSpPr>
          <p:cNvPr id="24" name="Text 22"/>
          <p:cNvSpPr/>
          <p:nvPr/>
        </p:nvSpPr>
        <p:spPr>
          <a:xfrm>
            <a:off x="4754880" y="3749040"/>
            <a:ext cx="1417320" cy="658368"/>
          </a:xfrm>
          <a:prstGeom prst="rect">
            <a:avLst/>
          </a:prstGeom>
          <a:noFill/>
          <a:ln/>
        </p:spPr>
        <p:txBody>
          <a:bodyPr wrap="square" rtlCol="0" anchor="ctr"/>
          <a:lstStyle/>
          <a:p>
            <a:pPr marL="0" indent="0" algn="ctr">
              <a:buNone/>
            </a:pPr>
            <a:r>
              <a:rPr lang="en-US" sz="1400" b="1" dirty="0">
                <a:solidFill>
                  <a:srgbClr val="028090"/>
                </a:solidFill>
                <a:latin typeface="Courier New" pitchFamily="34" charset="0"/>
                <a:ea typeface="Courier New" pitchFamily="34" charset="-122"/>
                <a:cs typeface="Courier New" pitchFamily="34" charset="-120"/>
              </a:rPr>
              <a:t>10:00</a:t>
            </a:r>
            <a:endParaRPr lang="en-US" sz="1400" dirty="0"/>
          </a:p>
        </p:txBody>
      </p:sp>
      <p:sp>
        <p:nvSpPr>
          <p:cNvPr id="25" name="Shape 23"/>
          <p:cNvSpPr/>
          <p:nvPr/>
        </p:nvSpPr>
        <p:spPr>
          <a:xfrm>
            <a:off x="6309360" y="3749040"/>
            <a:ext cx="1417320" cy="658368"/>
          </a:xfrm>
          <a:prstGeom prst="roundRect">
            <a:avLst>
              <a:gd name="adj" fmla="val 13889"/>
            </a:avLst>
          </a:prstGeom>
          <a:solidFill>
            <a:srgbClr val="E4F5F2"/>
          </a:solidFill>
          <a:ln/>
        </p:spPr>
      </p:sp>
      <p:sp>
        <p:nvSpPr>
          <p:cNvPr id="26" name="Text 24"/>
          <p:cNvSpPr/>
          <p:nvPr/>
        </p:nvSpPr>
        <p:spPr>
          <a:xfrm>
            <a:off x="6309360" y="3749040"/>
            <a:ext cx="1417320" cy="658368"/>
          </a:xfrm>
          <a:prstGeom prst="rect">
            <a:avLst/>
          </a:prstGeom>
          <a:noFill/>
          <a:ln/>
        </p:spPr>
        <p:txBody>
          <a:bodyPr wrap="square" rtlCol="0" anchor="ctr"/>
          <a:lstStyle/>
          <a:p>
            <a:pPr marL="0" indent="0" algn="ctr">
              <a:buNone/>
            </a:pPr>
            <a:r>
              <a:rPr lang="en-US" sz="1400" b="1" dirty="0">
                <a:solidFill>
                  <a:srgbClr val="028090"/>
                </a:solidFill>
                <a:latin typeface="Courier New" pitchFamily="34" charset="0"/>
                <a:ea typeface="Courier New" pitchFamily="34" charset="-122"/>
                <a:cs typeface="Courier New" pitchFamily="34" charset="-120"/>
              </a:rPr>
              <a:t>10:30</a:t>
            </a:r>
            <a:endParaRPr lang="en-US" sz="1400" dirty="0"/>
          </a:p>
        </p:txBody>
      </p:sp>
      <p:sp>
        <p:nvSpPr>
          <p:cNvPr id="27" name="Shape 25"/>
          <p:cNvSpPr/>
          <p:nvPr/>
        </p:nvSpPr>
        <p:spPr>
          <a:xfrm>
            <a:off x="4754880" y="4572000"/>
            <a:ext cx="1417320" cy="658368"/>
          </a:xfrm>
          <a:prstGeom prst="roundRect">
            <a:avLst>
              <a:gd name="adj" fmla="val 13889"/>
            </a:avLst>
          </a:prstGeom>
          <a:solidFill>
            <a:srgbClr val="E4F5F2"/>
          </a:solidFill>
          <a:ln/>
        </p:spPr>
      </p:sp>
      <p:sp>
        <p:nvSpPr>
          <p:cNvPr id="28" name="Text 26"/>
          <p:cNvSpPr/>
          <p:nvPr/>
        </p:nvSpPr>
        <p:spPr>
          <a:xfrm>
            <a:off x="4754880" y="4572000"/>
            <a:ext cx="1417320" cy="658368"/>
          </a:xfrm>
          <a:prstGeom prst="rect">
            <a:avLst/>
          </a:prstGeom>
          <a:noFill/>
          <a:ln/>
        </p:spPr>
        <p:txBody>
          <a:bodyPr wrap="square" rtlCol="0" anchor="ctr"/>
          <a:lstStyle/>
          <a:p>
            <a:pPr marL="0" indent="0" algn="ctr">
              <a:buNone/>
            </a:pPr>
            <a:r>
              <a:rPr lang="en-US" sz="1400" b="1" dirty="0">
                <a:solidFill>
                  <a:srgbClr val="028090"/>
                </a:solidFill>
                <a:latin typeface="Courier New" pitchFamily="34" charset="0"/>
                <a:ea typeface="Courier New" pitchFamily="34" charset="-122"/>
                <a:cs typeface="Courier New" pitchFamily="34" charset="-120"/>
              </a:rPr>
              <a:t>11:00</a:t>
            </a:r>
            <a:endParaRPr lang="en-US" sz="1400" dirty="0"/>
          </a:p>
        </p:txBody>
      </p:sp>
      <p:sp>
        <p:nvSpPr>
          <p:cNvPr id="29" name="Shape 27"/>
          <p:cNvSpPr/>
          <p:nvPr/>
        </p:nvSpPr>
        <p:spPr>
          <a:xfrm>
            <a:off x="6309360" y="4572000"/>
            <a:ext cx="1417320" cy="658368"/>
          </a:xfrm>
          <a:prstGeom prst="roundRect">
            <a:avLst>
              <a:gd name="adj" fmla="val 13889"/>
            </a:avLst>
          </a:prstGeom>
          <a:solidFill>
            <a:srgbClr val="E4F5F2"/>
          </a:solidFill>
          <a:ln/>
        </p:spPr>
      </p:sp>
      <p:sp>
        <p:nvSpPr>
          <p:cNvPr id="30" name="Text 28"/>
          <p:cNvSpPr/>
          <p:nvPr/>
        </p:nvSpPr>
        <p:spPr>
          <a:xfrm>
            <a:off x="6309360" y="4572000"/>
            <a:ext cx="1417320" cy="658368"/>
          </a:xfrm>
          <a:prstGeom prst="rect">
            <a:avLst/>
          </a:prstGeom>
          <a:noFill/>
          <a:ln/>
        </p:spPr>
        <p:txBody>
          <a:bodyPr wrap="square" rtlCol="0" anchor="ctr"/>
          <a:lstStyle/>
          <a:p>
            <a:pPr marL="0" indent="0" algn="ctr">
              <a:buNone/>
            </a:pPr>
            <a:r>
              <a:rPr lang="en-US" sz="1400" b="1" dirty="0">
                <a:solidFill>
                  <a:srgbClr val="028090"/>
                </a:solidFill>
                <a:latin typeface="Courier New" pitchFamily="34" charset="0"/>
                <a:ea typeface="Courier New" pitchFamily="34" charset="-122"/>
                <a:cs typeface="Courier New" pitchFamily="34" charset="-120"/>
              </a:rPr>
              <a:t>11:30</a:t>
            </a:r>
            <a:endParaRPr lang="en-US" sz="1400" dirty="0"/>
          </a:p>
        </p:txBody>
      </p:sp>
      <p:sp>
        <p:nvSpPr>
          <p:cNvPr id="31" name="Shape 29"/>
          <p:cNvSpPr/>
          <p:nvPr/>
        </p:nvSpPr>
        <p:spPr>
          <a:xfrm>
            <a:off x="8183880" y="2286000"/>
            <a:ext cx="3456432" cy="3566160"/>
          </a:xfrm>
          <a:prstGeom prst="roundRect">
            <a:avLst>
              <a:gd name="adj" fmla="val 3175"/>
            </a:avLst>
          </a:prstGeom>
          <a:solidFill>
            <a:srgbClr val="FFFFFF"/>
          </a:solidFill>
          <a:ln/>
          <a:effectLst>
            <a:outerShdw blurRad="114300" dist="38100" dir="5400000" algn="bl" rotWithShape="0">
              <a:srgbClr val="1B4B45">
                <a:alpha val="18000"/>
              </a:srgbClr>
            </a:outerShdw>
          </a:effectLst>
        </p:spPr>
      </p:sp>
      <p:sp>
        <p:nvSpPr>
          <p:cNvPr id="32" name="Text 30"/>
          <p:cNvSpPr/>
          <p:nvPr/>
        </p:nvSpPr>
        <p:spPr>
          <a:xfrm>
            <a:off x="8412480" y="2450592"/>
            <a:ext cx="3017520" cy="320040"/>
          </a:xfrm>
          <a:prstGeom prst="rect">
            <a:avLst/>
          </a:prstGeom>
          <a:noFill/>
          <a:ln/>
        </p:spPr>
        <p:txBody>
          <a:bodyPr wrap="square" rtlCol="0" anchor="ctr"/>
          <a:lstStyle/>
          <a:p>
            <a:pPr marL="0" indent="0">
              <a:buNone/>
            </a:pPr>
            <a:r>
              <a:rPr lang="en-US" sz="1250" b="1" dirty="0">
                <a:solidFill>
                  <a:srgbClr val="0F2E2A"/>
                </a:solidFill>
                <a:latin typeface="Calibri" pitchFamily="34" charset="0"/>
                <a:ea typeface="Calibri" pitchFamily="34" charset="-122"/>
                <a:cs typeface="Calibri" pitchFamily="34" charset="-120"/>
              </a:rPr>
              <a:t>60-minute slots</a:t>
            </a:r>
            <a:endParaRPr lang="en-US" sz="1250" dirty="0"/>
          </a:p>
        </p:txBody>
      </p:sp>
      <p:sp>
        <p:nvSpPr>
          <p:cNvPr id="33" name="Shape 31"/>
          <p:cNvSpPr/>
          <p:nvPr/>
        </p:nvSpPr>
        <p:spPr>
          <a:xfrm>
            <a:off x="8412480" y="2926080"/>
            <a:ext cx="3017520" cy="731520"/>
          </a:xfrm>
          <a:prstGeom prst="roundRect">
            <a:avLst>
              <a:gd name="adj" fmla="val 12500"/>
            </a:avLst>
          </a:prstGeom>
          <a:solidFill>
            <a:srgbClr val="DFF3EF"/>
          </a:solidFill>
          <a:ln/>
        </p:spPr>
      </p:sp>
      <p:sp>
        <p:nvSpPr>
          <p:cNvPr id="34" name="Text 32"/>
          <p:cNvSpPr/>
          <p:nvPr/>
        </p:nvSpPr>
        <p:spPr>
          <a:xfrm>
            <a:off x="8412480" y="2926080"/>
            <a:ext cx="3017520" cy="731520"/>
          </a:xfrm>
          <a:prstGeom prst="rect">
            <a:avLst/>
          </a:prstGeom>
          <a:noFill/>
          <a:ln/>
        </p:spPr>
        <p:txBody>
          <a:bodyPr wrap="square" rtlCol="0" anchor="ctr"/>
          <a:lstStyle/>
          <a:p>
            <a:pPr marL="0" indent="0" algn="ctr">
              <a:buNone/>
            </a:pPr>
            <a:r>
              <a:rPr lang="en-US" sz="1500" b="1" dirty="0">
                <a:solidFill>
                  <a:srgbClr val="00A896"/>
                </a:solidFill>
                <a:latin typeface="Courier New" pitchFamily="34" charset="0"/>
                <a:ea typeface="Courier New" pitchFamily="34" charset="-122"/>
                <a:cs typeface="Courier New" pitchFamily="34" charset="-120"/>
              </a:rPr>
              <a:t>09:00</a:t>
            </a:r>
            <a:endParaRPr lang="en-US" sz="1500" dirty="0"/>
          </a:p>
        </p:txBody>
      </p:sp>
      <p:sp>
        <p:nvSpPr>
          <p:cNvPr id="35" name="Shape 33"/>
          <p:cNvSpPr/>
          <p:nvPr/>
        </p:nvSpPr>
        <p:spPr>
          <a:xfrm>
            <a:off x="8412480" y="3822192"/>
            <a:ext cx="3017520" cy="731520"/>
          </a:xfrm>
          <a:prstGeom prst="roundRect">
            <a:avLst>
              <a:gd name="adj" fmla="val 12500"/>
            </a:avLst>
          </a:prstGeom>
          <a:solidFill>
            <a:srgbClr val="DFF3EF"/>
          </a:solidFill>
          <a:ln/>
        </p:spPr>
      </p:sp>
      <p:sp>
        <p:nvSpPr>
          <p:cNvPr id="36" name="Text 34"/>
          <p:cNvSpPr/>
          <p:nvPr/>
        </p:nvSpPr>
        <p:spPr>
          <a:xfrm>
            <a:off x="8412480" y="3822192"/>
            <a:ext cx="3017520" cy="731520"/>
          </a:xfrm>
          <a:prstGeom prst="rect">
            <a:avLst/>
          </a:prstGeom>
          <a:noFill/>
          <a:ln/>
        </p:spPr>
        <p:txBody>
          <a:bodyPr wrap="square" rtlCol="0" anchor="ctr"/>
          <a:lstStyle/>
          <a:p>
            <a:pPr marL="0" indent="0" algn="ctr">
              <a:buNone/>
            </a:pPr>
            <a:r>
              <a:rPr lang="en-US" sz="1500" b="1" dirty="0">
                <a:solidFill>
                  <a:srgbClr val="00A896"/>
                </a:solidFill>
                <a:latin typeface="Courier New" pitchFamily="34" charset="0"/>
                <a:ea typeface="Courier New" pitchFamily="34" charset="-122"/>
                <a:cs typeface="Courier New" pitchFamily="34" charset="-120"/>
              </a:rPr>
              <a:t>10:00</a:t>
            </a:r>
            <a:endParaRPr lang="en-US" sz="1500" dirty="0"/>
          </a:p>
        </p:txBody>
      </p:sp>
      <p:sp>
        <p:nvSpPr>
          <p:cNvPr id="37" name="Shape 35"/>
          <p:cNvSpPr/>
          <p:nvPr/>
        </p:nvSpPr>
        <p:spPr>
          <a:xfrm>
            <a:off x="8412480" y="4718304"/>
            <a:ext cx="3017520" cy="731520"/>
          </a:xfrm>
          <a:prstGeom prst="roundRect">
            <a:avLst>
              <a:gd name="adj" fmla="val 12500"/>
            </a:avLst>
          </a:prstGeom>
          <a:solidFill>
            <a:srgbClr val="DFF3EF"/>
          </a:solidFill>
          <a:ln/>
        </p:spPr>
      </p:sp>
      <p:sp>
        <p:nvSpPr>
          <p:cNvPr id="38" name="Text 36"/>
          <p:cNvSpPr/>
          <p:nvPr/>
        </p:nvSpPr>
        <p:spPr>
          <a:xfrm>
            <a:off x="8412480" y="4718304"/>
            <a:ext cx="3017520" cy="731520"/>
          </a:xfrm>
          <a:prstGeom prst="rect">
            <a:avLst/>
          </a:prstGeom>
          <a:noFill/>
          <a:ln/>
        </p:spPr>
        <p:txBody>
          <a:bodyPr wrap="square" rtlCol="0" anchor="ctr"/>
          <a:lstStyle/>
          <a:p>
            <a:pPr marL="0" indent="0" algn="ctr">
              <a:buNone/>
            </a:pPr>
            <a:r>
              <a:rPr lang="en-US" sz="1500" b="1" dirty="0">
                <a:solidFill>
                  <a:srgbClr val="00A896"/>
                </a:solidFill>
                <a:latin typeface="Courier New" pitchFamily="34" charset="0"/>
                <a:ea typeface="Courier New" pitchFamily="34" charset="-122"/>
                <a:cs typeface="Courier New" pitchFamily="34" charset="-120"/>
              </a:rPr>
              <a:t>11:00</a:t>
            </a:r>
            <a:endParaRPr lang="en-US" sz="1500" dirty="0"/>
          </a:p>
        </p:txBody>
      </p:sp>
      <p:sp>
        <p:nvSpPr>
          <p:cNvPr id="39" name="Text 37"/>
          <p:cNvSpPr/>
          <p:nvPr/>
        </p:nvSpPr>
        <p:spPr>
          <a:xfrm>
            <a:off x="457200" y="6519672"/>
            <a:ext cx="7315200" cy="274320"/>
          </a:xfrm>
          <a:prstGeom prst="rect">
            <a:avLst/>
          </a:prstGeom>
          <a:noFill/>
          <a:ln/>
        </p:spPr>
        <p:txBody>
          <a:bodyPr wrap="square" rtlCol="0" anchor="ctr"/>
          <a:lstStyle/>
          <a:p>
            <a:pPr marL="0" indent="0">
              <a:buNone/>
            </a:pPr>
            <a:r>
              <a:rPr lang="en-US" sz="900" kern="0" spc="100" dirty="0">
                <a:solidFill>
                  <a:srgbClr val="5C7A75"/>
                </a:solidFill>
                <a:latin typeface="Calibri" pitchFamily="34" charset="0"/>
                <a:ea typeface="Calibri" pitchFamily="34" charset="-122"/>
                <a:cs typeface="Calibri" pitchFamily="34" charset="-120"/>
              </a:rPr>
              <a:t>DOCTOR APPOINTMENT BOOKING SYSTEM  ·  PROJECT PLANNING</a:t>
            </a:r>
            <a:endParaRPr lang="en-US" sz="900" dirty="0"/>
          </a:p>
        </p:txBody>
      </p:sp>
      <p:sp>
        <p:nvSpPr>
          <p:cNvPr id="40" name="Text 38"/>
          <p:cNvSpPr/>
          <p:nvPr/>
        </p:nvSpPr>
        <p:spPr>
          <a:xfrm>
            <a:off x="11338560" y="6519672"/>
            <a:ext cx="457200" cy="274320"/>
          </a:xfrm>
          <a:prstGeom prst="rect">
            <a:avLst/>
          </a:prstGeom>
          <a:noFill/>
          <a:ln/>
        </p:spPr>
        <p:txBody>
          <a:bodyPr wrap="square" rtlCol="0" anchor="ctr"/>
          <a:lstStyle/>
          <a:p>
            <a:pPr marL="0" indent="0" algn="r">
              <a:buNone/>
            </a:pPr>
            <a:r>
              <a:rPr lang="en-US" sz="900" dirty="0">
                <a:solidFill>
                  <a:srgbClr val="5C7A75"/>
                </a:solidFill>
                <a:latin typeface="Calibri" pitchFamily="34" charset="0"/>
                <a:ea typeface="Calibri" pitchFamily="34" charset="-122"/>
                <a:cs typeface="Calibri" pitchFamily="34" charset="-120"/>
              </a:rPr>
              <a:t>09</a:t>
            </a:r>
            <a:endParaRPr lang="en-US" sz="9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BFA"/>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47472"/>
          </a:xfrm>
          <a:prstGeom prst="roundRect">
            <a:avLst>
              <a:gd name="adj" fmla="val 50000"/>
            </a:avLst>
          </a:prstGeom>
          <a:solidFill>
            <a:srgbClr val="E4F5F2"/>
          </a:solidFill>
          <a:ln/>
        </p:spPr>
      </p:sp>
      <p:sp>
        <p:nvSpPr>
          <p:cNvPr id="3" name="Text 1"/>
          <p:cNvSpPr/>
          <p:nvPr/>
        </p:nvSpPr>
        <p:spPr>
          <a:xfrm>
            <a:off x="548640" y="457200"/>
            <a:ext cx="3291840" cy="347472"/>
          </a:xfrm>
          <a:prstGeom prst="rect">
            <a:avLst/>
          </a:prstGeom>
          <a:noFill/>
          <a:ln/>
        </p:spPr>
        <p:txBody>
          <a:bodyPr wrap="square" rtlCol="0" anchor="ctr"/>
          <a:lstStyle/>
          <a:p>
            <a:pPr marL="0" indent="0" algn="ctr">
              <a:buNone/>
            </a:pPr>
            <a:r>
              <a:rPr lang="en-US" sz="1150" b="1" kern="0" spc="200" dirty="0">
                <a:solidFill>
                  <a:srgbClr val="028090"/>
                </a:solidFill>
                <a:latin typeface="Calibri" pitchFamily="34" charset="0"/>
                <a:ea typeface="Calibri" pitchFamily="34" charset="-122"/>
                <a:cs typeface="Calibri" pitchFamily="34" charset="-120"/>
              </a:rPr>
              <a:t>SLOT LIFECYCLE</a:t>
            </a:r>
            <a:endParaRPr lang="en-US" sz="1150" dirty="0"/>
          </a:p>
        </p:txBody>
      </p:sp>
      <p:sp>
        <p:nvSpPr>
          <p:cNvPr id="4" name="Text 2"/>
          <p:cNvSpPr/>
          <p:nvPr/>
        </p:nvSpPr>
        <p:spPr>
          <a:xfrm>
            <a:off x="548640" y="896112"/>
            <a:ext cx="10515600" cy="822960"/>
          </a:xfrm>
          <a:prstGeom prst="rect">
            <a:avLst/>
          </a:prstGeom>
          <a:noFill/>
          <a:ln/>
        </p:spPr>
        <p:txBody>
          <a:bodyPr wrap="square" rtlCol="0" anchor="ctr"/>
          <a:lstStyle/>
          <a:p>
            <a:pPr marL="0" indent="0" algn="l">
              <a:buNone/>
            </a:pPr>
            <a:r>
              <a:rPr lang="en-US" sz="3200" b="1" dirty="0">
                <a:solidFill>
                  <a:srgbClr val="0F2E2A"/>
                </a:solidFill>
                <a:latin typeface="Century Schoolbook" pitchFamily="34" charset="0"/>
                <a:ea typeface="Century Schoolbook" pitchFamily="34" charset="-122"/>
                <a:cs typeface="Century Schoolbook" pitchFamily="34" charset="-120"/>
              </a:rPr>
              <a:t>Every Slot Is in Exactly One State</a:t>
            </a:r>
            <a:endParaRPr lang="en-US" sz="3200" dirty="0"/>
          </a:p>
        </p:txBody>
      </p:sp>
      <p:sp>
        <p:nvSpPr>
          <p:cNvPr id="5" name="Shape 3"/>
          <p:cNvSpPr/>
          <p:nvPr/>
        </p:nvSpPr>
        <p:spPr>
          <a:xfrm>
            <a:off x="548640" y="1828800"/>
            <a:ext cx="3520440" cy="3200400"/>
          </a:xfrm>
          <a:prstGeom prst="roundRect">
            <a:avLst>
              <a:gd name="adj" fmla="val 3429"/>
            </a:avLst>
          </a:prstGeom>
          <a:solidFill>
            <a:srgbClr val="FFFFFF"/>
          </a:solidFill>
          <a:ln/>
          <a:effectLst>
            <a:outerShdw blurRad="114300" dist="38100" dir="5400000" algn="bl" rotWithShape="0">
              <a:srgbClr val="1B4B45">
                <a:alpha val="18000"/>
              </a:srgbClr>
            </a:outerShdw>
          </a:effectLst>
        </p:spPr>
      </p:sp>
      <p:sp>
        <p:nvSpPr>
          <p:cNvPr id="6" name="Shape 4"/>
          <p:cNvSpPr/>
          <p:nvPr/>
        </p:nvSpPr>
        <p:spPr>
          <a:xfrm>
            <a:off x="1851660" y="2286000"/>
            <a:ext cx="914400" cy="914400"/>
          </a:xfrm>
          <a:prstGeom prst="ellipse">
            <a:avLst/>
          </a:prstGeom>
          <a:solidFill>
            <a:srgbClr val="02C39A"/>
          </a:solidFill>
          <a:ln/>
        </p:spPr>
      </p:sp>
      <p:pic>
        <p:nvPicPr>
          <p:cNvPr id="7" name="Image 0" descr="/home/claude/booking_ppt/icons/check_white.png"/>
          <p:cNvPicPr>
            <a:picLocks noChangeAspect="1"/>
          </p:cNvPicPr>
          <p:nvPr/>
        </p:nvPicPr>
        <p:blipFill>
          <a:blip r:embed="rId3"/>
          <a:stretch>
            <a:fillRect/>
          </a:stretch>
        </p:blipFill>
        <p:spPr>
          <a:xfrm>
            <a:off x="1970532" y="2404872"/>
            <a:ext cx="676656" cy="676656"/>
          </a:xfrm>
          <a:prstGeom prst="rect">
            <a:avLst/>
          </a:prstGeom>
        </p:spPr>
      </p:pic>
      <p:sp>
        <p:nvSpPr>
          <p:cNvPr id="8" name="Text 5"/>
          <p:cNvSpPr/>
          <p:nvPr/>
        </p:nvSpPr>
        <p:spPr>
          <a:xfrm>
            <a:off x="548640" y="3429000"/>
            <a:ext cx="3520440" cy="411480"/>
          </a:xfrm>
          <a:prstGeom prst="rect">
            <a:avLst/>
          </a:prstGeom>
          <a:noFill/>
          <a:ln/>
        </p:spPr>
        <p:txBody>
          <a:bodyPr wrap="square" rtlCol="0" anchor="ctr"/>
          <a:lstStyle/>
          <a:p>
            <a:pPr marL="0" indent="0" algn="ctr">
              <a:buNone/>
            </a:pPr>
            <a:r>
              <a:rPr lang="en-US" sz="1800" b="1" dirty="0">
                <a:solidFill>
                  <a:srgbClr val="0F2E2A"/>
                </a:solidFill>
                <a:latin typeface="Calibri" pitchFamily="34" charset="0"/>
                <a:ea typeface="Calibri" pitchFamily="34" charset="-122"/>
                <a:cs typeface="Calibri" pitchFamily="34" charset="-120"/>
              </a:rPr>
              <a:t>Available</a:t>
            </a:r>
            <a:endParaRPr lang="en-US" sz="1800" dirty="0"/>
          </a:p>
        </p:txBody>
      </p:sp>
      <p:sp>
        <p:nvSpPr>
          <p:cNvPr id="9" name="Text 6"/>
          <p:cNvSpPr/>
          <p:nvPr/>
        </p:nvSpPr>
        <p:spPr>
          <a:xfrm>
            <a:off x="868680" y="3931920"/>
            <a:ext cx="2880360" cy="1005840"/>
          </a:xfrm>
          <a:prstGeom prst="rect">
            <a:avLst/>
          </a:prstGeom>
          <a:noFill/>
          <a:ln/>
        </p:spPr>
        <p:txBody>
          <a:bodyPr wrap="square" rtlCol="0" anchor="ctr"/>
          <a:lstStyle/>
          <a:p>
            <a:pPr marL="0" indent="0" algn="ctr">
              <a:lnSpc>
                <a:spcPts val="1600"/>
              </a:lnSpc>
              <a:buNone/>
            </a:pPr>
            <a:r>
              <a:rPr lang="en-US" sz="1150" dirty="0">
                <a:solidFill>
                  <a:srgbClr val="5C7A75"/>
                </a:solidFill>
                <a:latin typeface="Calibri" pitchFamily="34" charset="0"/>
                <a:ea typeface="Calibri" pitchFamily="34" charset="-122"/>
                <a:cs typeface="Calibri" pitchFamily="34" charset="-120"/>
              </a:rPr>
              <a:t>Open for booking. Nothing is holding this time yet.</a:t>
            </a:r>
            <a:endParaRPr lang="en-US" sz="1150" dirty="0"/>
          </a:p>
        </p:txBody>
      </p:sp>
      <p:sp>
        <p:nvSpPr>
          <p:cNvPr id="10" name="Shape 7"/>
          <p:cNvSpPr/>
          <p:nvPr/>
        </p:nvSpPr>
        <p:spPr>
          <a:xfrm>
            <a:off x="4389120" y="1828800"/>
            <a:ext cx="3520440" cy="3200400"/>
          </a:xfrm>
          <a:prstGeom prst="roundRect">
            <a:avLst>
              <a:gd name="adj" fmla="val 3429"/>
            </a:avLst>
          </a:prstGeom>
          <a:solidFill>
            <a:srgbClr val="FFFFFF"/>
          </a:solidFill>
          <a:ln/>
          <a:effectLst>
            <a:outerShdw blurRad="114300" dist="38100" dir="5400000" algn="bl" rotWithShape="0">
              <a:srgbClr val="1B4B45">
                <a:alpha val="18000"/>
              </a:srgbClr>
            </a:outerShdw>
          </a:effectLst>
        </p:spPr>
      </p:sp>
      <p:sp>
        <p:nvSpPr>
          <p:cNvPr id="11" name="Shape 8"/>
          <p:cNvSpPr/>
          <p:nvPr/>
        </p:nvSpPr>
        <p:spPr>
          <a:xfrm>
            <a:off x="5692140" y="2286000"/>
            <a:ext cx="914400" cy="914400"/>
          </a:xfrm>
          <a:prstGeom prst="ellipse">
            <a:avLst/>
          </a:prstGeom>
          <a:solidFill>
            <a:srgbClr val="028090"/>
          </a:solidFill>
          <a:ln/>
        </p:spPr>
      </p:sp>
      <p:pic>
        <p:nvPicPr>
          <p:cNvPr id="12" name="Image 1" descr="/home/claude/booking_ppt/icons/calendar_white.png"/>
          <p:cNvPicPr>
            <a:picLocks noChangeAspect="1"/>
          </p:cNvPicPr>
          <p:nvPr/>
        </p:nvPicPr>
        <p:blipFill>
          <a:blip r:embed="rId4"/>
          <a:stretch>
            <a:fillRect/>
          </a:stretch>
        </p:blipFill>
        <p:spPr>
          <a:xfrm>
            <a:off x="5811012" y="2404872"/>
            <a:ext cx="676656" cy="676656"/>
          </a:xfrm>
          <a:prstGeom prst="rect">
            <a:avLst/>
          </a:prstGeom>
        </p:spPr>
      </p:pic>
      <p:sp>
        <p:nvSpPr>
          <p:cNvPr id="13" name="Text 9"/>
          <p:cNvSpPr/>
          <p:nvPr/>
        </p:nvSpPr>
        <p:spPr>
          <a:xfrm>
            <a:off x="4389120" y="3429000"/>
            <a:ext cx="3520440" cy="411480"/>
          </a:xfrm>
          <a:prstGeom prst="rect">
            <a:avLst/>
          </a:prstGeom>
          <a:noFill/>
          <a:ln/>
        </p:spPr>
        <p:txBody>
          <a:bodyPr wrap="square" rtlCol="0" anchor="ctr"/>
          <a:lstStyle/>
          <a:p>
            <a:pPr marL="0" indent="0" algn="ctr">
              <a:buNone/>
            </a:pPr>
            <a:r>
              <a:rPr lang="en-US" sz="1800" b="1" dirty="0">
                <a:solidFill>
                  <a:srgbClr val="0F2E2A"/>
                </a:solidFill>
                <a:latin typeface="Calibri" pitchFamily="34" charset="0"/>
                <a:ea typeface="Calibri" pitchFamily="34" charset="-122"/>
                <a:cs typeface="Calibri" pitchFamily="34" charset="-120"/>
              </a:rPr>
              <a:t>Booked</a:t>
            </a:r>
            <a:endParaRPr lang="en-US" sz="1800" dirty="0"/>
          </a:p>
        </p:txBody>
      </p:sp>
      <p:sp>
        <p:nvSpPr>
          <p:cNvPr id="14" name="Text 10"/>
          <p:cNvSpPr/>
          <p:nvPr/>
        </p:nvSpPr>
        <p:spPr>
          <a:xfrm>
            <a:off x="4709160" y="3931920"/>
            <a:ext cx="2880360" cy="1005840"/>
          </a:xfrm>
          <a:prstGeom prst="rect">
            <a:avLst/>
          </a:prstGeom>
          <a:noFill/>
          <a:ln/>
        </p:spPr>
        <p:txBody>
          <a:bodyPr wrap="square" rtlCol="0" anchor="ctr"/>
          <a:lstStyle/>
          <a:p>
            <a:pPr marL="0" indent="0" algn="ctr">
              <a:lnSpc>
                <a:spcPts val="1600"/>
              </a:lnSpc>
              <a:buNone/>
            </a:pPr>
            <a:r>
              <a:rPr lang="en-US" sz="1150" dirty="0">
                <a:solidFill>
                  <a:srgbClr val="5C7A75"/>
                </a:solidFill>
                <a:latin typeface="Calibri" pitchFamily="34" charset="0"/>
                <a:ea typeface="Calibri" pitchFamily="34" charset="-122"/>
                <a:cs typeface="Calibri" pitchFamily="34" charset="-120"/>
              </a:rPr>
              <a:t>An active, confirmed appointment occupies this slot.</a:t>
            </a:r>
            <a:endParaRPr lang="en-US" sz="1150" dirty="0"/>
          </a:p>
        </p:txBody>
      </p:sp>
      <p:sp>
        <p:nvSpPr>
          <p:cNvPr id="15" name="Shape 11"/>
          <p:cNvSpPr/>
          <p:nvPr/>
        </p:nvSpPr>
        <p:spPr>
          <a:xfrm>
            <a:off x="8229600" y="1828800"/>
            <a:ext cx="3520440" cy="3200400"/>
          </a:xfrm>
          <a:prstGeom prst="roundRect">
            <a:avLst>
              <a:gd name="adj" fmla="val 3429"/>
            </a:avLst>
          </a:prstGeom>
          <a:solidFill>
            <a:srgbClr val="FFFFFF"/>
          </a:solidFill>
          <a:ln/>
          <a:effectLst>
            <a:outerShdw blurRad="114300" dist="38100" dir="5400000" algn="bl" rotWithShape="0">
              <a:srgbClr val="1B4B45">
                <a:alpha val="18000"/>
              </a:srgbClr>
            </a:outerShdw>
          </a:effectLst>
        </p:spPr>
      </p:sp>
      <p:sp>
        <p:nvSpPr>
          <p:cNvPr id="16" name="Shape 12"/>
          <p:cNvSpPr/>
          <p:nvPr/>
        </p:nvSpPr>
        <p:spPr>
          <a:xfrm>
            <a:off x="9532620" y="2286000"/>
            <a:ext cx="914400" cy="914400"/>
          </a:xfrm>
          <a:prstGeom prst="ellipse">
            <a:avLst/>
          </a:prstGeom>
          <a:solidFill>
            <a:srgbClr val="E85D5D"/>
          </a:solidFill>
          <a:ln/>
        </p:spPr>
      </p:sp>
      <p:pic>
        <p:nvPicPr>
          <p:cNvPr id="17" name="Image 2" descr="/home/claude/booking_ppt/icons/lock_white.png"/>
          <p:cNvPicPr>
            <a:picLocks noChangeAspect="1"/>
          </p:cNvPicPr>
          <p:nvPr/>
        </p:nvPicPr>
        <p:blipFill>
          <a:blip r:embed="rId5"/>
          <a:stretch>
            <a:fillRect/>
          </a:stretch>
        </p:blipFill>
        <p:spPr>
          <a:xfrm>
            <a:off x="9651492" y="2404872"/>
            <a:ext cx="676656" cy="676656"/>
          </a:xfrm>
          <a:prstGeom prst="rect">
            <a:avLst/>
          </a:prstGeom>
        </p:spPr>
      </p:pic>
      <p:sp>
        <p:nvSpPr>
          <p:cNvPr id="18" name="Text 13"/>
          <p:cNvSpPr/>
          <p:nvPr/>
        </p:nvSpPr>
        <p:spPr>
          <a:xfrm>
            <a:off x="8229600" y="3429000"/>
            <a:ext cx="3520440" cy="411480"/>
          </a:xfrm>
          <a:prstGeom prst="rect">
            <a:avLst/>
          </a:prstGeom>
          <a:noFill/>
          <a:ln/>
        </p:spPr>
        <p:txBody>
          <a:bodyPr wrap="square" rtlCol="0" anchor="ctr"/>
          <a:lstStyle/>
          <a:p>
            <a:pPr marL="0" indent="0" algn="ctr">
              <a:buNone/>
            </a:pPr>
            <a:r>
              <a:rPr lang="en-US" sz="1800" b="1" dirty="0">
                <a:solidFill>
                  <a:srgbClr val="0F2E2A"/>
                </a:solidFill>
                <a:latin typeface="Calibri" pitchFamily="34" charset="0"/>
                <a:ea typeface="Calibri" pitchFamily="34" charset="-122"/>
                <a:cs typeface="Calibri" pitchFamily="34" charset="-120"/>
              </a:rPr>
              <a:t>Blocked</a:t>
            </a:r>
            <a:endParaRPr lang="en-US" sz="1800" dirty="0"/>
          </a:p>
        </p:txBody>
      </p:sp>
      <p:sp>
        <p:nvSpPr>
          <p:cNvPr id="19" name="Text 14"/>
          <p:cNvSpPr/>
          <p:nvPr/>
        </p:nvSpPr>
        <p:spPr>
          <a:xfrm>
            <a:off x="8549640" y="3931920"/>
            <a:ext cx="2880360" cy="1005840"/>
          </a:xfrm>
          <a:prstGeom prst="rect">
            <a:avLst/>
          </a:prstGeom>
          <a:noFill/>
          <a:ln/>
        </p:spPr>
        <p:txBody>
          <a:bodyPr wrap="square" rtlCol="0" anchor="ctr"/>
          <a:lstStyle/>
          <a:p>
            <a:pPr marL="0" indent="0" algn="ctr">
              <a:lnSpc>
                <a:spcPts val="1600"/>
              </a:lnSpc>
              <a:buNone/>
            </a:pPr>
            <a:r>
              <a:rPr lang="en-US" sz="1150" dirty="0">
                <a:solidFill>
                  <a:srgbClr val="5C7A75"/>
                </a:solidFill>
                <a:latin typeface="Calibri" pitchFamily="34" charset="0"/>
                <a:ea typeface="Calibri" pitchFamily="34" charset="-122"/>
                <a:cs typeface="Calibri" pitchFamily="34" charset="-120"/>
              </a:rPr>
              <a:t>Intentionally unavailable — lunch, meetings, emergencies.</a:t>
            </a:r>
            <a:endParaRPr lang="en-US" sz="1150" dirty="0"/>
          </a:p>
        </p:txBody>
      </p:sp>
      <p:sp>
        <p:nvSpPr>
          <p:cNvPr id="20" name="Shape 15"/>
          <p:cNvSpPr/>
          <p:nvPr/>
        </p:nvSpPr>
        <p:spPr>
          <a:xfrm>
            <a:off x="548640" y="5349240"/>
            <a:ext cx="11064240" cy="914400"/>
          </a:xfrm>
          <a:prstGeom prst="roundRect">
            <a:avLst>
              <a:gd name="adj" fmla="val 12000"/>
            </a:avLst>
          </a:prstGeom>
          <a:solidFill>
            <a:srgbClr val="0E3D39"/>
          </a:solidFill>
          <a:ln/>
          <a:effectLst>
            <a:outerShdw blurRad="114300" dist="38100" dir="5400000" algn="bl" rotWithShape="0">
              <a:srgbClr val="1B4B45">
                <a:alpha val="18000"/>
              </a:srgbClr>
            </a:outerShdw>
          </a:effectLst>
        </p:spPr>
      </p:sp>
      <p:pic>
        <p:nvPicPr>
          <p:cNvPr id="21" name="Image 3" descr="/home/claude/booking_ppt/icons/check_mint.png"/>
          <p:cNvPicPr>
            <a:picLocks noChangeAspect="1"/>
          </p:cNvPicPr>
          <p:nvPr/>
        </p:nvPicPr>
        <p:blipFill>
          <a:blip r:embed="rId6"/>
          <a:stretch>
            <a:fillRect/>
          </a:stretch>
        </p:blipFill>
        <p:spPr>
          <a:xfrm>
            <a:off x="822960" y="5577840"/>
            <a:ext cx="411480" cy="411480"/>
          </a:xfrm>
          <a:prstGeom prst="rect">
            <a:avLst/>
          </a:prstGeom>
        </p:spPr>
      </p:pic>
      <p:sp>
        <p:nvSpPr>
          <p:cNvPr id="22" name="Text 16"/>
          <p:cNvSpPr/>
          <p:nvPr/>
        </p:nvSpPr>
        <p:spPr>
          <a:xfrm>
            <a:off x="1371600" y="5349240"/>
            <a:ext cx="9966960" cy="914400"/>
          </a:xfrm>
          <a:prstGeom prst="rect">
            <a:avLst/>
          </a:prstGeom>
          <a:noFill/>
          <a:ln/>
        </p:spPr>
        <p:txBody>
          <a:bodyPr wrap="square" rtlCol="0" anchor="ctr"/>
          <a:lstStyle/>
          <a:p>
            <a:pPr marL="0" indent="0">
              <a:buNone/>
            </a:pPr>
            <a:r>
              <a:rPr lang="en-US" sz="1300" dirty="0">
                <a:solidFill>
                  <a:srgbClr val="E4FBF7"/>
                </a:solidFill>
                <a:latin typeface="Calibri" pitchFamily="34" charset="0"/>
                <a:ea typeface="Calibri" pitchFamily="34" charset="-122"/>
                <a:cs typeface="Calibri" pitchFamily="34" charset="-120"/>
              </a:rPr>
              <a:t>A blocked slot is never deleted — it's just marked, and can be unblocked back to Available whenever it's needed again.</a:t>
            </a:r>
            <a:endParaRPr lang="en-US" sz="1300" dirty="0"/>
          </a:p>
        </p:txBody>
      </p:sp>
      <p:sp>
        <p:nvSpPr>
          <p:cNvPr id="23" name="Text 17"/>
          <p:cNvSpPr/>
          <p:nvPr/>
        </p:nvSpPr>
        <p:spPr>
          <a:xfrm>
            <a:off x="457200" y="6519672"/>
            <a:ext cx="7315200" cy="274320"/>
          </a:xfrm>
          <a:prstGeom prst="rect">
            <a:avLst/>
          </a:prstGeom>
          <a:noFill/>
          <a:ln/>
        </p:spPr>
        <p:txBody>
          <a:bodyPr wrap="square" rtlCol="0" anchor="ctr"/>
          <a:lstStyle/>
          <a:p>
            <a:pPr marL="0" indent="0">
              <a:buNone/>
            </a:pPr>
            <a:r>
              <a:rPr lang="en-US" sz="900" kern="0" spc="100" dirty="0">
                <a:solidFill>
                  <a:srgbClr val="5C7A75"/>
                </a:solidFill>
                <a:latin typeface="Calibri" pitchFamily="34" charset="0"/>
                <a:ea typeface="Calibri" pitchFamily="34" charset="-122"/>
                <a:cs typeface="Calibri" pitchFamily="34" charset="-120"/>
              </a:rPr>
              <a:t>DOCTOR APPOINTMENT BOOKING SYSTEM  ·  PROJECT PLANNING</a:t>
            </a:r>
            <a:endParaRPr lang="en-US" sz="900" dirty="0"/>
          </a:p>
        </p:txBody>
      </p:sp>
      <p:sp>
        <p:nvSpPr>
          <p:cNvPr id="24" name="Text 18"/>
          <p:cNvSpPr/>
          <p:nvPr/>
        </p:nvSpPr>
        <p:spPr>
          <a:xfrm>
            <a:off x="11338560" y="6519672"/>
            <a:ext cx="457200" cy="274320"/>
          </a:xfrm>
          <a:prstGeom prst="rect">
            <a:avLst/>
          </a:prstGeom>
          <a:noFill/>
          <a:ln/>
        </p:spPr>
        <p:txBody>
          <a:bodyPr wrap="square" rtlCol="0" anchor="ctr"/>
          <a:lstStyle/>
          <a:p>
            <a:pPr marL="0" indent="0" algn="r">
              <a:buNone/>
            </a:pPr>
            <a:r>
              <a:rPr lang="en-US" sz="900" dirty="0">
                <a:solidFill>
                  <a:srgbClr val="5C7A75"/>
                </a:solidFill>
                <a:latin typeface="Calibri" pitchFamily="34" charset="0"/>
                <a:ea typeface="Calibri" pitchFamily="34" charset="-122"/>
                <a:cs typeface="Calibri" pitchFamily="34" charset="-120"/>
              </a:rPr>
              <a:t>10</a:t>
            </a:r>
            <a:endParaRPr lang="en-US" sz="9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BFA"/>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47472"/>
          </a:xfrm>
          <a:prstGeom prst="roundRect">
            <a:avLst>
              <a:gd name="adj" fmla="val 50000"/>
            </a:avLst>
          </a:prstGeom>
          <a:solidFill>
            <a:srgbClr val="E4F5F2"/>
          </a:solidFill>
          <a:ln/>
        </p:spPr>
      </p:sp>
      <p:sp>
        <p:nvSpPr>
          <p:cNvPr id="3" name="Text 1"/>
          <p:cNvSpPr/>
          <p:nvPr/>
        </p:nvSpPr>
        <p:spPr>
          <a:xfrm>
            <a:off x="548640" y="457200"/>
            <a:ext cx="3291840" cy="347472"/>
          </a:xfrm>
          <a:prstGeom prst="rect">
            <a:avLst/>
          </a:prstGeom>
          <a:noFill/>
          <a:ln/>
        </p:spPr>
        <p:txBody>
          <a:bodyPr wrap="square" rtlCol="0" anchor="ctr"/>
          <a:lstStyle/>
          <a:p>
            <a:pPr marL="0" indent="0" algn="ctr">
              <a:buNone/>
            </a:pPr>
            <a:r>
              <a:rPr lang="en-US" sz="1150" b="1" kern="0" spc="200" dirty="0">
                <a:solidFill>
                  <a:srgbClr val="028090"/>
                </a:solidFill>
                <a:latin typeface="Calibri" pitchFamily="34" charset="0"/>
                <a:ea typeface="Calibri" pitchFamily="34" charset="-122"/>
                <a:cs typeface="Calibri" pitchFamily="34" charset="-120"/>
              </a:rPr>
              <a:t>BUSINESS RULES</a:t>
            </a:r>
            <a:endParaRPr lang="en-US" sz="1150" dirty="0"/>
          </a:p>
        </p:txBody>
      </p:sp>
      <p:sp>
        <p:nvSpPr>
          <p:cNvPr id="4" name="Text 2"/>
          <p:cNvSpPr/>
          <p:nvPr/>
        </p:nvSpPr>
        <p:spPr>
          <a:xfrm>
            <a:off x="548640" y="896112"/>
            <a:ext cx="10515600" cy="822960"/>
          </a:xfrm>
          <a:prstGeom prst="rect">
            <a:avLst/>
          </a:prstGeom>
          <a:noFill/>
          <a:ln/>
        </p:spPr>
        <p:txBody>
          <a:bodyPr wrap="square" rtlCol="0" anchor="ctr"/>
          <a:lstStyle/>
          <a:p>
            <a:pPr marL="0" indent="0" algn="l">
              <a:buNone/>
            </a:pPr>
            <a:r>
              <a:rPr lang="en-US" sz="3200" b="1" dirty="0">
                <a:solidFill>
                  <a:srgbClr val="0F2E2A"/>
                </a:solidFill>
                <a:latin typeface="Century Schoolbook" pitchFamily="34" charset="0"/>
                <a:ea typeface="Century Schoolbook" pitchFamily="34" charset="-122"/>
                <a:cs typeface="Century Schoolbook" pitchFamily="34" charset="-120"/>
              </a:rPr>
              <a:t>The Rule That Matters Most</a:t>
            </a:r>
            <a:endParaRPr lang="en-US" sz="3200" dirty="0"/>
          </a:p>
        </p:txBody>
      </p:sp>
      <p:sp>
        <p:nvSpPr>
          <p:cNvPr id="5" name="Shape 3"/>
          <p:cNvSpPr/>
          <p:nvPr/>
        </p:nvSpPr>
        <p:spPr>
          <a:xfrm>
            <a:off x="548640" y="1691640"/>
            <a:ext cx="11064240" cy="1234440"/>
          </a:xfrm>
          <a:prstGeom prst="roundRect">
            <a:avLst>
              <a:gd name="adj" fmla="val 8889"/>
            </a:avLst>
          </a:prstGeom>
          <a:solidFill>
            <a:srgbClr val="028090"/>
          </a:solidFill>
          <a:ln/>
          <a:effectLst>
            <a:outerShdw blurRad="114300" dist="38100" dir="5400000" algn="bl" rotWithShape="0">
              <a:srgbClr val="1B4B45">
                <a:alpha val="18000"/>
              </a:srgbClr>
            </a:outerShdw>
          </a:effectLst>
        </p:spPr>
      </p:sp>
      <p:sp>
        <p:nvSpPr>
          <p:cNvPr id="6" name="Shape 4"/>
          <p:cNvSpPr/>
          <p:nvPr/>
        </p:nvSpPr>
        <p:spPr>
          <a:xfrm>
            <a:off x="868680" y="1965960"/>
            <a:ext cx="685800" cy="685800"/>
          </a:xfrm>
          <a:prstGeom prst="ellipse">
            <a:avLst/>
          </a:prstGeom>
          <a:solidFill>
            <a:srgbClr val="FFFFFF"/>
          </a:solidFill>
          <a:ln/>
        </p:spPr>
      </p:sp>
      <p:pic>
        <p:nvPicPr>
          <p:cNvPr id="7" name="Image 0" descr="/home/claude/booking_ppt/icons/warning_teal.png"/>
          <p:cNvPicPr>
            <a:picLocks noChangeAspect="1"/>
          </p:cNvPicPr>
          <p:nvPr/>
        </p:nvPicPr>
        <p:blipFill>
          <a:blip r:embed="rId3"/>
          <a:stretch>
            <a:fillRect/>
          </a:stretch>
        </p:blipFill>
        <p:spPr>
          <a:xfrm>
            <a:off x="957834" y="2055114"/>
            <a:ext cx="507492" cy="507492"/>
          </a:xfrm>
          <a:prstGeom prst="rect">
            <a:avLst/>
          </a:prstGeom>
        </p:spPr>
      </p:pic>
      <p:sp>
        <p:nvSpPr>
          <p:cNvPr id="8" name="Text 5"/>
          <p:cNvSpPr/>
          <p:nvPr/>
        </p:nvSpPr>
        <p:spPr>
          <a:xfrm>
            <a:off x="1737360" y="1691640"/>
            <a:ext cx="9601200" cy="1234440"/>
          </a:xfrm>
          <a:prstGeom prst="rect">
            <a:avLst/>
          </a:prstGeom>
          <a:noFill/>
          <a:ln/>
        </p:spPr>
        <p:txBody>
          <a:bodyPr wrap="square" rtlCol="0" anchor="ctr"/>
          <a:lstStyle/>
          <a:p>
            <a:pPr marL="0" indent="0">
              <a:buNone/>
            </a:pPr>
            <a:r>
              <a:rPr lang="en-US" sz="1800" b="1" dirty="0">
                <a:solidFill>
                  <a:srgbClr val="FFFFFF"/>
                </a:solidFill>
                <a:latin typeface="Century Schoolbook" pitchFamily="34" charset="0"/>
                <a:ea typeface="Century Schoolbook" pitchFamily="34" charset="-122"/>
                <a:cs typeface="Century Schoolbook" pitchFamily="34" charset="-120"/>
              </a:rPr>
              <a:t>A doctor can never hold two active appointments at the same date and time.</a:t>
            </a:r>
            <a:endParaRPr lang="en-US" sz="1800" dirty="0"/>
          </a:p>
        </p:txBody>
      </p:sp>
      <p:sp>
        <p:nvSpPr>
          <p:cNvPr id="9" name="Shape 6"/>
          <p:cNvSpPr/>
          <p:nvPr/>
        </p:nvSpPr>
        <p:spPr>
          <a:xfrm>
            <a:off x="548640" y="3246120"/>
            <a:ext cx="5349240" cy="777240"/>
          </a:xfrm>
          <a:prstGeom prst="roundRect">
            <a:avLst>
              <a:gd name="adj" fmla="val 11765"/>
            </a:avLst>
          </a:prstGeom>
          <a:solidFill>
            <a:srgbClr val="FFFFFF"/>
          </a:solidFill>
          <a:ln/>
          <a:effectLst>
            <a:outerShdw blurRad="114300" dist="38100" dir="5400000" algn="bl" rotWithShape="0">
              <a:srgbClr val="1B4B45">
                <a:alpha val="18000"/>
              </a:srgbClr>
            </a:outerShdw>
          </a:effectLst>
        </p:spPr>
      </p:sp>
      <p:sp>
        <p:nvSpPr>
          <p:cNvPr id="10" name="Shape 7"/>
          <p:cNvSpPr/>
          <p:nvPr/>
        </p:nvSpPr>
        <p:spPr>
          <a:xfrm>
            <a:off x="694944" y="3433572"/>
            <a:ext cx="402336" cy="402336"/>
          </a:xfrm>
          <a:prstGeom prst="ellipse">
            <a:avLst/>
          </a:prstGeom>
          <a:solidFill>
            <a:srgbClr val="00A896"/>
          </a:solidFill>
          <a:ln/>
        </p:spPr>
      </p:sp>
      <p:pic>
        <p:nvPicPr>
          <p:cNvPr id="11" name="Image 1" descr="/home/claude/booking_ppt/icons/shield_white.png"/>
          <p:cNvPicPr>
            <a:picLocks noChangeAspect="1"/>
          </p:cNvPicPr>
          <p:nvPr/>
        </p:nvPicPr>
        <p:blipFill>
          <a:blip r:embed="rId4"/>
          <a:stretch>
            <a:fillRect/>
          </a:stretch>
        </p:blipFill>
        <p:spPr>
          <a:xfrm>
            <a:off x="747248" y="3485876"/>
            <a:ext cx="297729" cy="297729"/>
          </a:xfrm>
          <a:prstGeom prst="rect">
            <a:avLst/>
          </a:prstGeom>
        </p:spPr>
      </p:pic>
      <p:sp>
        <p:nvSpPr>
          <p:cNvPr id="12" name="Text 8"/>
          <p:cNvSpPr/>
          <p:nvPr/>
        </p:nvSpPr>
        <p:spPr>
          <a:xfrm>
            <a:off x="1234440" y="3246120"/>
            <a:ext cx="4480560" cy="777240"/>
          </a:xfrm>
          <a:prstGeom prst="rect">
            <a:avLst/>
          </a:prstGeom>
          <a:noFill/>
          <a:ln/>
        </p:spPr>
        <p:txBody>
          <a:bodyPr wrap="square" rtlCol="0" anchor="ctr"/>
          <a:lstStyle/>
          <a:p>
            <a:pPr marL="0" indent="0">
              <a:lnSpc>
                <a:spcPts val="1400"/>
              </a:lnSpc>
              <a:buNone/>
            </a:pPr>
            <a:r>
              <a:rPr lang="en-US" sz="1150" dirty="0">
                <a:solidFill>
                  <a:srgbClr val="0F2E2A"/>
                </a:solidFill>
                <a:latin typeface="Calibri" pitchFamily="34" charset="0"/>
                <a:ea typeface="Calibri" pitchFamily="34" charset="-122"/>
                <a:cs typeface="Calibri" pitchFamily="34" charset="-120"/>
              </a:rPr>
              <a:t>Appointments only use times from the doctor's generated schedule</a:t>
            </a:r>
            <a:endParaRPr lang="en-US" sz="1150" dirty="0"/>
          </a:p>
        </p:txBody>
      </p:sp>
      <p:sp>
        <p:nvSpPr>
          <p:cNvPr id="13" name="Shape 9"/>
          <p:cNvSpPr/>
          <p:nvPr/>
        </p:nvSpPr>
        <p:spPr>
          <a:xfrm>
            <a:off x="6400800" y="3246120"/>
            <a:ext cx="5349240" cy="777240"/>
          </a:xfrm>
          <a:prstGeom prst="roundRect">
            <a:avLst>
              <a:gd name="adj" fmla="val 11765"/>
            </a:avLst>
          </a:prstGeom>
          <a:solidFill>
            <a:srgbClr val="FFFFFF"/>
          </a:solidFill>
          <a:ln/>
          <a:effectLst>
            <a:outerShdw blurRad="114300" dist="38100" dir="5400000" algn="bl" rotWithShape="0">
              <a:srgbClr val="1B4B45">
                <a:alpha val="18000"/>
              </a:srgbClr>
            </a:outerShdw>
          </a:effectLst>
        </p:spPr>
      </p:sp>
      <p:sp>
        <p:nvSpPr>
          <p:cNvPr id="14" name="Shape 10"/>
          <p:cNvSpPr/>
          <p:nvPr/>
        </p:nvSpPr>
        <p:spPr>
          <a:xfrm>
            <a:off x="6547104" y="3433572"/>
            <a:ext cx="402336" cy="402336"/>
          </a:xfrm>
          <a:prstGeom prst="ellipse">
            <a:avLst/>
          </a:prstGeom>
          <a:solidFill>
            <a:srgbClr val="00A896"/>
          </a:solidFill>
          <a:ln/>
        </p:spPr>
      </p:sp>
      <p:pic>
        <p:nvPicPr>
          <p:cNvPr id="15" name="Image 2" descr="/home/claude/booking_ppt/icons/shield_white.png"/>
          <p:cNvPicPr>
            <a:picLocks noChangeAspect="1"/>
          </p:cNvPicPr>
          <p:nvPr/>
        </p:nvPicPr>
        <p:blipFill>
          <a:blip r:embed="rId4"/>
          <a:stretch>
            <a:fillRect/>
          </a:stretch>
        </p:blipFill>
        <p:spPr>
          <a:xfrm>
            <a:off x="6599408" y="3485876"/>
            <a:ext cx="297729" cy="297729"/>
          </a:xfrm>
          <a:prstGeom prst="rect">
            <a:avLst/>
          </a:prstGeom>
        </p:spPr>
      </p:pic>
      <p:sp>
        <p:nvSpPr>
          <p:cNvPr id="16" name="Text 11"/>
          <p:cNvSpPr/>
          <p:nvPr/>
        </p:nvSpPr>
        <p:spPr>
          <a:xfrm>
            <a:off x="7086600" y="3246120"/>
            <a:ext cx="4480560" cy="777240"/>
          </a:xfrm>
          <a:prstGeom prst="rect">
            <a:avLst/>
          </a:prstGeom>
          <a:noFill/>
          <a:ln/>
        </p:spPr>
        <p:txBody>
          <a:bodyPr wrap="square" rtlCol="0" anchor="ctr"/>
          <a:lstStyle/>
          <a:p>
            <a:pPr marL="0" indent="0">
              <a:lnSpc>
                <a:spcPts val="1400"/>
              </a:lnSpc>
              <a:buNone/>
            </a:pPr>
            <a:r>
              <a:rPr lang="en-US" sz="1150" dirty="0">
                <a:solidFill>
                  <a:srgbClr val="0F2E2A"/>
                </a:solidFill>
                <a:latin typeface="Calibri" pitchFamily="34" charset="0"/>
                <a:ea typeface="Calibri" pitchFamily="34" charset="-122"/>
                <a:cs typeface="Calibri" pitchFamily="34" charset="-120"/>
              </a:rPr>
              <a:t>A blocked slot can't be booked; a cancelled slot frees up again</a:t>
            </a:r>
            <a:endParaRPr lang="en-US" sz="1150" dirty="0"/>
          </a:p>
        </p:txBody>
      </p:sp>
      <p:sp>
        <p:nvSpPr>
          <p:cNvPr id="17" name="Shape 12"/>
          <p:cNvSpPr/>
          <p:nvPr/>
        </p:nvSpPr>
        <p:spPr>
          <a:xfrm>
            <a:off x="548640" y="4187952"/>
            <a:ext cx="5349240" cy="777240"/>
          </a:xfrm>
          <a:prstGeom prst="roundRect">
            <a:avLst>
              <a:gd name="adj" fmla="val 11765"/>
            </a:avLst>
          </a:prstGeom>
          <a:solidFill>
            <a:srgbClr val="FFFFFF"/>
          </a:solidFill>
          <a:ln/>
          <a:effectLst>
            <a:outerShdw blurRad="114300" dist="38100" dir="5400000" algn="bl" rotWithShape="0">
              <a:srgbClr val="1B4B45">
                <a:alpha val="18000"/>
              </a:srgbClr>
            </a:outerShdw>
          </a:effectLst>
        </p:spPr>
      </p:sp>
      <p:sp>
        <p:nvSpPr>
          <p:cNvPr id="18" name="Shape 13"/>
          <p:cNvSpPr/>
          <p:nvPr/>
        </p:nvSpPr>
        <p:spPr>
          <a:xfrm>
            <a:off x="694944" y="4375404"/>
            <a:ext cx="402336" cy="402336"/>
          </a:xfrm>
          <a:prstGeom prst="ellipse">
            <a:avLst/>
          </a:prstGeom>
          <a:solidFill>
            <a:srgbClr val="00A896"/>
          </a:solidFill>
          <a:ln/>
        </p:spPr>
      </p:sp>
      <p:pic>
        <p:nvPicPr>
          <p:cNvPr id="19" name="Image 3" descr="/home/claude/booking_ppt/icons/shield_white.png"/>
          <p:cNvPicPr>
            <a:picLocks noChangeAspect="1"/>
          </p:cNvPicPr>
          <p:nvPr/>
        </p:nvPicPr>
        <p:blipFill>
          <a:blip r:embed="rId4"/>
          <a:stretch>
            <a:fillRect/>
          </a:stretch>
        </p:blipFill>
        <p:spPr>
          <a:xfrm>
            <a:off x="747248" y="4427708"/>
            <a:ext cx="297729" cy="297729"/>
          </a:xfrm>
          <a:prstGeom prst="rect">
            <a:avLst/>
          </a:prstGeom>
        </p:spPr>
      </p:pic>
      <p:sp>
        <p:nvSpPr>
          <p:cNvPr id="20" name="Text 14"/>
          <p:cNvSpPr/>
          <p:nvPr/>
        </p:nvSpPr>
        <p:spPr>
          <a:xfrm>
            <a:off x="1234440" y="4187952"/>
            <a:ext cx="4480560" cy="777240"/>
          </a:xfrm>
          <a:prstGeom prst="rect">
            <a:avLst/>
          </a:prstGeom>
          <a:noFill/>
          <a:ln/>
        </p:spPr>
        <p:txBody>
          <a:bodyPr wrap="square" rtlCol="0" anchor="ctr"/>
          <a:lstStyle/>
          <a:p>
            <a:pPr marL="0" indent="0">
              <a:lnSpc>
                <a:spcPts val="1400"/>
              </a:lnSpc>
              <a:buNone/>
            </a:pPr>
            <a:r>
              <a:rPr lang="en-US" sz="1150" dirty="0">
                <a:solidFill>
                  <a:srgbClr val="0F2E2A"/>
                </a:solidFill>
                <a:latin typeface="Calibri" pitchFamily="34" charset="0"/>
                <a:ea typeface="Calibri" pitchFamily="34" charset="-122"/>
                <a:cs typeface="Calibri" pitchFamily="34" charset="-120"/>
              </a:rPr>
              <a:t>Doctor and patient must already exist before an appointment is made</a:t>
            </a:r>
            <a:endParaRPr lang="en-US" sz="1150" dirty="0"/>
          </a:p>
        </p:txBody>
      </p:sp>
      <p:sp>
        <p:nvSpPr>
          <p:cNvPr id="21" name="Shape 15"/>
          <p:cNvSpPr/>
          <p:nvPr/>
        </p:nvSpPr>
        <p:spPr>
          <a:xfrm>
            <a:off x="6400800" y="4187952"/>
            <a:ext cx="5349240" cy="777240"/>
          </a:xfrm>
          <a:prstGeom prst="roundRect">
            <a:avLst>
              <a:gd name="adj" fmla="val 11765"/>
            </a:avLst>
          </a:prstGeom>
          <a:solidFill>
            <a:srgbClr val="FFFFFF"/>
          </a:solidFill>
          <a:ln/>
          <a:effectLst>
            <a:outerShdw blurRad="114300" dist="38100" dir="5400000" algn="bl" rotWithShape="0">
              <a:srgbClr val="1B4B45">
                <a:alpha val="18000"/>
              </a:srgbClr>
            </a:outerShdw>
          </a:effectLst>
        </p:spPr>
      </p:sp>
      <p:sp>
        <p:nvSpPr>
          <p:cNvPr id="22" name="Shape 16"/>
          <p:cNvSpPr/>
          <p:nvPr/>
        </p:nvSpPr>
        <p:spPr>
          <a:xfrm>
            <a:off x="6547104" y="4375404"/>
            <a:ext cx="402336" cy="402336"/>
          </a:xfrm>
          <a:prstGeom prst="ellipse">
            <a:avLst/>
          </a:prstGeom>
          <a:solidFill>
            <a:srgbClr val="00A896"/>
          </a:solidFill>
          <a:ln/>
        </p:spPr>
      </p:sp>
      <p:pic>
        <p:nvPicPr>
          <p:cNvPr id="23" name="Image 4" descr="/home/claude/booking_ppt/icons/shield_white.png"/>
          <p:cNvPicPr>
            <a:picLocks noChangeAspect="1"/>
          </p:cNvPicPr>
          <p:nvPr/>
        </p:nvPicPr>
        <p:blipFill>
          <a:blip r:embed="rId4"/>
          <a:stretch>
            <a:fillRect/>
          </a:stretch>
        </p:blipFill>
        <p:spPr>
          <a:xfrm>
            <a:off x="6599408" y="4427708"/>
            <a:ext cx="297729" cy="297729"/>
          </a:xfrm>
          <a:prstGeom prst="rect">
            <a:avLst/>
          </a:prstGeom>
        </p:spPr>
      </p:pic>
      <p:sp>
        <p:nvSpPr>
          <p:cNvPr id="24" name="Text 17"/>
          <p:cNvSpPr/>
          <p:nvPr/>
        </p:nvSpPr>
        <p:spPr>
          <a:xfrm>
            <a:off x="7086600" y="4187952"/>
            <a:ext cx="4480560" cy="777240"/>
          </a:xfrm>
          <a:prstGeom prst="rect">
            <a:avLst/>
          </a:prstGeom>
          <a:noFill/>
          <a:ln/>
        </p:spPr>
        <p:txBody>
          <a:bodyPr wrap="square" rtlCol="0" anchor="ctr"/>
          <a:lstStyle/>
          <a:p>
            <a:pPr marL="0" indent="0">
              <a:lnSpc>
                <a:spcPts val="1400"/>
              </a:lnSpc>
              <a:buNone/>
            </a:pPr>
            <a:r>
              <a:rPr lang="en-US" sz="1150" dirty="0">
                <a:solidFill>
                  <a:srgbClr val="0F2E2A"/>
                </a:solidFill>
                <a:latin typeface="Calibri" pitchFamily="34" charset="0"/>
                <a:ea typeface="Calibri" pitchFamily="34" charset="-122"/>
                <a:cs typeface="Calibri" pitchFamily="34" charset="-120"/>
              </a:rPr>
              <a:t>Past dates are rejected for new appointments</a:t>
            </a:r>
            <a:endParaRPr lang="en-US" sz="1150" dirty="0"/>
          </a:p>
        </p:txBody>
      </p:sp>
      <p:sp>
        <p:nvSpPr>
          <p:cNvPr id="25" name="Shape 18"/>
          <p:cNvSpPr/>
          <p:nvPr/>
        </p:nvSpPr>
        <p:spPr>
          <a:xfrm>
            <a:off x="548640" y="5129784"/>
            <a:ext cx="5349240" cy="777240"/>
          </a:xfrm>
          <a:prstGeom prst="roundRect">
            <a:avLst>
              <a:gd name="adj" fmla="val 11765"/>
            </a:avLst>
          </a:prstGeom>
          <a:solidFill>
            <a:srgbClr val="FFFFFF"/>
          </a:solidFill>
          <a:ln/>
          <a:effectLst>
            <a:outerShdw blurRad="114300" dist="38100" dir="5400000" algn="bl" rotWithShape="0">
              <a:srgbClr val="1B4B45">
                <a:alpha val="18000"/>
              </a:srgbClr>
            </a:outerShdw>
          </a:effectLst>
        </p:spPr>
      </p:sp>
      <p:sp>
        <p:nvSpPr>
          <p:cNvPr id="26" name="Shape 19"/>
          <p:cNvSpPr/>
          <p:nvPr/>
        </p:nvSpPr>
        <p:spPr>
          <a:xfrm>
            <a:off x="694944" y="5317236"/>
            <a:ext cx="402336" cy="402336"/>
          </a:xfrm>
          <a:prstGeom prst="ellipse">
            <a:avLst/>
          </a:prstGeom>
          <a:solidFill>
            <a:srgbClr val="00A896"/>
          </a:solidFill>
          <a:ln/>
        </p:spPr>
      </p:sp>
      <p:pic>
        <p:nvPicPr>
          <p:cNvPr id="27" name="Image 5" descr="/home/claude/booking_ppt/icons/shield_white.png"/>
          <p:cNvPicPr>
            <a:picLocks noChangeAspect="1"/>
          </p:cNvPicPr>
          <p:nvPr/>
        </p:nvPicPr>
        <p:blipFill>
          <a:blip r:embed="rId4"/>
          <a:stretch>
            <a:fillRect/>
          </a:stretch>
        </p:blipFill>
        <p:spPr>
          <a:xfrm>
            <a:off x="747248" y="5369540"/>
            <a:ext cx="297729" cy="297729"/>
          </a:xfrm>
          <a:prstGeom prst="rect">
            <a:avLst/>
          </a:prstGeom>
        </p:spPr>
      </p:pic>
      <p:sp>
        <p:nvSpPr>
          <p:cNvPr id="28" name="Text 20"/>
          <p:cNvSpPr/>
          <p:nvPr/>
        </p:nvSpPr>
        <p:spPr>
          <a:xfrm>
            <a:off x="1234440" y="5129784"/>
            <a:ext cx="4480560" cy="777240"/>
          </a:xfrm>
          <a:prstGeom prst="rect">
            <a:avLst/>
          </a:prstGeom>
          <a:noFill/>
          <a:ln/>
        </p:spPr>
        <p:txBody>
          <a:bodyPr wrap="square" rtlCol="0" anchor="ctr"/>
          <a:lstStyle/>
          <a:p>
            <a:pPr marL="0" indent="0">
              <a:lnSpc>
                <a:spcPts val="1400"/>
              </a:lnSpc>
              <a:buNone/>
            </a:pPr>
            <a:r>
              <a:rPr lang="en-US" sz="1150" dirty="0">
                <a:solidFill>
                  <a:srgbClr val="0F2E2A"/>
                </a:solidFill>
                <a:latin typeface="Calibri" pitchFamily="34" charset="0"/>
                <a:ea typeface="Calibri" pitchFamily="34" charset="-122"/>
                <a:cs typeface="Calibri" pitchFamily="34" charset="-120"/>
              </a:rPr>
              <a:t>Cancelled appointments stay in the records — never deleted</a:t>
            </a:r>
            <a:endParaRPr lang="en-US" sz="1150" dirty="0"/>
          </a:p>
        </p:txBody>
      </p:sp>
      <p:sp>
        <p:nvSpPr>
          <p:cNvPr id="29" name="Shape 21"/>
          <p:cNvSpPr/>
          <p:nvPr/>
        </p:nvSpPr>
        <p:spPr>
          <a:xfrm>
            <a:off x="6400800" y="5129784"/>
            <a:ext cx="5349240" cy="777240"/>
          </a:xfrm>
          <a:prstGeom prst="roundRect">
            <a:avLst>
              <a:gd name="adj" fmla="val 11765"/>
            </a:avLst>
          </a:prstGeom>
          <a:solidFill>
            <a:srgbClr val="FFFFFF"/>
          </a:solidFill>
          <a:ln/>
          <a:effectLst>
            <a:outerShdw blurRad="114300" dist="38100" dir="5400000" algn="bl" rotWithShape="0">
              <a:srgbClr val="1B4B45">
                <a:alpha val="18000"/>
              </a:srgbClr>
            </a:outerShdw>
          </a:effectLst>
        </p:spPr>
      </p:sp>
      <p:sp>
        <p:nvSpPr>
          <p:cNvPr id="30" name="Shape 22"/>
          <p:cNvSpPr/>
          <p:nvPr/>
        </p:nvSpPr>
        <p:spPr>
          <a:xfrm>
            <a:off x="6547104" y="5317236"/>
            <a:ext cx="402336" cy="402336"/>
          </a:xfrm>
          <a:prstGeom prst="ellipse">
            <a:avLst/>
          </a:prstGeom>
          <a:solidFill>
            <a:srgbClr val="00A896"/>
          </a:solidFill>
          <a:ln/>
        </p:spPr>
      </p:sp>
      <p:pic>
        <p:nvPicPr>
          <p:cNvPr id="31" name="Image 6" descr="/home/claude/booking_ppt/icons/shield_white.png"/>
          <p:cNvPicPr>
            <a:picLocks noChangeAspect="1"/>
          </p:cNvPicPr>
          <p:nvPr/>
        </p:nvPicPr>
        <p:blipFill>
          <a:blip r:embed="rId4"/>
          <a:stretch>
            <a:fillRect/>
          </a:stretch>
        </p:blipFill>
        <p:spPr>
          <a:xfrm>
            <a:off x="6599408" y="5369540"/>
            <a:ext cx="297729" cy="297729"/>
          </a:xfrm>
          <a:prstGeom prst="rect">
            <a:avLst/>
          </a:prstGeom>
        </p:spPr>
      </p:pic>
      <p:sp>
        <p:nvSpPr>
          <p:cNvPr id="32" name="Text 23"/>
          <p:cNvSpPr/>
          <p:nvPr/>
        </p:nvSpPr>
        <p:spPr>
          <a:xfrm>
            <a:off x="7086600" y="5129784"/>
            <a:ext cx="4480560" cy="777240"/>
          </a:xfrm>
          <a:prstGeom prst="rect">
            <a:avLst/>
          </a:prstGeom>
          <a:noFill/>
          <a:ln/>
        </p:spPr>
        <p:txBody>
          <a:bodyPr wrap="square" rtlCol="0" anchor="ctr"/>
          <a:lstStyle/>
          <a:p>
            <a:pPr marL="0" indent="0">
              <a:lnSpc>
                <a:spcPts val="1400"/>
              </a:lnSpc>
              <a:buNone/>
            </a:pPr>
            <a:r>
              <a:rPr lang="en-US" sz="1150" dirty="0">
                <a:solidFill>
                  <a:srgbClr val="0F2E2A"/>
                </a:solidFill>
                <a:latin typeface="Calibri" pitchFamily="34" charset="0"/>
                <a:ea typeface="Calibri" pitchFamily="34" charset="-122"/>
                <a:cs typeface="Calibri" pitchFamily="34" charset="-120"/>
              </a:rPr>
              <a:t>Every doctor, patient &amp; appointment ID is unique</a:t>
            </a:r>
            <a:endParaRPr lang="en-US" sz="1150" dirty="0"/>
          </a:p>
        </p:txBody>
      </p:sp>
      <p:sp>
        <p:nvSpPr>
          <p:cNvPr id="33" name="Text 24"/>
          <p:cNvSpPr/>
          <p:nvPr/>
        </p:nvSpPr>
        <p:spPr>
          <a:xfrm>
            <a:off x="457200" y="6519672"/>
            <a:ext cx="7315200" cy="274320"/>
          </a:xfrm>
          <a:prstGeom prst="rect">
            <a:avLst/>
          </a:prstGeom>
          <a:noFill/>
          <a:ln/>
        </p:spPr>
        <p:txBody>
          <a:bodyPr wrap="square" rtlCol="0" anchor="ctr"/>
          <a:lstStyle/>
          <a:p>
            <a:pPr marL="0" indent="0">
              <a:buNone/>
            </a:pPr>
            <a:r>
              <a:rPr lang="en-US" sz="900" kern="0" spc="100" dirty="0">
                <a:solidFill>
                  <a:srgbClr val="5C7A75"/>
                </a:solidFill>
                <a:latin typeface="Calibri" pitchFamily="34" charset="0"/>
                <a:ea typeface="Calibri" pitchFamily="34" charset="-122"/>
                <a:cs typeface="Calibri" pitchFamily="34" charset="-120"/>
              </a:rPr>
              <a:t>DOCTOR APPOINTMENT BOOKING SYSTEM  ·  PROJECT PLANNING</a:t>
            </a:r>
            <a:endParaRPr lang="en-US" sz="900" dirty="0"/>
          </a:p>
        </p:txBody>
      </p:sp>
      <p:sp>
        <p:nvSpPr>
          <p:cNvPr id="34" name="Text 25"/>
          <p:cNvSpPr/>
          <p:nvPr/>
        </p:nvSpPr>
        <p:spPr>
          <a:xfrm>
            <a:off x="11338560" y="6519672"/>
            <a:ext cx="457200" cy="274320"/>
          </a:xfrm>
          <a:prstGeom prst="rect">
            <a:avLst/>
          </a:prstGeom>
          <a:noFill/>
          <a:ln/>
        </p:spPr>
        <p:txBody>
          <a:bodyPr wrap="square" rtlCol="0" anchor="ctr"/>
          <a:lstStyle/>
          <a:p>
            <a:pPr marL="0" indent="0" algn="r">
              <a:buNone/>
            </a:pPr>
            <a:r>
              <a:rPr lang="en-US" sz="900" dirty="0">
                <a:solidFill>
                  <a:srgbClr val="5C7A75"/>
                </a:solidFill>
                <a:latin typeface="Calibri" pitchFamily="34" charset="0"/>
                <a:ea typeface="Calibri" pitchFamily="34" charset="-122"/>
                <a:cs typeface="Calibri" pitchFamily="34" charset="-120"/>
              </a:rPr>
              <a:t>11</a:t>
            </a:r>
            <a:endParaRPr lang="en-US" sz="9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BFA"/>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47472"/>
          </a:xfrm>
          <a:prstGeom prst="roundRect">
            <a:avLst>
              <a:gd name="adj" fmla="val 50000"/>
            </a:avLst>
          </a:prstGeom>
          <a:solidFill>
            <a:srgbClr val="E4F5F2"/>
          </a:solidFill>
          <a:ln/>
        </p:spPr>
      </p:sp>
      <p:sp>
        <p:nvSpPr>
          <p:cNvPr id="3" name="Text 1"/>
          <p:cNvSpPr/>
          <p:nvPr/>
        </p:nvSpPr>
        <p:spPr>
          <a:xfrm>
            <a:off x="548640" y="457200"/>
            <a:ext cx="3291840" cy="347472"/>
          </a:xfrm>
          <a:prstGeom prst="rect">
            <a:avLst/>
          </a:prstGeom>
          <a:noFill/>
          <a:ln/>
        </p:spPr>
        <p:txBody>
          <a:bodyPr wrap="square" rtlCol="0" anchor="ctr"/>
          <a:lstStyle/>
          <a:p>
            <a:pPr marL="0" indent="0" algn="ctr">
              <a:buNone/>
            </a:pPr>
            <a:r>
              <a:rPr lang="en-US" sz="1150" b="1" kern="0" spc="200" dirty="0">
                <a:solidFill>
                  <a:srgbClr val="028090"/>
                </a:solidFill>
                <a:latin typeface="Calibri" pitchFamily="34" charset="0"/>
                <a:ea typeface="Calibri" pitchFamily="34" charset="-122"/>
                <a:cs typeface="Calibri" pitchFamily="34" charset="-120"/>
              </a:rPr>
              <a:t>PROJECT STRUCTURE</a:t>
            </a:r>
            <a:endParaRPr lang="en-US" sz="1150" dirty="0"/>
          </a:p>
        </p:txBody>
      </p:sp>
      <p:sp>
        <p:nvSpPr>
          <p:cNvPr id="4" name="Text 2"/>
          <p:cNvSpPr/>
          <p:nvPr/>
        </p:nvSpPr>
        <p:spPr>
          <a:xfrm>
            <a:off x="548640" y="896112"/>
            <a:ext cx="10515600" cy="822960"/>
          </a:xfrm>
          <a:prstGeom prst="rect">
            <a:avLst/>
          </a:prstGeom>
          <a:noFill/>
          <a:ln/>
        </p:spPr>
        <p:txBody>
          <a:bodyPr wrap="square" rtlCol="0" anchor="ctr"/>
          <a:lstStyle/>
          <a:p>
            <a:pPr marL="0" indent="0" algn="l">
              <a:buNone/>
            </a:pPr>
            <a:r>
              <a:rPr lang="en-US" sz="3200" b="1" dirty="0">
                <a:solidFill>
                  <a:srgbClr val="0F2E2A"/>
                </a:solidFill>
                <a:latin typeface="Century Schoolbook" pitchFamily="34" charset="0"/>
                <a:ea typeface="Century Schoolbook" pitchFamily="34" charset="-122"/>
                <a:cs typeface="Century Schoolbook" pitchFamily="34" charset="-120"/>
              </a:rPr>
              <a:t>Small Functions, Not One Giant Menu</a:t>
            </a:r>
            <a:endParaRPr lang="en-US" sz="3200" dirty="0"/>
          </a:p>
        </p:txBody>
      </p:sp>
      <p:sp>
        <p:nvSpPr>
          <p:cNvPr id="5" name="Shape 3"/>
          <p:cNvSpPr/>
          <p:nvPr/>
        </p:nvSpPr>
        <p:spPr>
          <a:xfrm>
            <a:off x="548640" y="1691640"/>
            <a:ext cx="2697480" cy="3794760"/>
          </a:xfrm>
          <a:prstGeom prst="roundRect">
            <a:avLst>
              <a:gd name="adj" fmla="val 4068"/>
            </a:avLst>
          </a:prstGeom>
          <a:solidFill>
            <a:srgbClr val="FFFFFF"/>
          </a:solidFill>
          <a:ln/>
          <a:effectLst>
            <a:outerShdw blurRad="114300" dist="38100" dir="5400000" algn="bl" rotWithShape="0">
              <a:srgbClr val="1B4B45">
                <a:alpha val="18000"/>
              </a:srgbClr>
            </a:outerShdw>
          </a:effectLst>
        </p:spPr>
      </p:sp>
      <p:sp>
        <p:nvSpPr>
          <p:cNvPr id="6" name="Shape 4"/>
          <p:cNvSpPr/>
          <p:nvPr/>
        </p:nvSpPr>
        <p:spPr>
          <a:xfrm>
            <a:off x="749808" y="1892808"/>
            <a:ext cx="502920" cy="502920"/>
          </a:xfrm>
          <a:prstGeom prst="ellipse">
            <a:avLst/>
          </a:prstGeom>
          <a:solidFill>
            <a:srgbClr val="028090"/>
          </a:solidFill>
          <a:ln/>
        </p:spPr>
      </p:sp>
      <p:pic>
        <p:nvPicPr>
          <p:cNvPr id="7" name="Image 0" descr="/home/claude/booking_ppt/icons/doctor_white.png"/>
          <p:cNvPicPr>
            <a:picLocks noChangeAspect="1"/>
          </p:cNvPicPr>
          <p:nvPr/>
        </p:nvPicPr>
        <p:blipFill>
          <a:blip r:embed="rId3"/>
          <a:stretch>
            <a:fillRect/>
          </a:stretch>
        </p:blipFill>
        <p:spPr>
          <a:xfrm>
            <a:off x="815188" y="1958188"/>
            <a:ext cx="372161" cy="372161"/>
          </a:xfrm>
          <a:prstGeom prst="rect">
            <a:avLst/>
          </a:prstGeom>
        </p:spPr>
      </p:pic>
      <p:sp>
        <p:nvSpPr>
          <p:cNvPr id="8" name="Text 5"/>
          <p:cNvSpPr/>
          <p:nvPr/>
        </p:nvSpPr>
        <p:spPr>
          <a:xfrm>
            <a:off x="1353312" y="1911096"/>
            <a:ext cx="1783080" cy="457200"/>
          </a:xfrm>
          <a:prstGeom prst="rect">
            <a:avLst/>
          </a:prstGeom>
          <a:noFill/>
          <a:ln/>
        </p:spPr>
        <p:txBody>
          <a:bodyPr wrap="square" rtlCol="0" anchor="ctr"/>
          <a:lstStyle/>
          <a:p>
            <a:pPr marL="0" indent="0">
              <a:buNone/>
            </a:pPr>
            <a:r>
              <a:rPr lang="en-US" sz="1350" b="1" dirty="0">
                <a:solidFill>
                  <a:srgbClr val="0F2E2A"/>
                </a:solidFill>
                <a:latin typeface="Calibri" pitchFamily="34" charset="0"/>
                <a:ea typeface="Calibri" pitchFamily="34" charset="-122"/>
                <a:cs typeface="Calibri" pitchFamily="34" charset="-120"/>
              </a:rPr>
              <a:t>Doctor</a:t>
            </a:r>
            <a:endParaRPr lang="en-US" sz="1350" dirty="0"/>
          </a:p>
        </p:txBody>
      </p:sp>
      <p:sp>
        <p:nvSpPr>
          <p:cNvPr id="9" name="Text 6"/>
          <p:cNvSpPr/>
          <p:nvPr/>
        </p:nvSpPr>
        <p:spPr>
          <a:xfrm>
            <a:off x="749808" y="2651760"/>
            <a:ext cx="2331720" cy="365760"/>
          </a:xfrm>
          <a:prstGeom prst="rect">
            <a:avLst/>
          </a:prstGeom>
          <a:noFill/>
          <a:ln/>
        </p:spPr>
        <p:txBody>
          <a:bodyPr wrap="square" rtlCol="0" anchor="ctr"/>
          <a:lstStyle/>
          <a:p>
            <a:pPr marL="0" indent="0">
              <a:buNone/>
            </a:pPr>
            <a:r>
              <a:rPr lang="en-US" sz="1000" dirty="0">
                <a:solidFill>
                  <a:srgbClr val="5C7A75"/>
                </a:solidFill>
                <a:latin typeface="Courier New" pitchFamily="34" charset="0"/>
                <a:ea typeface="Courier New" pitchFamily="34" charset="-122"/>
                <a:cs typeface="Courier New" pitchFamily="34" charset="-120"/>
              </a:rPr>
              <a:t>add_doctor()</a:t>
            </a:r>
            <a:endParaRPr lang="en-US" sz="1000" dirty="0"/>
          </a:p>
        </p:txBody>
      </p:sp>
      <p:sp>
        <p:nvSpPr>
          <p:cNvPr id="10" name="Text 7"/>
          <p:cNvSpPr/>
          <p:nvPr/>
        </p:nvSpPr>
        <p:spPr>
          <a:xfrm>
            <a:off x="749808" y="3182112"/>
            <a:ext cx="2331720" cy="365760"/>
          </a:xfrm>
          <a:prstGeom prst="rect">
            <a:avLst/>
          </a:prstGeom>
          <a:noFill/>
          <a:ln/>
        </p:spPr>
        <p:txBody>
          <a:bodyPr wrap="square" rtlCol="0" anchor="ctr"/>
          <a:lstStyle/>
          <a:p>
            <a:pPr marL="0" indent="0">
              <a:buNone/>
            </a:pPr>
            <a:r>
              <a:rPr lang="en-US" sz="1000" dirty="0">
                <a:solidFill>
                  <a:srgbClr val="5C7A75"/>
                </a:solidFill>
                <a:latin typeface="Courier New" pitchFamily="34" charset="0"/>
                <a:ea typeface="Courier New" pitchFamily="34" charset="-122"/>
                <a:cs typeface="Courier New" pitchFamily="34" charset="-120"/>
              </a:rPr>
              <a:t>view_doctor()</a:t>
            </a:r>
            <a:endParaRPr lang="en-US" sz="1000" dirty="0"/>
          </a:p>
        </p:txBody>
      </p:sp>
      <p:sp>
        <p:nvSpPr>
          <p:cNvPr id="11" name="Text 8"/>
          <p:cNvSpPr/>
          <p:nvPr/>
        </p:nvSpPr>
        <p:spPr>
          <a:xfrm>
            <a:off x="749808" y="3712464"/>
            <a:ext cx="2331720" cy="365760"/>
          </a:xfrm>
          <a:prstGeom prst="rect">
            <a:avLst/>
          </a:prstGeom>
          <a:noFill/>
          <a:ln/>
        </p:spPr>
        <p:txBody>
          <a:bodyPr wrap="square" rtlCol="0" anchor="ctr"/>
          <a:lstStyle/>
          <a:p>
            <a:pPr marL="0" indent="0">
              <a:buNone/>
            </a:pPr>
            <a:r>
              <a:rPr lang="en-US" sz="1000" dirty="0">
                <a:solidFill>
                  <a:srgbClr val="5C7A75"/>
                </a:solidFill>
                <a:latin typeface="Courier New" pitchFamily="34" charset="0"/>
                <a:ea typeface="Courier New" pitchFamily="34" charset="-122"/>
                <a:cs typeface="Courier New" pitchFamily="34" charset="-120"/>
              </a:rPr>
              <a:t>doctor_list()</a:t>
            </a:r>
            <a:endParaRPr lang="en-US" sz="1000" dirty="0"/>
          </a:p>
        </p:txBody>
      </p:sp>
      <p:sp>
        <p:nvSpPr>
          <p:cNvPr id="12" name="Text 9"/>
          <p:cNvSpPr/>
          <p:nvPr/>
        </p:nvSpPr>
        <p:spPr>
          <a:xfrm>
            <a:off x="749808" y="4242816"/>
            <a:ext cx="2331720" cy="365760"/>
          </a:xfrm>
          <a:prstGeom prst="rect">
            <a:avLst/>
          </a:prstGeom>
          <a:noFill/>
          <a:ln/>
        </p:spPr>
        <p:txBody>
          <a:bodyPr wrap="square" rtlCol="0" anchor="ctr"/>
          <a:lstStyle/>
          <a:p>
            <a:pPr marL="0" indent="0">
              <a:buNone/>
            </a:pPr>
            <a:r>
              <a:rPr lang="en-US" sz="1000" dirty="0">
                <a:solidFill>
                  <a:srgbClr val="5C7A75"/>
                </a:solidFill>
                <a:latin typeface="Courier New" pitchFamily="34" charset="0"/>
                <a:ea typeface="Courier New" pitchFamily="34" charset="-122"/>
                <a:cs typeface="Courier New" pitchFamily="34" charset="-120"/>
              </a:rPr>
              <a:t>search_doctors()</a:t>
            </a:r>
            <a:endParaRPr lang="en-US" sz="1000" dirty="0"/>
          </a:p>
        </p:txBody>
      </p:sp>
      <p:sp>
        <p:nvSpPr>
          <p:cNvPr id="13" name="Text 10"/>
          <p:cNvSpPr/>
          <p:nvPr/>
        </p:nvSpPr>
        <p:spPr>
          <a:xfrm>
            <a:off x="749808" y="4773168"/>
            <a:ext cx="2331720" cy="365760"/>
          </a:xfrm>
          <a:prstGeom prst="rect">
            <a:avLst/>
          </a:prstGeom>
          <a:noFill/>
          <a:ln/>
        </p:spPr>
        <p:txBody>
          <a:bodyPr wrap="square" rtlCol="0" anchor="ctr"/>
          <a:lstStyle/>
          <a:p>
            <a:pPr marL="0" indent="0">
              <a:buNone/>
            </a:pPr>
            <a:r>
              <a:rPr lang="en-US" sz="1000" dirty="0">
                <a:solidFill>
                  <a:srgbClr val="5C7A75"/>
                </a:solidFill>
                <a:latin typeface="Courier New" pitchFamily="34" charset="0"/>
                <a:ea typeface="Courier New" pitchFamily="34" charset="-122"/>
                <a:cs typeface="Courier New" pitchFamily="34" charset="-120"/>
              </a:rPr>
              <a:t>update_doctor()</a:t>
            </a:r>
            <a:endParaRPr lang="en-US" sz="1000" dirty="0"/>
          </a:p>
        </p:txBody>
      </p:sp>
      <p:sp>
        <p:nvSpPr>
          <p:cNvPr id="14" name="Shape 11"/>
          <p:cNvSpPr/>
          <p:nvPr/>
        </p:nvSpPr>
        <p:spPr>
          <a:xfrm>
            <a:off x="3465576" y="1691640"/>
            <a:ext cx="2697480" cy="3794760"/>
          </a:xfrm>
          <a:prstGeom prst="roundRect">
            <a:avLst>
              <a:gd name="adj" fmla="val 4068"/>
            </a:avLst>
          </a:prstGeom>
          <a:solidFill>
            <a:srgbClr val="FFFFFF"/>
          </a:solidFill>
          <a:ln/>
          <a:effectLst>
            <a:outerShdw blurRad="114300" dist="38100" dir="5400000" algn="bl" rotWithShape="0">
              <a:srgbClr val="1B4B45">
                <a:alpha val="18000"/>
              </a:srgbClr>
            </a:outerShdw>
          </a:effectLst>
        </p:spPr>
      </p:sp>
      <p:sp>
        <p:nvSpPr>
          <p:cNvPr id="15" name="Shape 12"/>
          <p:cNvSpPr/>
          <p:nvPr/>
        </p:nvSpPr>
        <p:spPr>
          <a:xfrm>
            <a:off x="3666744" y="1892808"/>
            <a:ext cx="502920" cy="502920"/>
          </a:xfrm>
          <a:prstGeom prst="ellipse">
            <a:avLst/>
          </a:prstGeom>
          <a:solidFill>
            <a:srgbClr val="00A896"/>
          </a:solidFill>
          <a:ln/>
        </p:spPr>
      </p:sp>
      <p:pic>
        <p:nvPicPr>
          <p:cNvPr id="16" name="Image 1" descr="/home/claude/booking_ppt/icons/patient_white.png"/>
          <p:cNvPicPr>
            <a:picLocks noChangeAspect="1"/>
          </p:cNvPicPr>
          <p:nvPr/>
        </p:nvPicPr>
        <p:blipFill>
          <a:blip r:embed="rId4"/>
          <a:stretch>
            <a:fillRect/>
          </a:stretch>
        </p:blipFill>
        <p:spPr>
          <a:xfrm>
            <a:off x="3732124" y="1958188"/>
            <a:ext cx="372161" cy="372161"/>
          </a:xfrm>
          <a:prstGeom prst="rect">
            <a:avLst/>
          </a:prstGeom>
        </p:spPr>
      </p:pic>
      <p:sp>
        <p:nvSpPr>
          <p:cNvPr id="17" name="Text 13"/>
          <p:cNvSpPr/>
          <p:nvPr/>
        </p:nvSpPr>
        <p:spPr>
          <a:xfrm>
            <a:off x="4270248" y="1911096"/>
            <a:ext cx="1783080" cy="457200"/>
          </a:xfrm>
          <a:prstGeom prst="rect">
            <a:avLst/>
          </a:prstGeom>
          <a:noFill/>
          <a:ln/>
        </p:spPr>
        <p:txBody>
          <a:bodyPr wrap="square" rtlCol="0" anchor="ctr"/>
          <a:lstStyle/>
          <a:p>
            <a:pPr marL="0" indent="0">
              <a:buNone/>
            </a:pPr>
            <a:r>
              <a:rPr lang="en-US" sz="1350" b="1" dirty="0">
                <a:solidFill>
                  <a:srgbClr val="0F2E2A"/>
                </a:solidFill>
                <a:latin typeface="Calibri" pitchFamily="34" charset="0"/>
                <a:ea typeface="Calibri" pitchFamily="34" charset="-122"/>
                <a:cs typeface="Calibri" pitchFamily="34" charset="-120"/>
              </a:rPr>
              <a:t>Patient</a:t>
            </a:r>
            <a:endParaRPr lang="en-US" sz="1350" dirty="0"/>
          </a:p>
        </p:txBody>
      </p:sp>
      <p:sp>
        <p:nvSpPr>
          <p:cNvPr id="18" name="Text 14"/>
          <p:cNvSpPr/>
          <p:nvPr/>
        </p:nvSpPr>
        <p:spPr>
          <a:xfrm>
            <a:off x="3666744" y="2651760"/>
            <a:ext cx="2331720" cy="365760"/>
          </a:xfrm>
          <a:prstGeom prst="rect">
            <a:avLst/>
          </a:prstGeom>
          <a:noFill/>
          <a:ln/>
        </p:spPr>
        <p:txBody>
          <a:bodyPr wrap="square" rtlCol="0" anchor="ctr"/>
          <a:lstStyle/>
          <a:p>
            <a:pPr marL="0" indent="0">
              <a:buNone/>
            </a:pPr>
            <a:r>
              <a:rPr lang="en-US" sz="1000" dirty="0">
                <a:solidFill>
                  <a:srgbClr val="5C7A75"/>
                </a:solidFill>
                <a:latin typeface="Courier New" pitchFamily="34" charset="0"/>
                <a:ea typeface="Courier New" pitchFamily="34" charset="-122"/>
                <a:cs typeface="Courier New" pitchFamily="34" charset="-120"/>
              </a:rPr>
              <a:t>add_patient()</a:t>
            </a:r>
            <a:endParaRPr lang="en-US" sz="1000" dirty="0"/>
          </a:p>
        </p:txBody>
      </p:sp>
      <p:sp>
        <p:nvSpPr>
          <p:cNvPr id="19" name="Text 15"/>
          <p:cNvSpPr/>
          <p:nvPr/>
        </p:nvSpPr>
        <p:spPr>
          <a:xfrm>
            <a:off x="3666744" y="3182112"/>
            <a:ext cx="2331720" cy="365760"/>
          </a:xfrm>
          <a:prstGeom prst="rect">
            <a:avLst/>
          </a:prstGeom>
          <a:noFill/>
          <a:ln/>
        </p:spPr>
        <p:txBody>
          <a:bodyPr wrap="square" rtlCol="0" anchor="ctr"/>
          <a:lstStyle/>
          <a:p>
            <a:pPr marL="0" indent="0">
              <a:buNone/>
            </a:pPr>
            <a:r>
              <a:rPr lang="en-US" sz="1000" dirty="0">
                <a:solidFill>
                  <a:srgbClr val="5C7A75"/>
                </a:solidFill>
                <a:latin typeface="Courier New" pitchFamily="34" charset="0"/>
                <a:ea typeface="Courier New" pitchFamily="34" charset="-122"/>
                <a:cs typeface="Courier New" pitchFamily="34" charset="-120"/>
              </a:rPr>
              <a:t>view_patient()</a:t>
            </a:r>
            <a:endParaRPr lang="en-US" sz="1000" dirty="0"/>
          </a:p>
        </p:txBody>
      </p:sp>
      <p:sp>
        <p:nvSpPr>
          <p:cNvPr id="20" name="Text 16"/>
          <p:cNvSpPr/>
          <p:nvPr/>
        </p:nvSpPr>
        <p:spPr>
          <a:xfrm>
            <a:off x="3666744" y="3712464"/>
            <a:ext cx="2331720" cy="365760"/>
          </a:xfrm>
          <a:prstGeom prst="rect">
            <a:avLst/>
          </a:prstGeom>
          <a:noFill/>
          <a:ln/>
        </p:spPr>
        <p:txBody>
          <a:bodyPr wrap="square" rtlCol="0" anchor="ctr"/>
          <a:lstStyle/>
          <a:p>
            <a:pPr marL="0" indent="0">
              <a:buNone/>
            </a:pPr>
            <a:r>
              <a:rPr lang="en-US" sz="1000" dirty="0">
                <a:solidFill>
                  <a:srgbClr val="5C7A75"/>
                </a:solidFill>
                <a:latin typeface="Courier New" pitchFamily="34" charset="0"/>
                <a:ea typeface="Courier New" pitchFamily="34" charset="-122"/>
                <a:cs typeface="Courier New" pitchFamily="34" charset="-120"/>
              </a:rPr>
              <a:t>patient_list()</a:t>
            </a:r>
            <a:endParaRPr lang="en-US" sz="1000" dirty="0"/>
          </a:p>
        </p:txBody>
      </p:sp>
      <p:sp>
        <p:nvSpPr>
          <p:cNvPr id="21" name="Text 17"/>
          <p:cNvSpPr/>
          <p:nvPr/>
        </p:nvSpPr>
        <p:spPr>
          <a:xfrm>
            <a:off x="3666744" y="4242816"/>
            <a:ext cx="2331720" cy="365760"/>
          </a:xfrm>
          <a:prstGeom prst="rect">
            <a:avLst/>
          </a:prstGeom>
          <a:noFill/>
          <a:ln/>
        </p:spPr>
        <p:txBody>
          <a:bodyPr wrap="square" rtlCol="0" anchor="ctr"/>
          <a:lstStyle/>
          <a:p>
            <a:pPr marL="0" indent="0">
              <a:buNone/>
            </a:pPr>
            <a:r>
              <a:rPr lang="en-US" sz="1000" dirty="0">
                <a:solidFill>
                  <a:srgbClr val="5C7A75"/>
                </a:solidFill>
                <a:latin typeface="Courier New" pitchFamily="34" charset="0"/>
                <a:ea typeface="Courier New" pitchFamily="34" charset="-122"/>
                <a:cs typeface="Courier New" pitchFamily="34" charset="-120"/>
              </a:rPr>
              <a:t>search_patients()</a:t>
            </a:r>
            <a:endParaRPr lang="en-US" sz="1000" dirty="0"/>
          </a:p>
        </p:txBody>
      </p:sp>
      <p:sp>
        <p:nvSpPr>
          <p:cNvPr id="22" name="Text 18"/>
          <p:cNvSpPr/>
          <p:nvPr/>
        </p:nvSpPr>
        <p:spPr>
          <a:xfrm>
            <a:off x="3666744" y="4773168"/>
            <a:ext cx="2331720" cy="365760"/>
          </a:xfrm>
          <a:prstGeom prst="rect">
            <a:avLst/>
          </a:prstGeom>
          <a:noFill/>
          <a:ln/>
        </p:spPr>
        <p:txBody>
          <a:bodyPr wrap="square" rtlCol="0" anchor="ctr"/>
          <a:lstStyle/>
          <a:p>
            <a:pPr marL="0" indent="0">
              <a:buNone/>
            </a:pPr>
            <a:r>
              <a:rPr lang="en-US" sz="1000" dirty="0">
                <a:solidFill>
                  <a:srgbClr val="5C7A75"/>
                </a:solidFill>
                <a:latin typeface="Courier New" pitchFamily="34" charset="0"/>
                <a:ea typeface="Courier New" pitchFamily="34" charset="-122"/>
                <a:cs typeface="Courier New" pitchFamily="34" charset="-120"/>
              </a:rPr>
              <a:t>update_patient()</a:t>
            </a:r>
            <a:endParaRPr lang="en-US" sz="1000" dirty="0"/>
          </a:p>
        </p:txBody>
      </p:sp>
      <p:sp>
        <p:nvSpPr>
          <p:cNvPr id="23" name="Shape 19"/>
          <p:cNvSpPr/>
          <p:nvPr/>
        </p:nvSpPr>
        <p:spPr>
          <a:xfrm>
            <a:off x="6382512" y="1691640"/>
            <a:ext cx="2697480" cy="3794760"/>
          </a:xfrm>
          <a:prstGeom prst="roundRect">
            <a:avLst>
              <a:gd name="adj" fmla="val 4068"/>
            </a:avLst>
          </a:prstGeom>
          <a:solidFill>
            <a:srgbClr val="FFFFFF"/>
          </a:solidFill>
          <a:ln/>
          <a:effectLst>
            <a:outerShdw blurRad="114300" dist="38100" dir="5400000" algn="bl" rotWithShape="0">
              <a:srgbClr val="1B4B45">
                <a:alpha val="18000"/>
              </a:srgbClr>
            </a:outerShdw>
          </a:effectLst>
        </p:spPr>
      </p:sp>
      <p:sp>
        <p:nvSpPr>
          <p:cNvPr id="24" name="Shape 20"/>
          <p:cNvSpPr/>
          <p:nvPr/>
        </p:nvSpPr>
        <p:spPr>
          <a:xfrm>
            <a:off x="6583680" y="1892808"/>
            <a:ext cx="502920" cy="502920"/>
          </a:xfrm>
          <a:prstGeom prst="ellipse">
            <a:avLst/>
          </a:prstGeom>
          <a:solidFill>
            <a:srgbClr val="02C39A"/>
          </a:solidFill>
          <a:ln/>
        </p:spPr>
      </p:sp>
      <p:pic>
        <p:nvPicPr>
          <p:cNvPr id="25" name="Image 2" descr="/home/claude/booking_ppt/icons/calendar_white.png"/>
          <p:cNvPicPr>
            <a:picLocks noChangeAspect="1"/>
          </p:cNvPicPr>
          <p:nvPr/>
        </p:nvPicPr>
        <p:blipFill>
          <a:blip r:embed="rId5"/>
          <a:stretch>
            <a:fillRect/>
          </a:stretch>
        </p:blipFill>
        <p:spPr>
          <a:xfrm>
            <a:off x="6649060" y="1958188"/>
            <a:ext cx="372161" cy="372161"/>
          </a:xfrm>
          <a:prstGeom prst="rect">
            <a:avLst/>
          </a:prstGeom>
        </p:spPr>
      </p:pic>
      <p:sp>
        <p:nvSpPr>
          <p:cNvPr id="26" name="Text 21"/>
          <p:cNvSpPr/>
          <p:nvPr/>
        </p:nvSpPr>
        <p:spPr>
          <a:xfrm>
            <a:off x="7187184" y="1911096"/>
            <a:ext cx="1783080" cy="457200"/>
          </a:xfrm>
          <a:prstGeom prst="rect">
            <a:avLst/>
          </a:prstGeom>
          <a:noFill/>
          <a:ln/>
        </p:spPr>
        <p:txBody>
          <a:bodyPr wrap="square" rtlCol="0" anchor="ctr"/>
          <a:lstStyle/>
          <a:p>
            <a:pPr marL="0" indent="0">
              <a:buNone/>
            </a:pPr>
            <a:r>
              <a:rPr lang="en-US" sz="1350" b="1" dirty="0">
                <a:solidFill>
                  <a:srgbClr val="0F2E2A"/>
                </a:solidFill>
                <a:latin typeface="Calibri" pitchFamily="34" charset="0"/>
                <a:ea typeface="Calibri" pitchFamily="34" charset="-122"/>
                <a:cs typeface="Calibri" pitchFamily="34" charset="-120"/>
              </a:rPr>
              <a:t>Schedule</a:t>
            </a:r>
            <a:endParaRPr lang="en-US" sz="1350" dirty="0"/>
          </a:p>
        </p:txBody>
      </p:sp>
      <p:sp>
        <p:nvSpPr>
          <p:cNvPr id="27" name="Text 22"/>
          <p:cNvSpPr/>
          <p:nvPr/>
        </p:nvSpPr>
        <p:spPr>
          <a:xfrm>
            <a:off x="6583680" y="2651760"/>
            <a:ext cx="2331720" cy="365760"/>
          </a:xfrm>
          <a:prstGeom prst="rect">
            <a:avLst/>
          </a:prstGeom>
          <a:noFill/>
          <a:ln/>
        </p:spPr>
        <p:txBody>
          <a:bodyPr wrap="square" rtlCol="0" anchor="ctr"/>
          <a:lstStyle/>
          <a:p>
            <a:pPr marL="0" indent="0">
              <a:buNone/>
            </a:pPr>
            <a:r>
              <a:rPr lang="en-US" sz="1000" dirty="0">
                <a:solidFill>
                  <a:srgbClr val="5C7A75"/>
                </a:solidFill>
                <a:latin typeface="Courier New" pitchFamily="34" charset="0"/>
                <a:ea typeface="Courier New" pitchFamily="34" charset="-122"/>
                <a:cs typeface="Courier New" pitchFamily="34" charset="-120"/>
              </a:rPr>
              <a:t>generate_slots()</a:t>
            </a:r>
            <a:endParaRPr lang="en-US" sz="1000" dirty="0"/>
          </a:p>
        </p:txBody>
      </p:sp>
      <p:sp>
        <p:nvSpPr>
          <p:cNvPr id="28" name="Text 23"/>
          <p:cNvSpPr/>
          <p:nvPr/>
        </p:nvSpPr>
        <p:spPr>
          <a:xfrm>
            <a:off x="6583680" y="3182112"/>
            <a:ext cx="2331720" cy="365760"/>
          </a:xfrm>
          <a:prstGeom prst="rect">
            <a:avLst/>
          </a:prstGeom>
          <a:noFill/>
          <a:ln/>
        </p:spPr>
        <p:txBody>
          <a:bodyPr wrap="square" rtlCol="0" anchor="ctr"/>
          <a:lstStyle/>
          <a:p>
            <a:pPr marL="0" indent="0">
              <a:buNone/>
            </a:pPr>
            <a:r>
              <a:rPr lang="en-US" sz="1000" dirty="0">
                <a:solidFill>
                  <a:srgbClr val="5C7A75"/>
                </a:solidFill>
                <a:latin typeface="Courier New" pitchFamily="34" charset="0"/>
                <a:ea typeface="Courier New" pitchFamily="34" charset="-122"/>
                <a:cs typeface="Courier New" pitchFamily="34" charset="-120"/>
              </a:rPr>
              <a:t>check_availability()</a:t>
            </a:r>
            <a:endParaRPr lang="en-US" sz="1000" dirty="0"/>
          </a:p>
        </p:txBody>
      </p:sp>
      <p:sp>
        <p:nvSpPr>
          <p:cNvPr id="29" name="Text 24"/>
          <p:cNvSpPr/>
          <p:nvPr/>
        </p:nvSpPr>
        <p:spPr>
          <a:xfrm>
            <a:off x="6583680" y="3712464"/>
            <a:ext cx="2331720" cy="365760"/>
          </a:xfrm>
          <a:prstGeom prst="rect">
            <a:avLst/>
          </a:prstGeom>
          <a:noFill/>
          <a:ln/>
        </p:spPr>
        <p:txBody>
          <a:bodyPr wrap="square" rtlCol="0" anchor="ctr"/>
          <a:lstStyle/>
          <a:p>
            <a:pPr marL="0" indent="0">
              <a:buNone/>
            </a:pPr>
            <a:r>
              <a:rPr lang="en-US" sz="1000" dirty="0">
                <a:solidFill>
                  <a:srgbClr val="5C7A75"/>
                </a:solidFill>
                <a:latin typeface="Courier New" pitchFamily="34" charset="0"/>
                <a:ea typeface="Courier New" pitchFamily="34" charset="-122"/>
                <a:cs typeface="Courier New" pitchFamily="34" charset="-120"/>
              </a:rPr>
              <a:t>block_slot()</a:t>
            </a:r>
            <a:endParaRPr lang="en-US" sz="1000" dirty="0"/>
          </a:p>
        </p:txBody>
      </p:sp>
      <p:sp>
        <p:nvSpPr>
          <p:cNvPr id="30" name="Text 25"/>
          <p:cNvSpPr/>
          <p:nvPr/>
        </p:nvSpPr>
        <p:spPr>
          <a:xfrm>
            <a:off x="6583680" y="4242816"/>
            <a:ext cx="2331720" cy="365760"/>
          </a:xfrm>
          <a:prstGeom prst="rect">
            <a:avLst/>
          </a:prstGeom>
          <a:noFill/>
          <a:ln/>
        </p:spPr>
        <p:txBody>
          <a:bodyPr wrap="square" rtlCol="0" anchor="ctr"/>
          <a:lstStyle/>
          <a:p>
            <a:pPr marL="0" indent="0">
              <a:buNone/>
            </a:pPr>
            <a:r>
              <a:rPr lang="en-US" sz="1000" dirty="0">
                <a:solidFill>
                  <a:srgbClr val="5C7A75"/>
                </a:solidFill>
                <a:latin typeface="Courier New" pitchFamily="34" charset="0"/>
                <a:ea typeface="Courier New" pitchFamily="34" charset="-122"/>
                <a:cs typeface="Courier New" pitchFamily="34" charset="-120"/>
              </a:rPr>
              <a:t>unblock_slot()</a:t>
            </a:r>
            <a:endParaRPr lang="en-US" sz="1000" dirty="0"/>
          </a:p>
        </p:txBody>
      </p:sp>
      <p:sp>
        <p:nvSpPr>
          <p:cNvPr id="31" name="Text 26"/>
          <p:cNvSpPr/>
          <p:nvPr/>
        </p:nvSpPr>
        <p:spPr>
          <a:xfrm>
            <a:off x="6583680" y="4773168"/>
            <a:ext cx="2331720" cy="365760"/>
          </a:xfrm>
          <a:prstGeom prst="rect">
            <a:avLst/>
          </a:prstGeom>
          <a:noFill/>
          <a:ln/>
        </p:spPr>
        <p:txBody>
          <a:bodyPr wrap="square" rtlCol="0" anchor="ctr"/>
          <a:lstStyle/>
          <a:p>
            <a:pPr marL="0" indent="0">
              <a:buNone/>
            </a:pPr>
            <a:r>
              <a:rPr lang="en-US" sz="1000" dirty="0">
                <a:solidFill>
                  <a:srgbClr val="5C7A75"/>
                </a:solidFill>
                <a:latin typeface="Courier New" pitchFamily="34" charset="0"/>
                <a:ea typeface="Courier New" pitchFamily="34" charset="-122"/>
                <a:cs typeface="Courier New" pitchFamily="34" charset="-120"/>
              </a:rPr>
              <a:t>daily_schedule()</a:t>
            </a:r>
            <a:endParaRPr lang="en-US" sz="1000" dirty="0"/>
          </a:p>
        </p:txBody>
      </p:sp>
      <p:sp>
        <p:nvSpPr>
          <p:cNvPr id="32" name="Shape 27"/>
          <p:cNvSpPr/>
          <p:nvPr/>
        </p:nvSpPr>
        <p:spPr>
          <a:xfrm>
            <a:off x="9299448" y="1691640"/>
            <a:ext cx="2697480" cy="3794760"/>
          </a:xfrm>
          <a:prstGeom prst="roundRect">
            <a:avLst>
              <a:gd name="adj" fmla="val 4068"/>
            </a:avLst>
          </a:prstGeom>
          <a:solidFill>
            <a:srgbClr val="FFFFFF"/>
          </a:solidFill>
          <a:ln/>
          <a:effectLst>
            <a:outerShdw blurRad="114300" dist="38100" dir="5400000" algn="bl" rotWithShape="0">
              <a:srgbClr val="1B4B45">
                <a:alpha val="18000"/>
              </a:srgbClr>
            </a:outerShdw>
          </a:effectLst>
        </p:spPr>
      </p:sp>
      <p:sp>
        <p:nvSpPr>
          <p:cNvPr id="33" name="Shape 28"/>
          <p:cNvSpPr/>
          <p:nvPr/>
        </p:nvSpPr>
        <p:spPr>
          <a:xfrm>
            <a:off x="9500616" y="1892808"/>
            <a:ext cx="502920" cy="502920"/>
          </a:xfrm>
          <a:prstGeom prst="ellipse">
            <a:avLst/>
          </a:prstGeom>
          <a:solidFill>
            <a:srgbClr val="0E6E64"/>
          </a:solidFill>
          <a:ln/>
        </p:spPr>
      </p:sp>
      <p:pic>
        <p:nvPicPr>
          <p:cNvPr id="34" name="Image 3" descr="/home/claude/booking_ppt/icons/clock_white.png"/>
          <p:cNvPicPr>
            <a:picLocks noChangeAspect="1"/>
          </p:cNvPicPr>
          <p:nvPr/>
        </p:nvPicPr>
        <p:blipFill>
          <a:blip r:embed="rId6"/>
          <a:stretch>
            <a:fillRect/>
          </a:stretch>
        </p:blipFill>
        <p:spPr>
          <a:xfrm>
            <a:off x="9565996" y="1958188"/>
            <a:ext cx="372161" cy="372161"/>
          </a:xfrm>
          <a:prstGeom prst="rect">
            <a:avLst/>
          </a:prstGeom>
        </p:spPr>
      </p:pic>
      <p:sp>
        <p:nvSpPr>
          <p:cNvPr id="35" name="Text 29"/>
          <p:cNvSpPr/>
          <p:nvPr/>
        </p:nvSpPr>
        <p:spPr>
          <a:xfrm>
            <a:off x="10104120" y="1911096"/>
            <a:ext cx="1783080" cy="457200"/>
          </a:xfrm>
          <a:prstGeom prst="rect">
            <a:avLst/>
          </a:prstGeom>
          <a:noFill/>
          <a:ln/>
        </p:spPr>
        <p:txBody>
          <a:bodyPr wrap="square" rtlCol="0" anchor="ctr"/>
          <a:lstStyle/>
          <a:p>
            <a:pPr marL="0" indent="0">
              <a:buNone/>
            </a:pPr>
            <a:r>
              <a:rPr lang="en-US" sz="1350" b="1" dirty="0">
                <a:solidFill>
                  <a:srgbClr val="0F2E2A"/>
                </a:solidFill>
                <a:latin typeface="Calibri" pitchFamily="34" charset="0"/>
                <a:ea typeface="Calibri" pitchFamily="34" charset="-122"/>
                <a:cs typeface="Calibri" pitchFamily="34" charset="-120"/>
              </a:rPr>
              <a:t>Appointment</a:t>
            </a:r>
            <a:endParaRPr lang="en-US" sz="1350" dirty="0"/>
          </a:p>
        </p:txBody>
      </p:sp>
      <p:sp>
        <p:nvSpPr>
          <p:cNvPr id="36" name="Text 30"/>
          <p:cNvSpPr/>
          <p:nvPr/>
        </p:nvSpPr>
        <p:spPr>
          <a:xfrm>
            <a:off x="9500616" y="2651760"/>
            <a:ext cx="2331720" cy="365760"/>
          </a:xfrm>
          <a:prstGeom prst="rect">
            <a:avLst/>
          </a:prstGeom>
          <a:noFill/>
          <a:ln/>
        </p:spPr>
        <p:txBody>
          <a:bodyPr wrap="square" rtlCol="0" anchor="ctr"/>
          <a:lstStyle/>
          <a:p>
            <a:pPr marL="0" indent="0">
              <a:buNone/>
            </a:pPr>
            <a:r>
              <a:rPr lang="en-US" sz="1000" dirty="0">
                <a:solidFill>
                  <a:srgbClr val="5C7A75"/>
                </a:solidFill>
                <a:latin typeface="Courier New" pitchFamily="34" charset="0"/>
                <a:ea typeface="Courier New" pitchFamily="34" charset="-122"/>
                <a:cs typeface="Courier New" pitchFamily="34" charset="-120"/>
              </a:rPr>
              <a:t>create_appointment()</a:t>
            </a:r>
            <a:endParaRPr lang="en-US" sz="1000" dirty="0"/>
          </a:p>
        </p:txBody>
      </p:sp>
      <p:sp>
        <p:nvSpPr>
          <p:cNvPr id="37" name="Text 31"/>
          <p:cNvSpPr/>
          <p:nvPr/>
        </p:nvSpPr>
        <p:spPr>
          <a:xfrm>
            <a:off x="9500616" y="3182112"/>
            <a:ext cx="2331720" cy="365760"/>
          </a:xfrm>
          <a:prstGeom prst="rect">
            <a:avLst/>
          </a:prstGeom>
          <a:noFill/>
          <a:ln/>
        </p:spPr>
        <p:txBody>
          <a:bodyPr wrap="square" rtlCol="0" anchor="ctr"/>
          <a:lstStyle/>
          <a:p>
            <a:pPr marL="0" indent="0">
              <a:buNone/>
            </a:pPr>
            <a:r>
              <a:rPr lang="en-US" sz="1000" dirty="0">
                <a:solidFill>
                  <a:srgbClr val="5C7A75"/>
                </a:solidFill>
                <a:latin typeface="Courier New" pitchFamily="34" charset="0"/>
                <a:ea typeface="Courier New" pitchFamily="34" charset="-122"/>
                <a:cs typeface="Courier New" pitchFamily="34" charset="-120"/>
              </a:rPr>
              <a:t>view_appointment()</a:t>
            </a:r>
            <a:endParaRPr lang="en-US" sz="1000" dirty="0"/>
          </a:p>
        </p:txBody>
      </p:sp>
      <p:sp>
        <p:nvSpPr>
          <p:cNvPr id="38" name="Text 32"/>
          <p:cNvSpPr/>
          <p:nvPr/>
        </p:nvSpPr>
        <p:spPr>
          <a:xfrm>
            <a:off x="9500616" y="3712464"/>
            <a:ext cx="2331720" cy="365760"/>
          </a:xfrm>
          <a:prstGeom prst="rect">
            <a:avLst/>
          </a:prstGeom>
          <a:noFill/>
          <a:ln/>
        </p:spPr>
        <p:txBody>
          <a:bodyPr wrap="square" rtlCol="0" anchor="ctr"/>
          <a:lstStyle/>
          <a:p>
            <a:pPr marL="0" indent="0">
              <a:buNone/>
            </a:pPr>
            <a:r>
              <a:rPr lang="en-US" sz="1000" dirty="0">
                <a:solidFill>
                  <a:srgbClr val="5C7A75"/>
                </a:solidFill>
                <a:latin typeface="Courier New" pitchFamily="34" charset="0"/>
                <a:ea typeface="Courier New" pitchFamily="34" charset="-122"/>
                <a:cs typeface="Courier New" pitchFamily="34" charset="-120"/>
              </a:rPr>
              <a:t>appointment_list()</a:t>
            </a:r>
            <a:endParaRPr lang="en-US" sz="1000" dirty="0"/>
          </a:p>
        </p:txBody>
      </p:sp>
      <p:sp>
        <p:nvSpPr>
          <p:cNvPr id="39" name="Text 33"/>
          <p:cNvSpPr/>
          <p:nvPr/>
        </p:nvSpPr>
        <p:spPr>
          <a:xfrm>
            <a:off x="9500616" y="4242816"/>
            <a:ext cx="2331720" cy="365760"/>
          </a:xfrm>
          <a:prstGeom prst="rect">
            <a:avLst/>
          </a:prstGeom>
          <a:noFill/>
          <a:ln/>
        </p:spPr>
        <p:txBody>
          <a:bodyPr wrap="square" rtlCol="0" anchor="ctr"/>
          <a:lstStyle/>
          <a:p>
            <a:pPr marL="0" indent="0">
              <a:buNone/>
            </a:pPr>
            <a:r>
              <a:rPr lang="en-US" sz="1000" dirty="0">
                <a:solidFill>
                  <a:srgbClr val="5C7A75"/>
                </a:solidFill>
                <a:latin typeface="Courier New" pitchFamily="34" charset="0"/>
                <a:ea typeface="Courier New" pitchFamily="34" charset="-122"/>
                <a:cs typeface="Courier New" pitchFamily="34" charset="-120"/>
              </a:rPr>
              <a:t>search_appointments()</a:t>
            </a:r>
            <a:endParaRPr lang="en-US" sz="1000" dirty="0"/>
          </a:p>
        </p:txBody>
      </p:sp>
      <p:sp>
        <p:nvSpPr>
          <p:cNvPr id="40" name="Text 34"/>
          <p:cNvSpPr/>
          <p:nvPr/>
        </p:nvSpPr>
        <p:spPr>
          <a:xfrm>
            <a:off x="9500616" y="4773168"/>
            <a:ext cx="2331720" cy="365760"/>
          </a:xfrm>
          <a:prstGeom prst="rect">
            <a:avLst/>
          </a:prstGeom>
          <a:noFill/>
          <a:ln/>
        </p:spPr>
        <p:txBody>
          <a:bodyPr wrap="square" rtlCol="0" anchor="ctr"/>
          <a:lstStyle/>
          <a:p>
            <a:pPr marL="0" indent="0">
              <a:buNone/>
            </a:pPr>
            <a:r>
              <a:rPr lang="en-US" sz="1000" dirty="0">
                <a:solidFill>
                  <a:srgbClr val="5C7A75"/>
                </a:solidFill>
                <a:latin typeface="Courier New" pitchFamily="34" charset="0"/>
                <a:ea typeface="Courier New" pitchFamily="34" charset="-122"/>
                <a:cs typeface="Courier New" pitchFamily="34" charset="-120"/>
              </a:rPr>
              <a:t>cancel_appointment()</a:t>
            </a:r>
            <a:endParaRPr lang="en-US" sz="1000" dirty="0"/>
          </a:p>
        </p:txBody>
      </p:sp>
      <p:sp>
        <p:nvSpPr>
          <p:cNvPr id="41" name="Shape 35"/>
          <p:cNvSpPr/>
          <p:nvPr/>
        </p:nvSpPr>
        <p:spPr>
          <a:xfrm>
            <a:off x="548640" y="5669280"/>
            <a:ext cx="11064240" cy="621792"/>
          </a:xfrm>
          <a:prstGeom prst="roundRect">
            <a:avLst>
              <a:gd name="adj" fmla="val 17647"/>
            </a:avLst>
          </a:prstGeom>
          <a:solidFill>
            <a:srgbClr val="0E3D39"/>
          </a:solidFill>
          <a:ln/>
          <a:effectLst>
            <a:outerShdw blurRad="114300" dist="38100" dir="5400000" algn="bl" rotWithShape="0">
              <a:srgbClr val="1B4B45">
                <a:alpha val="18000"/>
              </a:srgbClr>
            </a:outerShdw>
          </a:effectLst>
        </p:spPr>
      </p:sp>
      <p:pic>
        <p:nvPicPr>
          <p:cNvPr id="42" name="Image 4" descr="/home/claude/booking_ppt/icons/shield_mint.png"/>
          <p:cNvPicPr>
            <a:picLocks noChangeAspect="1"/>
          </p:cNvPicPr>
          <p:nvPr/>
        </p:nvPicPr>
        <p:blipFill>
          <a:blip r:embed="rId7"/>
          <a:stretch>
            <a:fillRect/>
          </a:stretch>
        </p:blipFill>
        <p:spPr>
          <a:xfrm>
            <a:off x="777240" y="5815584"/>
            <a:ext cx="329184" cy="329184"/>
          </a:xfrm>
          <a:prstGeom prst="rect">
            <a:avLst/>
          </a:prstGeom>
        </p:spPr>
      </p:pic>
      <p:sp>
        <p:nvSpPr>
          <p:cNvPr id="43" name="Text 36"/>
          <p:cNvSpPr/>
          <p:nvPr/>
        </p:nvSpPr>
        <p:spPr>
          <a:xfrm>
            <a:off x="1234440" y="5669280"/>
            <a:ext cx="10149840" cy="621792"/>
          </a:xfrm>
          <a:prstGeom prst="rect">
            <a:avLst/>
          </a:prstGeom>
          <a:noFill/>
          <a:ln/>
        </p:spPr>
        <p:txBody>
          <a:bodyPr wrap="square" rtlCol="0" anchor="ctr"/>
          <a:lstStyle/>
          <a:p>
            <a:pPr marL="0" indent="0">
              <a:buNone/>
            </a:pPr>
            <a:r>
              <a:rPr lang="en-US" sz="1050" dirty="0">
                <a:solidFill>
                  <a:srgbClr val="D7F3EE"/>
                </a:solidFill>
                <a:latin typeface="Courier New" pitchFamily="34" charset="0"/>
                <a:ea typeface="Courier New" pitchFamily="34" charset="-122"/>
                <a:cs typeface="Courier New" pitchFamily="34" charset="-120"/>
              </a:rPr>
              <a:t>Plus shared helpers: find_doctor_by_id(), find_patient_by_id(), find_appointment_by_id(), validate_date(), validate_time()</a:t>
            </a:r>
            <a:endParaRPr lang="en-US" sz="1050" dirty="0"/>
          </a:p>
        </p:txBody>
      </p:sp>
      <p:sp>
        <p:nvSpPr>
          <p:cNvPr id="44" name="Text 37"/>
          <p:cNvSpPr/>
          <p:nvPr/>
        </p:nvSpPr>
        <p:spPr>
          <a:xfrm>
            <a:off x="457200" y="6519672"/>
            <a:ext cx="7315200" cy="274320"/>
          </a:xfrm>
          <a:prstGeom prst="rect">
            <a:avLst/>
          </a:prstGeom>
          <a:noFill/>
          <a:ln/>
        </p:spPr>
        <p:txBody>
          <a:bodyPr wrap="square" rtlCol="0" anchor="ctr"/>
          <a:lstStyle/>
          <a:p>
            <a:pPr marL="0" indent="0">
              <a:buNone/>
            </a:pPr>
            <a:r>
              <a:rPr lang="en-US" sz="900" kern="0" spc="100" dirty="0">
                <a:solidFill>
                  <a:srgbClr val="5C7A75"/>
                </a:solidFill>
                <a:latin typeface="Calibri" pitchFamily="34" charset="0"/>
                <a:ea typeface="Calibri" pitchFamily="34" charset="-122"/>
                <a:cs typeface="Calibri" pitchFamily="34" charset="-120"/>
              </a:rPr>
              <a:t>DOCTOR APPOINTMENT BOOKING SYSTEM  ·  PROJECT PLANNING</a:t>
            </a:r>
            <a:endParaRPr lang="en-US" sz="900" dirty="0"/>
          </a:p>
        </p:txBody>
      </p:sp>
      <p:sp>
        <p:nvSpPr>
          <p:cNvPr id="45" name="Text 38"/>
          <p:cNvSpPr/>
          <p:nvPr/>
        </p:nvSpPr>
        <p:spPr>
          <a:xfrm>
            <a:off x="11338560" y="6519672"/>
            <a:ext cx="457200" cy="274320"/>
          </a:xfrm>
          <a:prstGeom prst="rect">
            <a:avLst/>
          </a:prstGeom>
          <a:noFill/>
          <a:ln/>
        </p:spPr>
        <p:txBody>
          <a:bodyPr wrap="square" rtlCol="0" anchor="ctr"/>
          <a:lstStyle/>
          <a:p>
            <a:pPr marL="0" indent="0" algn="r">
              <a:buNone/>
            </a:pPr>
            <a:r>
              <a:rPr lang="en-US" sz="900" dirty="0">
                <a:solidFill>
                  <a:srgbClr val="5C7A75"/>
                </a:solidFill>
                <a:latin typeface="Calibri" pitchFamily="34" charset="0"/>
                <a:ea typeface="Calibri" pitchFamily="34" charset="-122"/>
                <a:cs typeface="Calibri" pitchFamily="34" charset="-120"/>
              </a:rPr>
              <a:t>12</a:t>
            </a:r>
            <a:endParaRPr lang="en-US" sz="9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BFA"/>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47472"/>
          </a:xfrm>
          <a:prstGeom prst="roundRect">
            <a:avLst>
              <a:gd name="adj" fmla="val 50000"/>
            </a:avLst>
          </a:prstGeom>
          <a:solidFill>
            <a:srgbClr val="E4F5F2"/>
          </a:solidFill>
          <a:ln/>
        </p:spPr>
      </p:sp>
      <p:sp>
        <p:nvSpPr>
          <p:cNvPr id="3" name="Text 1"/>
          <p:cNvSpPr/>
          <p:nvPr/>
        </p:nvSpPr>
        <p:spPr>
          <a:xfrm>
            <a:off x="548640" y="457200"/>
            <a:ext cx="3291840" cy="347472"/>
          </a:xfrm>
          <a:prstGeom prst="rect">
            <a:avLst/>
          </a:prstGeom>
          <a:noFill/>
          <a:ln/>
        </p:spPr>
        <p:txBody>
          <a:bodyPr wrap="square" rtlCol="0" anchor="ctr"/>
          <a:lstStyle/>
          <a:p>
            <a:pPr marL="0" indent="0" algn="ctr">
              <a:buNone/>
            </a:pPr>
            <a:r>
              <a:rPr lang="en-US" sz="1150" b="1" kern="0" spc="200" dirty="0">
                <a:solidFill>
                  <a:srgbClr val="028090"/>
                </a:solidFill>
                <a:latin typeface="Calibri" pitchFamily="34" charset="0"/>
                <a:ea typeface="Calibri" pitchFamily="34" charset="-122"/>
                <a:cs typeface="Calibri" pitchFamily="34" charset="-120"/>
              </a:rPr>
              <a:t>STORAGE DESIGN</a:t>
            </a:r>
            <a:endParaRPr lang="en-US" sz="1150" dirty="0"/>
          </a:p>
        </p:txBody>
      </p:sp>
      <p:sp>
        <p:nvSpPr>
          <p:cNvPr id="4" name="Text 2"/>
          <p:cNvSpPr/>
          <p:nvPr/>
        </p:nvSpPr>
        <p:spPr>
          <a:xfrm>
            <a:off x="548640" y="896112"/>
            <a:ext cx="10515600" cy="822960"/>
          </a:xfrm>
          <a:prstGeom prst="rect">
            <a:avLst/>
          </a:prstGeom>
          <a:noFill/>
          <a:ln/>
        </p:spPr>
        <p:txBody>
          <a:bodyPr wrap="square" rtlCol="0" anchor="ctr"/>
          <a:lstStyle/>
          <a:p>
            <a:pPr marL="0" indent="0" algn="l">
              <a:buNone/>
            </a:pPr>
            <a:r>
              <a:rPr lang="en-US" sz="3200" b="1" dirty="0">
                <a:solidFill>
                  <a:srgbClr val="0F2E2A"/>
                </a:solidFill>
                <a:latin typeface="Century Schoolbook" pitchFamily="34" charset="0"/>
                <a:ea typeface="Century Schoolbook" pitchFamily="34" charset="-122"/>
                <a:cs typeface="Century Schoolbook" pitchFamily="34" charset="-120"/>
              </a:rPr>
              <a:t>One JSON File per Entity</a:t>
            </a:r>
            <a:endParaRPr lang="en-US" sz="3200" dirty="0"/>
          </a:p>
        </p:txBody>
      </p:sp>
      <p:sp>
        <p:nvSpPr>
          <p:cNvPr id="5" name="Shape 3"/>
          <p:cNvSpPr/>
          <p:nvPr/>
        </p:nvSpPr>
        <p:spPr>
          <a:xfrm>
            <a:off x="548640" y="1691640"/>
            <a:ext cx="2697480" cy="2286000"/>
          </a:xfrm>
          <a:prstGeom prst="roundRect">
            <a:avLst>
              <a:gd name="adj" fmla="val 4800"/>
            </a:avLst>
          </a:prstGeom>
          <a:solidFill>
            <a:srgbClr val="FFFFFF"/>
          </a:solidFill>
          <a:ln/>
          <a:effectLst>
            <a:outerShdw blurRad="114300" dist="38100" dir="5400000" algn="bl" rotWithShape="0">
              <a:srgbClr val="1B4B45">
                <a:alpha val="18000"/>
              </a:srgbClr>
            </a:outerShdw>
          </a:effectLst>
        </p:spPr>
      </p:sp>
      <p:sp>
        <p:nvSpPr>
          <p:cNvPr id="6" name="Shape 4"/>
          <p:cNvSpPr/>
          <p:nvPr/>
        </p:nvSpPr>
        <p:spPr>
          <a:xfrm>
            <a:off x="1531620" y="1947672"/>
            <a:ext cx="731520" cy="731520"/>
          </a:xfrm>
          <a:prstGeom prst="ellipse">
            <a:avLst/>
          </a:prstGeom>
          <a:solidFill>
            <a:srgbClr val="028090"/>
          </a:solidFill>
          <a:ln/>
        </p:spPr>
      </p:sp>
      <p:pic>
        <p:nvPicPr>
          <p:cNvPr id="7" name="Image 0" descr="/home/claude/booking_ppt/icons/doctor_white.png"/>
          <p:cNvPicPr>
            <a:picLocks noChangeAspect="1"/>
          </p:cNvPicPr>
          <p:nvPr/>
        </p:nvPicPr>
        <p:blipFill>
          <a:blip r:embed="rId3"/>
          <a:stretch>
            <a:fillRect/>
          </a:stretch>
        </p:blipFill>
        <p:spPr>
          <a:xfrm>
            <a:off x="1626718" y="2042770"/>
            <a:ext cx="541325" cy="541325"/>
          </a:xfrm>
          <a:prstGeom prst="rect">
            <a:avLst/>
          </a:prstGeom>
        </p:spPr>
      </p:pic>
      <p:sp>
        <p:nvSpPr>
          <p:cNvPr id="8" name="Text 5"/>
          <p:cNvSpPr/>
          <p:nvPr/>
        </p:nvSpPr>
        <p:spPr>
          <a:xfrm>
            <a:off x="548640" y="2834640"/>
            <a:ext cx="2697480" cy="320040"/>
          </a:xfrm>
          <a:prstGeom prst="rect">
            <a:avLst/>
          </a:prstGeom>
          <a:noFill/>
          <a:ln/>
        </p:spPr>
        <p:txBody>
          <a:bodyPr wrap="square" rtlCol="0" anchor="ctr"/>
          <a:lstStyle/>
          <a:p>
            <a:pPr marL="0" indent="0" algn="ctr">
              <a:buNone/>
            </a:pPr>
            <a:r>
              <a:rPr lang="en-US" sz="1250" b="1" dirty="0">
                <a:solidFill>
                  <a:srgbClr val="0F2E2A"/>
                </a:solidFill>
                <a:latin typeface="Courier New" pitchFamily="34" charset="0"/>
                <a:ea typeface="Courier New" pitchFamily="34" charset="-122"/>
                <a:cs typeface="Courier New" pitchFamily="34" charset="-120"/>
              </a:rPr>
              <a:t>doctors.json</a:t>
            </a:r>
            <a:endParaRPr lang="en-US" sz="1250" dirty="0"/>
          </a:p>
        </p:txBody>
      </p:sp>
      <p:sp>
        <p:nvSpPr>
          <p:cNvPr id="9" name="Text 6"/>
          <p:cNvSpPr/>
          <p:nvPr/>
        </p:nvSpPr>
        <p:spPr>
          <a:xfrm>
            <a:off x="777240" y="3200400"/>
            <a:ext cx="2240280" cy="640080"/>
          </a:xfrm>
          <a:prstGeom prst="rect">
            <a:avLst/>
          </a:prstGeom>
          <a:noFill/>
          <a:ln/>
        </p:spPr>
        <p:txBody>
          <a:bodyPr wrap="square" rtlCol="0" anchor="ctr"/>
          <a:lstStyle/>
          <a:p>
            <a:pPr marL="0" indent="0" algn="ctr">
              <a:lnSpc>
                <a:spcPts val="1400"/>
              </a:lnSpc>
              <a:buNone/>
            </a:pPr>
            <a:r>
              <a:rPr lang="en-US" sz="1050" dirty="0">
                <a:solidFill>
                  <a:srgbClr val="5C7A75"/>
                </a:solidFill>
                <a:latin typeface="Calibri" pitchFamily="34" charset="0"/>
                <a:ea typeface="Calibri" pitchFamily="34" charset="-122"/>
                <a:cs typeface="Calibri" pitchFamily="34" charset="-120"/>
              </a:rPr>
              <a:t>Doctor profiles &amp; status</a:t>
            </a:r>
            <a:endParaRPr lang="en-US" sz="1050" dirty="0"/>
          </a:p>
        </p:txBody>
      </p:sp>
      <p:sp>
        <p:nvSpPr>
          <p:cNvPr id="10" name="Shape 7"/>
          <p:cNvSpPr/>
          <p:nvPr/>
        </p:nvSpPr>
        <p:spPr>
          <a:xfrm>
            <a:off x="3465576" y="1691640"/>
            <a:ext cx="2697480" cy="2286000"/>
          </a:xfrm>
          <a:prstGeom prst="roundRect">
            <a:avLst>
              <a:gd name="adj" fmla="val 4800"/>
            </a:avLst>
          </a:prstGeom>
          <a:solidFill>
            <a:srgbClr val="FFFFFF"/>
          </a:solidFill>
          <a:ln/>
          <a:effectLst>
            <a:outerShdw blurRad="114300" dist="38100" dir="5400000" algn="bl" rotWithShape="0">
              <a:srgbClr val="1B4B45">
                <a:alpha val="18000"/>
              </a:srgbClr>
            </a:outerShdw>
          </a:effectLst>
        </p:spPr>
      </p:sp>
      <p:sp>
        <p:nvSpPr>
          <p:cNvPr id="11" name="Shape 8"/>
          <p:cNvSpPr/>
          <p:nvPr/>
        </p:nvSpPr>
        <p:spPr>
          <a:xfrm>
            <a:off x="4448556" y="1947672"/>
            <a:ext cx="731520" cy="731520"/>
          </a:xfrm>
          <a:prstGeom prst="ellipse">
            <a:avLst/>
          </a:prstGeom>
          <a:solidFill>
            <a:srgbClr val="00A896"/>
          </a:solidFill>
          <a:ln/>
        </p:spPr>
      </p:sp>
      <p:pic>
        <p:nvPicPr>
          <p:cNvPr id="12" name="Image 1" descr="/home/claude/booking_ppt/icons/patient_white.png"/>
          <p:cNvPicPr>
            <a:picLocks noChangeAspect="1"/>
          </p:cNvPicPr>
          <p:nvPr/>
        </p:nvPicPr>
        <p:blipFill>
          <a:blip r:embed="rId4"/>
          <a:stretch>
            <a:fillRect/>
          </a:stretch>
        </p:blipFill>
        <p:spPr>
          <a:xfrm>
            <a:off x="4543654" y="2042770"/>
            <a:ext cx="541325" cy="541325"/>
          </a:xfrm>
          <a:prstGeom prst="rect">
            <a:avLst/>
          </a:prstGeom>
        </p:spPr>
      </p:pic>
      <p:sp>
        <p:nvSpPr>
          <p:cNvPr id="13" name="Text 9"/>
          <p:cNvSpPr/>
          <p:nvPr/>
        </p:nvSpPr>
        <p:spPr>
          <a:xfrm>
            <a:off x="3465576" y="2834640"/>
            <a:ext cx="2697480" cy="320040"/>
          </a:xfrm>
          <a:prstGeom prst="rect">
            <a:avLst/>
          </a:prstGeom>
          <a:noFill/>
          <a:ln/>
        </p:spPr>
        <p:txBody>
          <a:bodyPr wrap="square" rtlCol="0" anchor="ctr"/>
          <a:lstStyle/>
          <a:p>
            <a:pPr marL="0" indent="0" algn="ctr">
              <a:buNone/>
            </a:pPr>
            <a:r>
              <a:rPr lang="en-US" sz="1250" b="1" dirty="0">
                <a:solidFill>
                  <a:srgbClr val="0F2E2A"/>
                </a:solidFill>
                <a:latin typeface="Courier New" pitchFamily="34" charset="0"/>
                <a:ea typeface="Courier New" pitchFamily="34" charset="-122"/>
                <a:cs typeface="Courier New" pitchFamily="34" charset="-120"/>
              </a:rPr>
              <a:t>patients.json</a:t>
            </a:r>
            <a:endParaRPr lang="en-US" sz="1250" dirty="0"/>
          </a:p>
        </p:txBody>
      </p:sp>
      <p:sp>
        <p:nvSpPr>
          <p:cNvPr id="14" name="Text 10"/>
          <p:cNvSpPr/>
          <p:nvPr/>
        </p:nvSpPr>
        <p:spPr>
          <a:xfrm>
            <a:off x="3694176" y="3200400"/>
            <a:ext cx="2240280" cy="640080"/>
          </a:xfrm>
          <a:prstGeom prst="rect">
            <a:avLst/>
          </a:prstGeom>
          <a:noFill/>
          <a:ln/>
        </p:spPr>
        <p:txBody>
          <a:bodyPr wrap="square" rtlCol="0" anchor="ctr"/>
          <a:lstStyle/>
          <a:p>
            <a:pPr marL="0" indent="0" algn="ctr">
              <a:lnSpc>
                <a:spcPts val="1400"/>
              </a:lnSpc>
              <a:buNone/>
            </a:pPr>
            <a:r>
              <a:rPr lang="en-US" sz="1050" dirty="0">
                <a:solidFill>
                  <a:srgbClr val="5C7A75"/>
                </a:solidFill>
                <a:latin typeface="Calibri" pitchFamily="34" charset="0"/>
                <a:ea typeface="Calibri" pitchFamily="34" charset="-122"/>
                <a:cs typeface="Calibri" pitchFamily="34" charset="-120"/>
              </a:rPr>
              <a:t>Patient contact details</a:t>
            </a:r>
            <a:endParaRPr lang="en-US" sz="1050" dirty="0"/>
          </a:p>
        </p:txBody>
      </p:sp>
      <p:sp>
        <p:nvSpPr>
          <p:cNvPr id="15" name="Shape 11"/>
          <p:cNvSpPr/>
          <p:nvPr/>
        </p:nvSpPr>
        <p:spPr>
          <a:xfrm>
            <a:off x="6382512" y="1691640"/>
            <a:ext cx="2697480" cy="2286000"/>
          </a:xfrm>
          <a:prstGeom prst="roundRect">
            <a:avLst>
              <a:gd name="adj" fmla="val 4800"/>
            </a:avLst>
          </a:prstGeom>
          <a:solidFill>
            <a:srgbClr val="FFFFFF"/>
          </a:solidFill>
          <a:ln/>
          <a:effectLst>
            <a:outerShdw blurRad="114300" dist="38100" dir="5400000" algn="bl" rotWithShape="0">
              <a:srgbClr val="1B4B45">
                <a:alpha val="18000"/>
              </a:srgbClr>
            </a:outerShdw>
          </a:effectLst>
        </p:spPr>
      </p:sp>
      <p:sp>
        <p:nvSpPr>
          <p:cNvPr id="16" name="Shape 12"/>
          <p:cNvSpPr/>
          <p:nvPr/>
        </p:nvSpPr>
        <p:spPr>
          <a:xfrm>
            <a:off x="7365492" y="1947672"/>
            <a:ext cx="731520" cy="731520"/>
          </a:xfrm>
          <a:prstGeom prst="ellipse">
            <a:avLst/>
          </a:prstGeom>
          <a:solidFill>
            <a:srgbClr val="02C39A"/>
          </a:solidFill>
          <a:ln/>
        </p:spPr>
      </p:sp>
      <p:pic>
        <p:nvPicPr>
          <p:cNvPr id="17" name="Image 2" descr="/home/claude/booking_ppt/icons/calendar_white.png"/>
          <p:cNvPicPr>
            <a:picLocks noChangeAspect="1"/>
          </p:cNvPicPr>
          <p:nvPr/>
        </p:nvPicPr>
        <p:blipFill>
          <a:blip r:embed="rId5"/>
          <a:stretch>
            <a:fillRect/>
          </a:stretch>
        </p:blipFill>
        <p:spPr>
          <a:xfrm>
            <a:off x="7460590" y="2042770"/>
            <a:ext cx="541325" cy="541325"/>
          </a:xfrm>
          <a:prstGeom prst="rect">
            <a:avLst/>
          </a:prstGeom>
        </p:spPr>
      </p:pic>
      <p:sp>
        <p:nvSpPr>
          <p:cNvPr id="18" name="Text 13"/>
          <p:cNvSpPr/>
          <p:nvPr/>
        </p:nvSpPr>
        <p:spPr>
          <a:xfrm>
            <a:off x="6382512" y="2834640"/>
            <a:ext cx="2697480" cy="320040"/>
          </a:xfrm>
          <a:prstGeom prst="rect">
            <a:avLst/>
          </a:prstGeom>
          <a:noFill/>
          <a:ln/>
        </p:spPr>
        <p:txBody>
          <a:bodyPr wrap="square" rtlCol="0" anchor="ctr"/>
          <a:lstStyle/>
          <a:p>
            <a:pPr marL="0" indent="0" algn="ctr">
              <a:buNone/>
            </a:pPr>
            <a:r>
              <a:rPr lang="en-US" sz="1250" b="1" dirty="0">
                <a:solidFill>
                  <a:srgbClr val="0F2E2A"/>
                </a:solidFill>
                <a:latin typeface="Courier New" pitchFamily="34" charset="0"/>
                <a:ea typeface="Courier New" pitchFamily="34" charset="-122"/>
                <a:cs typeface="Courier New" pitchFamily="34" charset="-120"/>
              </a:rPr>
              <a:t>schedules.json</a:t>
            </a:r>
            <a:endParaRPr lang="en-US" sz="1250" dirty="0"/>
          </a:p>
        </p:txBody>
      </p:sp>
      <p:sp>
        <p:nvSpPr>
          <p:cNvPr id="19" name="Text 14"/>
          <p:cNvSpPr/>
          <p:nvPr/>
        </p:nvSpPr>
        <p:spPr>
          <a:xfrm>
            <a:off x="6611112" y="3200400"/>
            <a:ext cx="2240280" cy="640080"/>
          </a:xfrm>
          <a:prstGeom prst="rect">
            <a:avLst/>
          </a:prstGeom>
          <a:noFill/>
          <a:ln/>
        </p:spPr>
        <p:txBody>
          <a:bodyPr wrap="square" rtlCol="0" anchor="ctr"/>
          <a:lstStyle/>
          <a:p>
            <a:pPr marL="0" indent="0" algn="ctr">
              <a:lnSpc>
                <a:spcPts val="1400"/>
              </a:lnSpc>
              <a:buNone/>
            </a:pPr>
            <a:r>
              <a:rPr lang="en-US" sz="1050" dirty="0">
                <a:solidFill>
                  <a:srgbClr val="5C7A75"/>
                </a:solidFill>
                <a:latin typeface="Calibri" pitchFamily="34" charset="0"/>
                <a:ea typeface="Calibri" pitchFamily="34" charset="-122"/>
                <a:cs typeface="Calibri" pitchFamily="34" charset="-120"/>
              </a:rPr>
              <a:t>Working hours &amp; blocked slots</a:t>
            </a:r>
            <a:endParaRPr lang="en-US" sz="1050" dirty="0"/>
          </a:p>
        </p:txBody>
      </p:sp>
      <p:sp>
        <p:nvSpPr>
          <p:cNvPr id="20" name="Shape 15"/>
          <p:cNvSpPr/>
          <p:nvPr/>
        </p:nvSpPr>
        <p:spPr>
          <a:xfrm>
            <a:off x="9299448" y="1691640"/>
            <a:ext cx="2697480" cy="2286000"/>
          </a:xfrm>
          <a:prstGeom prst="roundRect">
            <a:avLst>
              <a:gd name="adj" fmla="val 4800"/>
            </a:avLst>
          </a:prstGeom>
          <a:solidFill>
            <a:srgbClr val="FFFFFF"/>
          </a:solidFill>
          <a:ln/>
          <a:effectLst>
            <a:outerShdw blurRad="114300" dist="38100" dir="5400000" algn="bl" rotWithShape="0">
              <a:srgbClr val="1B4B45">
                <a:alpha val="18000"/>
              </a:srgbClr>
            </a:outerShdw>
          </a:effectLst>
        </p:spPr>
      </p:sp>
      <p:sp>
        <p:nvSpPr>
          <p:cNvPr id="21" name="Shape 16"/>
          <p:cNvSpPr/>
          <p:nvPr/>
        </p:nvSpPr>
        <p:spPr>
          <a:xfrm>
            <a:off x="10282428" y="1947672"/>
            <a:ext cx="731520" cy="731520"/>
          </a:xfrm>
          <a:prstGeom prst="ellipse">
            <a:avLst/>
          </a:prstGeom>
          <a:solidFill>
            <a:srgbClr val="0E6E64"/>
          </a:solidFill>
          <a:ln/>
        </p:spPr>
      </p:sp>
      <p:pic>
        <p:nvPicPr>
          <p:cNvPr id="22" name="Image 3" descr="/home/claude/booking_ppt/icons/clock_white.png"/>
          <p:cNvPicPr>
            <a:picLocks noChangeAspect="1"/>
          </p:cNvPicPr>
          <p:nvPr/>
        </p:nvPicPr>
        <p:blipFill>
          <a:blip r:embed="rId6"/>
          <a:stretch>
            <a:fillRect/>
          </a:stretch>
        </p:blipFill>
        <p:spPr>
          <a:xfrm>
            <a:off x="10377526" y="2042770"/>
            <a:ext cx="541325" cy="541325"/>
          </a:xfrm>
          <a:prstGeom prst="rect">
            <a:avLst/>
          </a:prstGeom>
        </p:spPr>
      </p:pic>
      <p:sp>
        <p:nvSpPr>
          <p:cNvPr id="23" name="Text 17"/>
          <p:cNvSpPr/>
          <p:nvPr/>
        </p:nvSpPr>
        <p:spPr>
          <a:xfrm>
            <a:off x="9299448" y="2834640"/>
            <a:ext cx="2697480" cy="320040"/>
          </a:xfrm>
          <a:prstGeom prst="rect">
            <a:avLst/>
          </a:prstGeom>
          <a:noFill/>
          <a:ln/>
        </p:spPr>
        <p:txBody>
          <a:bodyPr wrap="square" rtlCol="0" anchor="ctr"/>
          <a:lstStyle/>
          <a:p>
            <a:pPr marL="0" indent="0" algn="ctr">
              <a:buNone/>
            </a:pPr>
            <a:r>
              <a:rPr lang="en-US" sz="1250" b="1" dirty="0">
                <a:solidFill>
                  <a:srgbClr val="0F2E2A"/>
                </a:solidFill>
                <a:latin typeface="Courier New" pitchFamily="34" charset="0"/>
                <a:ea typeface="Courier New" pitchFamily="34" charset="-122"/>
                <a:cs typeface="Courier New" pitchFamily="34" charset="-120"/>
              </a:rPr>
              <a:t>appointments.json</a:t>
            </a:r>
            <a:endParaRPr lang="en-US" sz="1250" dirty="0"/>
          </a:p>
        </p:txBody>
      </p:sp>
      <p:sp>
        <p:nvSpPr>
          <p:cNvPr id="24" name="Text 18"/>
          <p:cNvSpPr/>
          <p:nvPr/>
        </p:nvSpPr>
        <p:spPr>
          <a:xfrm>
            <a:off x="9528048" y="3200400"/>
            <a:ext cx="2240280" cy="640080"/>
          </a:xfrm>
          <a:prstGeom prst="rect">
            <a:avLst/>
          </a:prstGeom>
          <a:noFill/>
          <a:ln/>
        </p:spPr>
        <p:txBody>
          <a:bodyPr wrap="square" rtlCol="0" anchor="ctr"/>
          <a:lstStyle/>
          <a:p>
            <a:pPr marL="0" indent="0" algn="ctr">
              <a:lnSpc>
                <a:spcPts val="1400"/>
              </a:lnSpc>
              <a:buNone/>
            </a:pPr>
            <a:r>
              <a:rPr lang="en-US" sz="1050" dirty="0">
                <a:solidFill>
                  <a:srgbClr val="5C7A75"/>
                </a:solidFill>
                <a:latin typeface="Calibri" pitchFamily="34" charset="0"/>
                <a:ea typeface="Calibri" pitchFamily="34" charset="-122"/>
                <a:cs typeface="Calibri" pitchFamily="34" charset="-120"/>
              </a:rPr>
              <a:t>Every booking, past &amp; present</a:t>
            </a:r>
            <a:endParaRPr lang="en-US" sz="1050" dirty="0"/>
          </a:p>
        </p:txBody>
      </p:sp>
      <p:sp>
        <p:nvSpPr>
          <p:cNvPr id="25" name="Shape 19"/>
          <p:cNvSpPr/>
          <p:nvPr/>
        </p:nvSpPr>
        <p:spPr>
          <a:xfrm>
            <a:off x="548640" y="4343400"/>
            <a:ext cx="11064240" cy="1920240"/>
          </a:xfrm>
          <a:prstGeom prst="roundRect">
            <a:avLst>
              <a:gd name="adj" fmla="val 5714"/>
            </a:avLst>
          </a:prstGeom>
          <a:solidFill>
            <a:srgbClr val="0A2E2B"/>
          </a:solidFill>
          <a:ln/>
          <a:effectLst>
            <a:outerShdw blurRad="114300" dist="38100" dir="5400000" algn="bl" rotWithShape="0">
              <a:srgbClr val="1B4B45">
                <a:alpha val="18000"/>
              </a:srgbClr>
            </a:outerShdw>
          </a:effectLst>
        </p:spPr>
      </p:sp>
      <p:sp>
        <p:nvSpPr>
          <p:cNvPr id="26" name="Shape 20"/>
          <p:cNvSpPr/>
          <p:nvPr/>
        </p:nvSpPr>
        <p:spPr>
          <a:xfrm>
            <a:off x="868680" y="4617720"/>
            <a:ext cx="640080" cy="640080"/>
          </a:xfrm>
          <a:prstGeom prst="ellipse">
            <a:avLst/>
          </a:prstGeom>
          <a:solidFill>
            <a:srgbClr val="02C39A"/>
          </a:solidFill>
          <a:ln/>
        </p:spPr>
      </p:sp>
      <p:pic>
        <p:nvPicPr>
          <p:cNvPr id="27" name="Image 4" descr="/home/claude/booking_ppt/icons/layer_dark.png"/>
          <p:cNvPicPr>
            <a:picLocks noChangeAspect="1"/>
          </p:cNvPicPr>
          <p:nvPr/>
        </p:nvPicPr>
        <p:blipFill>
          <a:blip r:embed="rId7"/>
          <a:stretch>
            <a:fillRect/>
          </a:stretch>
        </p:blipFill>
        <p:spPr>
          <a:xfrm>
            <a:off x="951890" y="4700930"/>
            <a:ext cx="473659" cy="473659"/>
          </a:xfrm>
          <a:prstGeom prst="rect">
            <a:avLst/>
          </a:prstGeom>
        </p:spPr>
      </p:pic>
      <p:sp>
        <p:nvSpPr>
          <p:cNvPr id="28" name="Text 21"/>
          <p:cNvSpPr/>
          <p:nvPr/>
        </p:nvSpPr>
        <p:spPr>
          <a:xfrm>
            <a:off x="1691640" y="4526280"/>
            <a:ext cx="5486400" cy="365760"/>
          </a:xfrm>
          <a:prstGeom prst="rect">
            <a:avLst/>
          </a:prstGeom>
          <a:noFill/>
          <a:ln/>
        </p:spPr>
        <p:txBody>
          <a:bodyPr wrap="square" rtlCol="0" anchor="ctr"/>
          <a:lstStyle/>
          <a:p>
            <a:pPr marL="0" indent="0">
              <a:buNone/>
            </a:pPr>
            <a:r>
              <a:rPr lang="en-US" sz="1400" b="1" dirty="0">
                <a:solidFill>
                  <a:srgbClr val="FFFFFF"/>
                </a:solidFill>
                <a:latin typeface="Courier New" pitchFamily="34" charset="0"/>
                <a:ea typeface="Courier New" pitchFamily="34" charset="-122"/>
                <a:cs typeface="Courier New" pitchFamily="34" charset="-120"/>
              </a:rPr>
              <a:t>read_json() / write_json()</a:t>
            </a:r>
            <a:endParaRPr lang="en-US" sz="1400" dirty="0"/>
          </a:p>
        </p:txBody>
      </p:sp>
      <p:sp>
        <p:nvSpPr>
          <p:cNvPr id="29" name="Text 22"/>
          <p:cNvSpPr/>
          <p:nvPr/>
        </p:nvSpPr>
        <p:spPr>
          <a:xfrm>
            <a:off x="1691640" y="4892040"/>
            <a:ext cx="9418320" cy="1188720"/>
          </a:xfrm>
          <a:prstGeom prst="rect">
            <a:avLst/>
          </a:prstGeom>
          <a:noFill/>
          <a:ln/>
        </p:spPr>
        <p:txBody>
          <a:bodyPr wrap="square" rtlCol="0" anchor="ctr"/>
          <a:lstStyle/>
          <a:p>
            <a:pPr marL="0" indent="0">
              <a:lnSpc>
                <a:spcPts val="1800"/>
              </a:lnSpc>
              <a:buNone/>
            </a:pPr>
            <a:r>
              <a:rPr lang="en-US" sz="1250" dirty="0">
                <a:solidFill>
                  <a:srgbClr val="BFE3DE"/>
                </a:solidFill>
                <a:latin typeface="Calibri" pitchFamily="34" charset="0"/>
                <a:ea typeface="Calibri" pitchFamily="34" charset="-122"/>
                <a:cs typeface="Calibri" pitchFamily="34" charset="-120"/>
              </a:rPr>
              <a:t>Two small helper functions load a list of dictionaries at startup and save it back after every change — so appointment history survives closing the program and restarting it, without ever running a database server.</a:t>
            </a:r>
            <a:endParaRPr lang="en-US" sz="1250" dirty="0"/>
          </a:p>
        </p:txBody>
      </p:sp>
      <p:sp>
        <p:nvSpPr>
          <p:cNvPr id="30" name="Text 23"/>
          <p:cNvSpPr/>
          <p:nvPr/>
        </p:nvSpPr>
        <p:spPr>
          <a:xfrm>
            <a:off x="457200" y="6519672"/>
            <a:ext cx="7315200" cy="274320"/>
          </a:xfrm>
          <a:prstGeom prst="rect">
            <a:avLst/>
          </a:prstGeom>
          <a:noFill/>
          <a:ln/>
        </p:spPr>
        <p:txBody>
          <a:bodyPr wrap="square" rtlCol="0" anchor="ctr"/>
          <a:lstStyle/>
          <a:p>
            <a:pPr marL="0" indent="0">
              <a:buNone/>
            </a:pPr>
            <a:r>
              <a:rPr lang="en-US" sz="900" kern="0" spc="100" dirty="0">
                <a:solidFill>
                  <a:srgbClr val="5C7A75"/>
                </a:solidFill>
                <a:latin typeface="Calibri" pitchFamily="34" charset="0"/>
                <a:ea typeface="Calibri" pitchFamily="34" charset="-122"/>
                <a:cs typeface="Calibri" pitchFamily="34" charset="-120"/>
              </a:rPr>
              <a:t>DOCTOR APPOINTMENT BOOKING SYSTEM  ·  PROJECT PLANNING</a:t>
            </a:r>
            <a:endParaRPr lang="en-US" sz="900" dirty="0"/>
          </a:p>
        </p:txBody>
      </p:sp>
      <p:sp>
        <p:nvSpPr>
          <p:cNvPr id="31" name="Text 24"/>
          <p:cNvSpPr/>
          <p:nvPr/>
        </p:nvSpPr>
        <p:spPr>
          <a:xfrm>
            <a:off x="11338560" y="6519672"/>
            <a:ext cx="457200" cy="274320"/>
          </a:xfrm>
          <a:prstGeom prst="rect">
            <a:avLst/>
          </a:prstGeom>
          <a:noFill/>
          <a:ln/>
        </p:spPr>
        <p:txBody>
          <a:bodyPr wrap="square" rtlCol="0" anchor="ctr"/>
          <a:lstStyle/>
          <a:p>
            <a:pPr marL="0" indent="0" algn="r">
              <a:buNone/>
            </a:pPr>
            <a:r>
              <a:rPr lang="en-US" sz="900" dirty="0">
                <a:solidFill>
                  <a:srgbClr val="5C7A75"/>
                </a:solidFill>
                <a:latin typeface="Calibri" pitchFamily="34" charset="0"/>
                <a:ea typeface="Calibri" pitchFamily="34" charset="-122"/>
                <a:cs typeface="Calibri" pitchFamily="34" charset="-120"/>
              </a:rPr>
              <a:t>13</a:t>
            </a:r>
            <a:endParaRPr lang="en-US" sz="9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2E2B"/>
        </a:solidFill>
        <a:effectLst/>
      </p:bgPr>
    </p:bg>
    <p:spTree>
      <p:nvGrpSpPr>
        <p:cNvPr id="1" name=""/>
        <p:cNvGrpSpPr/>
        <p:nvPr/>
      </p:nvGrpSpPr>
      <p:grpSpPr>
        <a:xfrm>
          <a:off x="0" y="0"/>
          <a:ext cx="0" cy="0"/>
          <a:chOff x="0" y="0"/>
          <a:chExt cx="0" cy="0"/>
        </a:xfrm>
      </p:grpSpPr>
      <p:sp>
        <p:nvSpPr>
          <p:cNvPr id="2" name="Shape 0"/>
          <p:cNvSpPr/>
          <p:nvPr/>
        </p:nvSpPr>
        <p:spPr>
          <a:xfrm>
            <a:off x="685800" y="502920"/>
            <a:ext cx="2743200" cy="347472"/>
          </a:xfrm>
          <a:prstGeom prst="roundRect">
            <a:avLst>
              <a:gd name="adj" fmla="val 50000"/>
            </a:avLst>
          </a:prstGeom>
          <a:solidFill>
            <a:srgbClr val="12504A"/>
          </a:solidFill>
          <a:ln/>
        </p:spPr>
      </p:sp>
      <p:sp>
        <p:nvSpPr>
          <p:cNvPr id="3" name="Text 1"/>
          <p:cNvSpPr/>
          <p:nvPr/>
        </p:nvSpPr>
        <p:spPr>
          <a:xfrm>
            <a:off x="685800" y="502920"/>
            <a:ext cx="2743200" cy="347472"/>
          </a:xfrm>
          <a:prstGeom prst="rect">
            <a:avLst/>
          </a:prstGeom>
          <a:noFill/>
          <a:ln/>
        </p:spPr>
        <p:txBody>
          <a:bodyPr wrap="square" rtlCol="0" anchor="ctr"/>
          <a:lstStyle/>
          <a:p>
            <a:pPr marL="0" indent="0" algn="ctr">
              <a:buNone/>
            </a:pPr>
            <a:r>
              <a:rPr lang="en-US" sz="1150" b="1" kern="0" spc="200" dirty="0">
                <a:solidFill>
                  <a:srgbClr val="02C39A"/>
                </a:solidFill>
                <a:latin typeface="Calibri" pitchFamily="34" charset="0"/>
                <a:ea typeface="Calibri" pitchFamily="34" charset="-122"/>
                <a:cs typeface="Calibri" pitchFamily="34" charset="-120"/>
              </a:rPr>
              <a:t>THE INTERFACE</a:t>
            </a:r>
            <a:endParaRPr lang="en-US" sz="1150" dirty="0"/>
          </a:p>
        </p:txBody>
      </p:sp>
      <p:sp>
        <p:nvSpPr>
          <p:cNvPr id="4" name="Text 2"/>
          <p:cNvSpPr/>
          <p:nvPr/>
        </p:nvSpPr>
        <p:spPr>
          <a:xfrm>
            <a:off x="548640" y="960120"/>
            <a:ext cx="10515600" cy="822960"/>
          </a:xfrm>
          <a:prstGeom prst="rect">
            <a:avLst/>
          </a:prstGeom>
          <a:noFill/>
          <a:ln/>
        </p:spPr>
        <p:txBody>
          <a:bodyPr wrap="square" rtlCol="0" anchor="ctr"/>
          <a:lstStyle/>
          <a:p>
            <a:pPr marL="0" indent="0" algn="l">
              <a:buNone/>
            </a:pPr>
            <a:r>
              <a:rPr lang="en-US" sz="3200" b="1" dirty="0">
                <a:solidFill>
                  <a:srgbClr val="FFFFFF"/>
                </a:solidFill>
                <a:latin typeface="Century Schoolbook" pitchFamily="34" charset="0"/>
                <a:ea typeface="Century Schoolbook" pitchFamily="34" charset="-122"/>
                <a:cs typeface="Century Schoolbook" pitchFamily="34" charset="-120"/>
              </a:rPr>
              <a:t>One Menu, Thirteen Actions</a:t>
            </a:r>
            <a:endParaRPr lang="en-US" sz="3200" dirty="0"/>
          </a:p>
        </p:txBody>
      </p:sp>
      <p:sp>
        <p:nvSpPr>
          <p:cNvPr id="5" name="Shape 3"/>
          <p:cNvSpPr/>
          <p:nvPr/>
        </p:nvSpPr>
        <p:spPr>
          <a:xfrm>
            <a:off x="2194560" y="1874520"/>
            <a:ext cx="7772400" cy="4480560"/>
          </a:xfrm>
          <a:prstGeom prst="roundRect">
            <a:avLst>
              <a:gd name="adj" fmla="val 2041"/>
            </a:avLst>
          </a:prstGeom>
          <a:solidFill>
            <a:srgbClr val="071815"/>
          </a:solidFill>
          <a:ln/>
        </p:spPr>
      </p:sp>
      <p:sp>
        <p:nvSpPr>
          <p:cNvPr id="6" name="Shape 4"/>
          <p:cNvSpPr/>
          <p:nvPr/>
        </p:nvSpPr>
        <p:spPr>
          <a:xfrm>
            <a:off x="2194560" y="1874520"/>
            <a:ext cx="7772400" cy="384048"/>
          </a:xfrm>
          <a:prstGeom prst="roundRect">
            <a:avLst>
              <a:gd name="adj" fmla="val 23810"/>
            </a:avLst>
          </a:prstGeom>
          <a:solidFill>
            <a:srgbClr val="12403B"/>
          </a:solidFill>
          <a:ln/>
        </p:spPr>
      </p:sp>
      <p:sp>
        <p:nvSpPr>
          <p:cNvPr id="7" name="Shape 5"/>
          <p:cNvSpPr/>
          <p:nvPr/>
        </p:nvSpPr>
        <p:spPr>
          <a:xfrm>
            <a:off x="2194560" y="2066544"/>
            <a:ext cx="7772400" cy="192024"/>
          </a:xfrm>
          <a:prstGeom prst="rect">
            <a:avLst/>
          </a:prstGeom>
          <a:solidFill>
            <a:srgbClr val="12403B"/>
          </a:solidFill>
          <a:ln/>
        </p:spPr>
      </p:sp>
      <p:sp>
        <p:nvSpPr>
          <p:cNvPr id="8" name="Shape 6"/>
          <p:cNvSpPr/>
          <p:nvPr/>
        </p:nvSpPr>
        <p:spPr>
          <a:xfrm>
            <a:off x="2395728" y="2011680"/>
            <a:ext cx="118872" cy="118872"/>
          </a:xfrm>
          <a:prstGeom prst="ellipse">
            <a:avLst/>
          </a:prstGeom>
          <a:solidFill>
            <a:srgbClr val="E85D5D"/>
          </a:solidFill>
          <a:ln/>
        </p:spPr>
      </p:sp>
      <p:sp>
        <p:nvSpPr>
          <p:cNvPr id="9" name="Shape 7"/>
          <p:cNvSpPr/>
          <p:nvPr/>
        </p:nvSpPr>
        <p:spPr>
          <a:xfrm>
            <a:off x="2633472" y="2011680"/>
            <a:ext cx="118872" cy="118872"/>
          </a:xfrm>
          <a:prstGeom prst="ellipse">
            <a:avLst/>
          </a:prstGeom>
          <a:solidFill>
            <a:srgbClr val="E0A422"/>
          </a:solidFill>
          <a:ln/>
        </p:spPr>
      </p:sp>
      <p:sp>
        <p:nvSpPr>
          <p:cNvPr id="10" name="Shape 8"/>
          <p:cNvSpPr/>
          <p:nvPr/>
        </p:nvSpPr>
        <p:spPr>
          <a:xfrm>
            <a:off x="2871216" y="2011680"/>
            <a:ext cx="118872" cy="118872"/>
          </a:xfrm>
          <a:prstGeom prst="ellipse">
            <a:avLst/>
          </a:prstGeom>
          <a:solidFill>
            <a:srgbClr val="02C39A"/>
          </a:solidFill>
          <a:ln/>
        </p:spPr>
      </p:sp>
      <p:sp>
        <p:nvSpPr>
          <p:cNvPr id="11" name="Text 9"/>
          <p:cNvSpPr/>
          <p:nvPr/>
        </p:nvSpPr>
        <p:spPr>
          <a:xfrm>
            <a:off x="2194560" y="1874520"/>
            <a:ext cx="7772400" cy="384048"/>
          </a:xfrm>
          <a:prstGeom prst="rect">
            <a:avLst/>
          </a:prstGeom>
          <a:noFill/>
          <a:ln/>
        </p:spPr>
        <p:txBody>
          <a:bodyPr wrap="square" rtlCol="0" anchor="ctr"/>
          <a:lstStyle/>
          <a:p>
            <a:pPr marL="0" indent="0" algn="ctr">
              <a:buNone/>
            </a:pPr>
            <a:r>
              <a:rPr lang="en-US" sz="1050" dirty="0">
                <a:solidFill>
                  <a:srgbClr val="9FD8CF"/>
                </a:solidFill>
                <a:latin typeface="Courier New" pitchFamily="34" charset="0"/>
                <a:ea typeface="Courier New" pitchFamily="34" charset="-122"/>
                <a:cs typeface="Courier New" pitchFamily="34" charset="-120"/>
              </a:rPr>
              <a:t>clinic_booking.py</a:t>
            </a:r>
            <a:endParaRPr lang="en-US" sz="1050" dirty="0"/>
          </a:p>
        </p:txBody>
      </p:sp>
      <p:sp>
        <p:nvSpPr>
          <p:cNvPr id="12" name="Text 10"/>
          <p:cNvSpPr/>
          <p:nvPr/>
        </p:nvSpPr>
        <p:spPr>
          <a:xfrm>
            <a:off x="2560320" y="2468880"/>
            <a:ext cx="7040880" cy="3657600"/>
          </a:xfrm>
          <a:prstGeom prst="rect">
            <a:avLst/>
          </a:prstGeom>
          <a:noFill/>
          <a:ln/>
        </p:spPr>
        <p:txBody>
          <a:bodyPr wrap="square" rtlCol="0" anchor="t"/>
          <a:lstStyle/>
          <a:p>
            <a:pPr marL="0" indent="0">
              <a:lnSpc>
                <a:spcPts val="2000"/>
              </a:lnSpc>
              <a:buNone/>
            </a:pPr>
            <a:r>
              <a:rPr lang="en-US" sz="1200" dirty="0">
                <a:solidFill>
                  <a:srgbClr val="02C39A"/>
                </a:solidFill>
                <a:latin typeface="Courier New" pitchFamily="34" charset="0"/>
                <a:ea typeface="Courier New" pitchFamily="34" charset="-122"/>
                <a:cs typeface="Courier New" pitchFamily="34" charset="-120"/>
              </a:rPr>
              <a:t>=============================================
        DOCTOR APPOINTMENT MANAGEMENT
=============================================
</a:t>
            </a:r>
            <a:r>
              <a:rPr lang="en-US" sz="1200" dirty="0">
                <a:solidFill>
                  <a:srgbClr val="CFEFEA"/>
                </a:solidFill>
                <a:latin typeface="Courier New" pitchFamily="34" charset="0"/>
                <a:ea typeface="Courier New" pitchFamily="34" charset="-122"/>
                <a:cs typeface="Courier New" pitchFamily="34" charset="-120"/>
              </a:rPr>
              <a:t>1. Doctor Management        8. Search Appointments
2. Patient Management       9. Cancel Appointment
3. Manage Doctor Schedule  10. Block Time Slot
4. Check Availability      11. Unblock Time Slot
5. Create Appointment      12. Daily Schedule
6. View Appointment        13. Exit
7. List Appointments
</a:t>
            </a:r>
            <a:r>
              <a:rPr lang="en-US" sz="1200" dirty="0">
                <a:solidFill>
                  <a:srgbClr val="FFFFFF"/>
                </a:solidFill>
                <a:latin typeface="Courier New" pitchFamily="34" charset="0"/>
                <a:ea typeface="Courier New" pitchFamily="34" charset="-122"/>
                <a:cs typeface="Courier New" pitchFamily="34" charset="-120"/>
              </a:rPr>
              <a:t>Enter your choice: _</a:t>
            </a:r>
            <a:endParaRPr lang="en-US" sz="1200" dirty="0"/>
          </a:p>
        </p:txBody>
      </p:sp>
      <p:sp>
        <p:nvSpPr>
          <p:cNvPr id="13" name="Text 11"/>
          <p:cNvSpPr/>
          <p:nvPr/>
        </p:nvSpPr>
        <p:spPr>
          <a:xfrm>
            <a:off x="457200" y="6519672"/>
            <a:ext cx="7315200" cy="274320"/>
          </a:xfrm>
          <a:prstGeom prst="rect">
            <a:avLst/>
          </a:prstGeom>
          <a:noFill/>
          <a:ln/>
        </p:spPr>
        <p:txBody>
          <a:bodyPr wrap="square" rtlCol="0" anchor="ctr"/>
          <a:lstStyle/>
          <a:p>
            <a:pPr marL="0" indent="0">
              <a:buNone/>
            </a:pPr>
            <a:r>
              <a:rPr lang="en-US" sz="900" kern="0" spc="100" dirty="0">
                <a:solidFill>
                  <a:srgbClr val="7FB8B0"/>
                </a:solidFill>
                <a:latin typeface="Calibri" pitchFamily="34" charset="0"/>
                <a:ea typeface="Calibri" pitchFamily="34" charset="-122"/>
                <a:cs typeface="Calibri" pitchFamily="34" charset="-120"/>
              </a:rPr>
              <a:t>DOCTOR APPOINTMENT BOOKING SYSTEM  ·  PROJECT PLANNING</a:t>
            </a:r>
            <a:endParaRPr lang="en-US" sz="900" dirty="0"/>
          </a:p>
        </p:txBody>
      </p:sp>
      <p:sp>
        <p:nvSpPr>
          <p:cNvPr id="14" name="Text 12"/>
          <p:cNvSpPr/>
          <p:nvPr/>
        </p:nvSpPr>
        <p:spPr>
          <a:xfrm>
            <a:off x="11338560" y="6519672"/>
            <a:ext cx="457200" cy="274320"/>
          </a:xfrm>
          <a:prstGeom prst="rect">
            <a:avLst/>
          </a:prstGeom>
          <a:noFill/>
          <a:ln/>
        </p:spPr>
        <p:txBody>
          <a:bodyPr wrap="square" rtlCol="0" anchor="ctr"/>
          <a:lstStyle/>
          <a:p>
            <a:pPr marL="0" indent="0" algn="r">
              <a:buNone/>
            </a:pPr>
            <a:r>
              <a:rPr lang="en-US" sz="900" dirty="0">
                <a:solidFill>
                  <a:srgbClr val="7FB8B0"/>
                </a:solidFill>
                <a:latin typeface="Calibri" pitchFamily="34" charset="0"/>
                <a:ea typeface="Calibri" pitchFamily="34" charset="-122"/>
                <a:cs typeface="Calibri" pitchFamily="34" charset="-120"/>
              </a:rPr>
              <a:t>14</a:t>
            </a:r>
            <a:endParaRPr lang="en-US" sz="9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BFA"/>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47472"/>
          </a:xfrm>
          <a:prstGeom prst="roundRect">
            <a:avLst>
              <a:gd name="adj" fmla="val 50000"/>
            </a:avLst>
          </a:prstGeom>
          <a:solidFill>
            <a:srgbClr val="E4F5F2"/>
          </a:solidFill>
          <a:ln/>
        </p:spPr>
      </p:sp>
      <p:sp>
        <p:nvSpPr>
          <p:cNvPr id="3" name="Text 1"/>
          <p:cNvSpPr/>
          <p:nvPr/>
        </p:nvSpPr>
        <p:spPr>
          <a:xfrm>
            <a:off x="548640" y="457200"/>
            <a:ext cx="3291840" cy="347472"/>
          </a:xfrm>
          <a:prstGeom prst="rect">
            <a:avLst/>
          </a:prstGeom>
          <a:noFill/>
          <a:ln/>
        </p:spPr>
        <p:txBody>
          <a:bodyPr wrap="square" rtlCol="0" anchor="ctr"/>
          <a:lstStyle/>
          <a:p>
            <a:pPr marL="0" indent="0" algn="ctr">
              <a:buNone/>
            </a:pPr>
            <a:r>
              <a:rPr lang="en-US" sz="1150" b="1" kern="0" spc="200" dirty="0">
                <a:solidFill>
                  <a:srgbClr val="028090"/>
                </a:solidFill>
                <a:latin typeface="Calibri" pitchFamily="34" charset="0"/>
                <a:ea typeface="Calibri" pitchFamily="34" charset="-122"/>
                <a:cs typeface="Calibri" pitchFamily="34" charset="-120"/>
              </a:rPr>
              <a:t>CREATE APPOINTMENT</a:t>
            </a:r>
            <a:endParaRPr lang="en-US" sz="1150" dirty="0"/>
          </a:p>
        </p:txBody>
      </p:sp>
      <p:sp>
        <p:nvSpPr>
          <p:cNvPr id="4" name="Text 2"/>
          <p:cNvSpPr/>
          <p:nvPr/>
        </p:nvSpPr>
        <p:spPr>
          <a:xfrm>
            <a:off x="548640" y="896112"/>
            <a:ext cx="10515600" cy="822960"/>
          </a:xfrm>
          <a:prstGeom prst="rect">
            <a:avLst/>
          </a:prstGeom>
          <a:noFill/>
          <a:ln/>
        </p:spPr>
        <p:txBody>
          <a:bodyPr wrap="square" rtlCol="0" anchor="ctr"/>
          <a:lstStyle/>
          <a:p>
            <a:pPr marL="0" indent="0" algn="l">
              <a:buNone/>
            </a:pPr>
            <a:r>
              <a:rPr lang="en-US" sz="3200" b="1" dirty="0">
                <a:solidFill>
                  <a:srgbClr val="0F2E2A"/>
                </a:solidFill>
                <a:latin typeface="Century Schoolbook" pitchFamily="34" charset="0"/>
                <a:ea typeface="Century Schoolbook" pitchFamily="34" charset="-122"/>
                <a:cs typeface="Century Schoolbook" pitchFamily="34" charset="-120"/>
              </a:rPr>
              <a:t>Every Booking Passes the Same Checklist</a:t>
            </a:r>
            <a:endParaRPr lang="en-US" sz="3200" dirty="0"/>
          </a:p>
        </p:txBody>
      </p:sp>
      <p:sp>
        <p:nvSpPr>
          <p:cNvPr id="5" name="Shape 3"/>
          <p:cNvSpPr/>
          <p:nvPr/>
        </p:nvSpPr>
        <p:spPr>
          <a:xfrm>
            <a:off x="548640" y="1828800"/>
            <a:ext cx="1755648" cy="1371600"/>
          </a:xfrm>
          <a:prstGeom prst="roundRect">
            <a:avLst>
              <a:gd name="adj" fmla="val 8000"/>
            </a:avLst>
          </a:prstGeom>
          <a:solidFill>
            <a:srgbClr val="FFFFFF"/>
          </a:solidFill>
          <a:ln/>
          <a:effectLst>
            <a:outerShdw blurRad="114300" dist="38100" dir="5400000" algn="bl" rotWithShape="0">
              <a:srgbClr val="1B4B45">
                <a:alpha val="18000"/>
              </a:srgbClr>
            </a:outerShdw>
          </a:effectLst>
        </p:spPr>
      </p:sp>
      <p:sp>
        <p:nvSpPr>
          <p:cNvPr id="6" name="Text 4"/>
          <p:cNvSpPr/>
          <p:nvPr/>
        </p:nvSpPr>
        <p:spPr>
          <a:xfrm>
            <a:off x="685800" y="1938528"/>
            <a:ext cx="548640" cy="457200"/>
          </a:xfrm>
          <a:prstGeom prst="rect">
            <a:avLst/>
          </a:prstGeom>
          <a:noFill/>
          <a:ln/>
        </p:spPr>
        <p:txBody>
          <a:bodyPr wrap="square" rtlCol="0" anchor="ctr"/>
          <a:lstStyle/>
          <a:p>
            <a:pPr marL="0" indent="0">
              <a:buNone/>
            </a:pPr>
            <a:r>
              <a:rPr lang="en-US" sz="2400" b="1" dirty="0">
                <a:solidFill>
                  <a:srgbClr val="00A896"/>
                </a:solidFill>
                <a:latin typeface="Century Schoolbook" pitchFamily="34" charset="0"/>
                <a:ea typeface="Century Schoolbook" pitchFamily="34" charset="-122"/>
                <a:cs typeface="Century Schoolbook" pitchFamily="34" charset="-120"/>
              </a:rPr>
              <a:t>1</a:t>
            </a:r>
            <a:endParaRPr lang="en-US" sz="2400" dirty="0"/>
          </a:p>
        </p:txBody>
      </p:sp>
      <p:sp>
        <p:nvSpPr>
          <p:cNvPr id="7" name="Text 5"/>
          <p:cNvSpPr/>
          <p:nvPr/>
        </p:nvSpPr>
        <p:spPr>
          <a:xfrm>
            <a:off x="685800" y="2450592"/>
            <a:ext cx="1481328" cy="685800"/>
          </a:xfrm>
          <a:prstGeom prst="rect">
            <a:avLst/>
          </a:prstGeom>
          <a:noFill/>
          <a:ln/>
        </p:spPr>
        <p:txBody>
          <a:bodyPr wrap="square" rtlCol="0" anchor="ctr"/>
          <a:lstStyle/>
          <a:p>
            <a:pPr marL="0" indent="0">
              <a:lnSpc>
                <a:spcPts val="1300"/>
              </a:lnSpc>
              <a:buNone/>
            </a:pPr>
            <a:r>
              <a:rPr lang="en-US" sz="1050" dirty="0">
                <a:solidFill>
                  <a:srgbClr val="0F2E2A"/>
                </a:solidFill>
                <a:latin typeface="Calibri" pitchFamily="34" charset="0"/>
                <a:ea typeface="Calibri" pitchFamily="34" charset="-122"/>
                <a:cs typeface="Calibri" pitchFamily="34" charset="-120"/>
              </a:rPr>
              <a:t>Doctor &amp; patient exist</a:t>
            </a:r>
            <a:endParaRPr lang="en-US" sz="1050" dirty="0"/>
          </a:p>
        </p:txBody>
      </p:sp>
      <p:sp>
        <p:nvSpPr>
          <p:cNvPr id="8" name="Text 6"/>
          <p:cNvSpPr/>
          <p:nvPr/>
        </p:nvSpPr>
        <p:spPr>
          <a:xfrm>
            <a:off x="2304288" y="2286000"/>
            <a:ext cx="146304" cy="457200"/>
          </a:xfrm>
          <a:prstGeom prst="rect">
            <a:avLst/>
          </a:prstGeom>
          <a:noFill/>
          <a:ln/>
        </p:spPr>
        <p:txBody>
          <a:bodyPr wrap="square" rtlCol="0" anchor="ctr"/>
          <a:lstStyle/>
          <a:p>
            <a:pPr marL="0" indent="0" algn="ctr">
              <a:buNone/>
            </a:pPr>
            <a:r>
              <a:rPr lang="en-US" sz="1600" b="1" dirty="0">
                <a:solidFill>
                  <a:srgbClr val="5C7A75"/>
                </a:solidFill>
                <a:latin typeface="Calibri" pitchFamily="34" charset="0"/>
                <a:ea typeface="Calibri" pitchFamily="34" charset="-122"/>
                <a:cs typeface="Calibri" pitchFamily="34" charset="-120"/>
              </a:rPr>
              <a:t>→</a:t>
            </a:r>
            <a:endParaRPr lang="en-US" sz="1600" dirty="0"/>
          </a:p>
        </p:txBody>
      </p:sp>
      <p:sp>
        <p:nvSpPr>
          <p:cNvPr id="9" name="Shape 7"/>
          <p:cNvSpPr/>
          <p:nvPr/>
        </p:nvSpPr>
        <p:spPr>
          <a:xfrm>
            <a:off x="2432304" y="1828800"/>
            <a:ext cx="1755648" cy="1371600"/>
          </a:xfrm>
          <a:prstGeom prst="roundRect">
            <a:avLst>
              <a:gd name="adj" fmla="val 8000"/>
            </a:avLst>
          </a:prstGeom>
          <a:solidFill>
            <a:srgbClr val="FFFFFF"/>
          </a:solidFill>
          <a:ln/>
          <a:effectLst>
            <a:outerShdw blurRad="114300" dist="38100" dir="5400000" algn="bl" rotWithShape="0">
              <a:srgbClr val="1B4B45">
                <a:alpha val="18000"/>
              </a:srgbClr>
            </a:outerShdw>
          </a:effectLst>
        </p:spPr>
      </p:sp>
      <p:sp>
        <p:nvSpPr>
          <p:cNvPr id="10" name="Text 8"/>
          <p:cNvSpPr/>
          <p:nvPr/>
        </p:nvSpPr>
        <p:spPr>
          <a:xfrm>
            <a:off x="2569464" y="1938528"/>
            <a:ext cx="548640" cy="457200"/>
          </a:xfrm>
          <a:prstGeom prst="rect">
            <a:avLst/>
          </a:prstGeom>
          <a:noFill/>
          <a:ln/>
        </p:spPr>
        <p:txBody>
          <a:bodyPr wrap="square" rtlCol="0" anchor="ctr"/>
          <a:lstStyle/>
          <a:p>
            <a:pPr marL="0" indent="0">
              <a:buNone/>
            </a:pPr>
            <a:r>
              <a:rPr lang="en-US" sz="2400" b="1" dirty="0">
                <a:solidFill>
                  <a:srgbClr val="00A896"/>
                </a:solidFill>
                <a:latin typeface="Century Schoolbook" pitchFamily="34" charset="0"/>
                <a:ea typeface="Century Schoolbook" pitchFamily="34" charset="-122"/>
                <a:cs typeface="Century Schoolbook" pitchFamily="34" charset="-120"/>
              </a:rPr>
              <a:t>2</a:t>
            </a:r>
            <a:endParaRPr lang="en-US" sz="2400" dirty="0"/>
          </a:p>
        </p:txBody>
      </p:sp>
      <p:sp>
        <p:nvSpPr>
          <p:cNvPr id="11" name="Text 9"/>
          <p:cNvSpPr/>
          <p:nvPr/>
        </p:nvSpPr>
        <p:spPr>
          <a:xfrm>
            <a:off x="2569464" y="2450592"/>
            <a:ext cx="1481328" cy="685800"/>
          </a:xfrm>
          <a:prstGeom prst="rect">
            <a:avLst/>
          </a:prstGeom>
          <a:noFill/>
          <a:ln/>
        </p:spPr>
        <p:txBody>
          <a:bodyPr wrap="square" rtlCol="0" anchor="ctr"/>
          <a:lstStyle/>
          <a:p>
            <a:pPr marL="0" indent="0">
              <a:lnSpc>
                <a:spcPts val="1300"/>
              </a:lnSpc>
              <a:buNone/>
            </a:pPr>
            <a:r>
              <a:rPr lang="en-US" sz="1050" dirty="0">
                <a:solidFill>
                  <a:srgbClr val="0F2E2A"/>
                </a:solidFill>
                <a:latin typeface="Calibri" pitchFamily="34" charset="0"/>
                <a:ea typeface="Calibri" pitchFamily="34" charset="-122"/>
                <a:cs typeface="Calibri" pitchFamily="34" charset="-120"/>
              </a:rPr>
              <a:t>Date is valid &amp; not in the past</a:t>
            </a:r>
            <a:endParaRPr lang="en-US" sz="1050" dirty="0"/>
          </a:p>
        </p:txBody>
      </p:sp>
      <p:sp>
        <p:nvSpPr>
          <p:cNvPr id="12" name="Text 10"/>
          <p:cNvSpPr/>
          <p:nvPr/>
        </p:nvSpPr>
        <p:spPr>
          <a:xfrm>
            <a:off x="4187952" y="2286000"/>
            <a:ext cx="146304" cy="457200"/>
          </a:xfrm>
          <a:prstGeom prst="rect">
            <a:avLst/>
          </a:prstGeom>
          <a:noFill/>
          <a:ln/>
        </p:spPr>
        <p:txBody>
          <a:bodyPr wrap="square" rtlCol="0" anchor="ctr"/>
          <a:lstStyle/>
          <a:p>
            <a:pPr marL="0" indent="0" algn="ctr">
              <a:buNone/>
            </a:pPr>
            <a:r>
              <a:rPr lang="en-US" sz="1600" b="1" dirty="0">
                <a:solidFill>
                  <a:srgbClr val="5C7A75"/>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4315968" y="1828800"/>
            <a:ext cx="1755648" cy="1371600"/>
          </a:xfrm>
          <a:prstGeom prst="roundRect">
            <a:avLst>
              <a:gd name="adj" fmla="val 8000"/>
            </a:avLst>
          </a:prstGeom>
          <a:solidFill>
            <a:srgbClr val="FFFFFF"/>
          </a:solidFill>
          <a:ln/>
          <a:effectLst>
            <a:outerShdw blurRad="114300" dist="38100" dir="5400000" algn="bl" rotWithShape="0">
              <a:srgbClr val="1B4B45">
                <a:alpha val="18000"/>
              </a:srgbClr>
            </a:outerShdw>
          </a:effectLst>
        </p:spPr>
      </p:sp>
      <p:sp>
        <p:nvSpPr>
          <p:cNvPr id="14" name="Text 12"/>
          <p:cNvSpPr/>
          <p:nvPr/>
        </p:nvSpPr>
        <p:spPr>
          <a:xfrm>
            <a:off x="4453128" y="1938528"/>
            <a:ext cx="548640" cy="457200"/>
          </a:xfrm>
          <a:prstGeom prst="rect">
            <a:avLst/>
          </a:prstGeom>
          <a:noFill/>
          <a:ln/>
        </p:spPr>
        <p:txBody>
          <a:bodyPr wrap="square" rtlCol="0" anchor="ctr"/>
          <a:lstStyle/>
          <a:p>
            <a:pPr marL="0" indent="0">
              <a:buNone/>
            </a:pPr>
            <a:r>
              <a:rPr lang="en-US" sz="2400" b="1" dirty="0">
                <a:solidFill>
                  <a:srgbClr val="00A896"/>
                </a:solidFill>
                <a:latin typeface="Century Schoolbook" pitchFamily="34" charset="0"/>
                <a:ea typeface="Century Schoolbook" pitchFamily="34" charset="-122"/>
                <a:cs typeface="Century Schoolbook" pitchFamily="34" charset="-120"/>
              </a:rPr>
              <a:t>3</a:t>
            </a:r>
            <a:endParaRPr lang="en-US" sz="2400" dirty="0"/>
          </a:p>
        </p:txBody>
      </p:sp>
      <p:sp>
        <p:nvSpPr>
          <p:cNvPr id="15" name="Text 13"/>
          <p:cNvSpPr/>
          <p:nvPr/>
        </p:nvSpPr>
        <p:spPr>
          <a:xfrm>
            <a:off x="4453128" y="2450592"/>
            <a:ext cx="1481328" cy="685800"/>
          </a:xfrm>
          <a:prstGeom prst="rect">
            <a:avLst/>
          </a:prstGeom>
          <a:noFill/>
          <a:ln/>
        </p:spPr>
        <p:txBody>
          <a:bodyPr wrap="square" rtlCol="0" anchor="ctr"/>
          <a:lstStyle/>
          <a:p>
            <a:pPr marL="0" indent="0">
              <a:lnSpc>
                <a:spcPts val="1300"/>
              </a:lnSpc>
              <a:buNone/>
            </a:pPr>
            <a:r>
              <a:rPr lang="en-US" sz="1050" dirty="0">
                <a:solidFill>
                  <a:srgbClr val="0F2E2A"/>
                </a:solidFill>
                <a:latin typeface="Calibri" pitchFamily="34" charset="0"/>
                <a:ea typeface="Calibri" pitchFamily="34" charset="-122"/>
                <a:cs typeface="Calibri" pitchFamily="34" charset="-120"/>
              </a:rPr>
              <a:t>Doctor works that day, in hours</a:t>
            </a:r>
            <a:endParaRPr lang="en-US" sz="1050" dirty="0"/>
          </a:p>
        </p:txBody>
      </p:sp>
      <p:sp>
        <p:nvSpPr>
          <p:cNvPr id="16" name="Text 14"/>
          <p:cNvSpPr/>
          <p:nvPr/>
        </p:nvSpPr>
        <p:spPr>
          <a:xfrm>
            <a:off x="6071616" y="2286000"/>
            <a:ext cx="146304" cy="457200"/>
          </a:xfrm>
          <a:prstGeom prst="rect">
            <a:avLst/>
          </a:prstGeom>
          <a:noFill/>
          <a:ln/>
        </p:spPr>
        <p:txBody>
          <a:bodyPr wrap="square" rtlCol="0" anchor="ctr"/>
          <a:lstStyle/>
          <a:p>
            <a:pPr marL="0" indent="0" algn="ctr">
              <a:buNone/>
            </a:pPr>
            <a:r>
              <a:rPr lang="en-US" sz="1600" b="1" dirty="0">
                <a:solidFill>
                  <a:srgbClr val="5C7A75"/>
                </a:solidFill>
                <a:latin typeface="Calibri" pitchFamily="34" charset="0"/>
                <a:ea typeface="Calibri" pitchFamily="34" charset="-122"/>
                <a:cs typeface="Calibri" pitchFamily="34" charset="-120"/>
              </a:rPr>
              <a:t>→</a:t>
            </a:r>
            <a:endParaRPr lang="en-US" sz="1600" dirty="0"/>
          </a:p>
        </p:txBody>
      </p:sp>
      <p:sp>
        <p:nvSpPr>
          <p:cNvPr id="17" name="Shape 15"/>
          <p:cNvSpPr/>
          <p:nvPr/>
        </p:nvSpPr>
        <p:spPr>
          <a:xfrm>
            <a:off x="6199632" y="1828800"/>
            <a:ext cx="1755648" cy="1371600"/>
          </a:xfrm>
          <a:prstGeom prst="roundRect">
            <a:avLst>
              <a:gd name="adj" fmla="val 8000"/>
            </a:avLst>
          </a:prstGeom>
          <a:solidFill>
            <a:srgbClr val="FFFFFF"/>
          </a:solidFill>
          <a:ln/>
          <a:effectLst>
            <a:outerShdw blurRad="114300" dist="38100" dir="5400000" algn="bl" rotWithShape="0">
              <a:srgbClr val="1B4B45">
                <a:alpha val="18000"/>
              </a:srgbClr>
            </a:outerShdw>
          </a:effectLst>
        </p:spPr>
      </p:sp>
      <p:sp>
        <p:nvSpPr>
          <p:cNvPr id="18" name="Text 16"/>
          <p:cNvSpPr/>
          <p:nvPr/>
        </p:nvSpPr>
        <p:spPr>
          <a:xfrm>
            <a:off x="6336792" y="1938528"/>
            <a:ext cx="548640" cy="457200"/>
          </a:xfrm>
          <a:prstGeom prst="rect">
            <a:avLst/>
          </a:prstGeom>
          <a:noFill/>
          <a:ln/>
        </p:spPr>
        <p:txBody>
          <a:bodyPr wrap="square" rtlCol="0" anchor="ctr"/>
          <a:lstStyle/>
          <a:p>
            <a:pPr marL="0" indent="0">
              <a:buNone/>
            </a:pPr>
            <a:r>
              <a:rPr lang="en-US" sz="2400" b="1" dirty="0">
                <a:solidFill>
                  <a:srgbClr val="00A896"/>
                </a:solidFill>
                <a:latin typeface="Century Schoolbook" pitchFamily="34" charset="0"/>
                <a:ea typeface="Century Schoolbook" pitchFamily="34" charset="-122"/>
                <a:cs typeface="Century Schoolbook" pitchFamily="34" charset="-120"/>
              </a:rPr>
              <a:t>4</a:t>
            </a:r>
            <a:endParaRPr lang="en-US" sz="2400" dirty="0"/>
          </a:p>
        </p:txBody>
      </p:sp>
      <p:sp>
        <p:nvSpPr>
          <p:cNvPr id="19" name="Text 17"/>
          <p:cNvSpPr/>
          <p:nvPr/>
        </p:nvSpPr>
        <p:spPr>
          <a:xfrm>
            <a:off x="6336792" y="2450592"/>
            <a:ext cx="1481328" cy="685800"/>
          </a:xfrm>
          <a:prstGeom prst="rect">
            <a:avLst/>
          </a:prstGeom>
          <a:noFill/>
          <a:ln/>
        </p:spPr>
        <p:txBody>
          <a:bodyPr wrap="square" rtlCol="0" anchor="ctr"/>
          <a:lstStyle/>
          <a:p>
            <a:pPr marL="0" indent="0">
              <a:lnSpc>
                <a:spcPts val="1300"/>
              </a:lnSpc>
              <a:buNone/>
            </a:pPr>
            <a:r>
              <a:rPr lang="en-US" sz="1050" dirty="0">
                <a:solidFill>
                  <a:srgbClr val="0F2E2A"/>
                </a:solidFill>
                <a:latin typeface="Calibri" pitchFamily="34" charset="0"/>
                <a:ea typeface="Calibri" pitchFamily="34" charset="-122"/>
                <a:cs typeface="Calibri" pitchFamily="34" charset="-120"/>
              </a:rPr>
              <a:t>Time matches a generated slot</a:t>
            </a:r>
            <a:endParaRPr lang="en-US" sz="1050" dirty="0"/>
          </a:p>
        </p:txBody>
      </p:sp>
      <p:sp>
        <p:nvSpPr>
          <p:cNvPr id="20" name="Text 18"/>
          <p:cNvSpPr/>
          <p:nvPr/>
        </p:nvSpPr>
        <p:spPr>
          <a:xfrm>
            <a:off x="7955280" y="2286000"/>
            <a:ext cx="146304" cy="457200"/>
          </a:xfrm>
          <a:prstGeom prst="rect">
            <a:avLst/>
          </a:prstGeom>
          <a:noFill/>
          <a:ln/>
        </p:spPr>
        <p:txBody>
          <a:bodyPr wrap="square" rtlCol="0" anchor="ctr"/>
          <a:lstStyle/>
          <a:p>
            <a:pPr marL="0" indent="0" algn="ctr">
              <a:buNone/>
            </a:pPr>
            <a:r>
              <a:rPr lang="en-US" sz="1600" b="1" dirty="0">
                <a:solidFill>
                  <a:srgbClr val="5C7A75"/>
                </a:solidFill>
                <a:latin typeface="Calibri" pitchFamily="34" charset="0"/>
                <a:ea typeface="Calibri" pitchFamily="34" charset="-122"/>
                <a:cs typeface="Calibri" pitchFamily="34" charset="-120"/>
              </a:rPr>
              <a:t>→</a:t>
            </a:r>
            <a:endParaRPr lang="en-US" sz="1600" dirty="0"/>
          </a:p>
        </p:txBody>
      </p:sp>
      <p:sp>
        <p:nvSpPr>
          <p:cNvPr id="21" name="Shape 19"/>
          <p:cNvSpPr/>
          <p:nvPr/>
        </p:nvSpPr>
        <p:spPr>
          <a:xfrm>
            <a:off x="8083296" y="1828800"/>
            <a:ext cx="1755648" cy="1371600"/>
          </a:xfrm>
          <a:prstGeom prst="roundRect">
            <a:avLst>
              <a:gd name="adj" fmla="val 8000"/>
            </a:avLst>
          </a:prstGeom>
          <a:solidFill>
            <a:srgbClr val="FFFFFF"/>
          </a:solidFill>
          <a:ln/>
          <a:effectLst>
            <a:outerShdw blurRad="114300" dist="38100" dir="5400000" algn="bl" rotWithShape="0">
              <a:srgbClr val="1B4B45">
                <a:alpha val="18000"/>
              </a:srgbClr>
            </a:outerShdw>
          </a:effectLst>
        </p:spPr>
      </p:sp>
      <p:sp>
        <p:nvSpPr>
          <p:cNvPr id="22" name="Text 20"/>
          <p:cNvSpPr/>
          <p:nvPr/>
        </p:nvSpPr>
        <p:spPr>
          <a:xfrm>
            <a:off x="8220456" y="1938528"/>
            <a:ext cx="548640" cy="457200"/>
          </a:xfrm>
          <a:prstGeom prst="rect">
            <a:avLst/>
          </a:prstGeom>
          <a:noFill/>
          <a:ln/>
        </p:spPr>
        <p:txBody>
          <a:bodyPr wrap="square" rtlCol="0" anchor="ctr"/>
          <a:lstStyle/>
          <a:p>
            <a:pPr marL="0" indent="0">
              <a:buNone/>
            </a:pPr>
            <a:r>
              <a:rPr lang="en-US" sz="2400" b="1" dirty="0">
                <a:solidFill>
                  <a:srgbClr val="00A896"/>
                </a:solidFill>
                <a:latin typeface="Century Schoolbook" pitchFamily="34" charset="0"/>
                <a:ea typeface="Century Schoolbook" pitchFamily="34" charset="-122"/>
                <a:cs typeface="Century Schoolbook" pitchFamily="34" charset="-120"/>
              </a:rPr>
              <a:t>5</a:t>
            </a:r>
            <a:endParaRPr lang="en-US" sz="2400" dirty="0"/>
          </a:p>
        </p:txBody>
      </p:sp>
      <p:sp>
        <p:nvSpPr>
          <p:cNvPr id="23" name="Text 21"/>
          <p:cNvSpPr/>
          <p:nvPr/>
        </p:nvSpPr>
        <p:spPr>
          <a:xfrm>
            <a:off x="8220456" y="2450592"/>
            <a:ext cx="1481328" cy="685800"/>
          </a:xfrm>
          <a:prstGeom prst="rect">
            <a:avLst/>
          </a:prstGeom>
          <a:noFill/>
          <a:ln/>
        </p:spPr>
        <p:txBody>
          <a:bodyPr wrap="square" rtlCol="0" anchor="ctr"/>
          <a:lstStyle/>
          <a:p>
            <a:pPr marL="0" indent="0">
              <a:lnSpc>
                <a:spcPts val="1300"/>
              </a:lnSpc>
              <a:buNone/>
            </a:pPr>
            <a:r>
              <a:rPr lang="en-US" sz="1050" dirty="0">
                <a:solidFill>
                  <a:srgbClr val="0F2E2A"/>
                </a:solidFill>
                <a:latin typeface="Calibri" pitchFamily="34" charset="0"/>
                <a:ea typeface="Calibri" pitchFamily="34" charset="-122"/>
                <a:cs typeface="Calibri" pitchFamily="34" charset="-120"/>
              </a:rPr>
              <a:t>Slot isn't blocked</a:t>
            </a:r>
            <a:endParaRPr lang="en-US" sz="1050" dirty="0"/>
          </a:p>
        </p:txBody>
      </p:sp>
      <p:sp>
        <p:nvSpPr>
          <p:cNvPr id="24" name="Text 22"/>
          <p:cNvSpPr/>
          <p:nvPr/>
        </p:nvSpPr>
        <p:spPr>
          <a:xfrm>
            <a:off x="9838944" y="2286000"/>
            <a:ext cx="146304" cy="457200"/>
          </a:xfrm>
          <a:prstGeom prst="rect">
            <a:avLst/>
          </a:prstGeom>
          <a:noFill/>
          <a:ln/>
        </p:spPr>
        <p:txBody>
          <a:bodyPr wrap="square" rtlCol="0" anchor="ctr"/>
          <a:lstStyle/>
          <a:p>
            <a:pPr marL="0" indent="0" algn="ctr">
              <a:buNone/>
            </a:pPr>
            <a:r>
              <a:rPr lang="en-US" sz="1600" b="1" dirty="0">
                <a:solidFill>
                  <a:srgbClr val="5C7A75"/>
                </a:solidFill>
                <a:latin typeface="Calibri" pitchFamily="34" charset="0"/>
                <a:ea typeface="Calibri" pitchFamily="34" charset="-122"/>
                <a:cs typeface="Calibri" pitchFamily="34" charset="-120"/>
              </a:rPr>
              <a:t>→</a:t>
            </a:r>
            <a:endParaRPr lang="en-US" sz="1600" dirty="0"/>
          </a:p>
        </p:txBody>
      </p:sp>
      <p:sp>
        <p:nvSpPr>
          <p:cNvPr id="25" name="Shape 23"/>
          <p:cNvSpPr/>
          <p:nvPr/>
        </p:nvSpPr>
        <p:spPr>
          <a:xfrm>
            <a:off x="9966960" y="1828800"/>
            <a:ext cx="1755648" cy="1371600"/>
          </a:xfrm>
          <a:prstGeom prst="roundRect">
            <a:avLst>
              <a:gd name="adj" fmla="val 8000"/>
            </a:avLst>
          </a:prstGeom>
          <a:solidFill>
            <a:srgbClr val="FFFFFF"/>
          </a:solidFill>
          <a:ln/>
          <a:effectLst>
            <a:outerShdw blurRad="114300" dist="38100" dir="5400000" algn="bl" rotWithShape="0">
              <a:srgbClr val="1B4B45">
                <a:alpha val="18000"/>
              </a:srgbClr>
            </a:outerShdw>
          </a:effectLst>
        </p:spPr>
      </p:sp>
      <p:sp>
        <p:nvSpPr>
          <p:cNvPr id="26" name="Text 24"/>
          <p:cNvSpPr/>
          <p:nvPr/>
        </p:nvSpPr>
        <p:spPr>
          <a:xfrm>
            <a:off x="10104120" y="1938528"/>
            <a:ext cx="548640" cy="457200"/>
          </a:xfrm>
          <a:prstGeom prst="rect">
            <a:avLst/>
          </a:prstGeom>
          <a:noFill/>
          <a:ln/>
        </p:spPr>
        <p:txBody>
          <a:bodyPr wrap="square" rtlCol="0" anchor="ctr"/>
          <a:lstStyle/>
          <a:p>
            <a:pPr marL="0" indent="0">
              <a:buNone/>
            </a:pPr>
            <a:r>
              <a:rPr lang="en-US" sz="2400" b="1" dirty="0">
                <a:solidFill>
                  <a:srgbClr val="00A896"/>
                </a:solidFill>
                <a:latin typeface="Century Schoolbook" pitchFamily="34" charset="0"/>
                <a:ea typeface="Century Schoolbook" pitchFamily="34" charset="-122"/>
                <a:cs typeface="Century Schoolbook" pitchFamily="34" charset="-120"/>
              </a:rPr>
              <a:t>6</a:t>
            </a:r>
            <a:endParaRPr lang="en-US" sz="2400" dirty="0"/>
          </a:p>
        </p:txBody>
      </p:sp>
      <p:sp>
        <p:nvSpPr>
          <p:cNvPr id="27" name="Text 25"/>
          <p:cNvSpPr/>
          <p:nvPr/>
        </p:nvSpPr>
        <p:spPr>
          <a:xfrm>
            <a:off x="10104120" y="2450592"/>
            <a:ext cx="1481328" cy="685800"/>
          </a:xfrm>
          <a:prstGeom prst="rect">
            <a:avLst/>
          </a:prstGeom>
          <a:noFill/>
          <a:ln/>
        </p:spPr>
        <p:txBody>
          <a:bodyPr wrap="square" rtlCol="0" anchor="ctr"/>
          <a:lstStyle/>
          <a:p>
            <a:pPr marL="0" indent="0">
              <a:lnSpc>
                <a:spcPts val="1300"/>
              </a:lnSpc>
              <a:buNone/>
            </a:pPr>
            <a:r>
              <a:rPr lang="en-US" sz="1050" dirty="0">
                <a:solidFill>
                  <a:srgbClr val="0F2E2A"/>
                </a:solidFill>
                <a:latin typeface="Calibri" pitchFamily="34" charset="0"/>
                <a:ea typeface="Calibri" pitchFamily="34" charset="-122"/>
                <a:cs typeface="Calibri" pitchFamily="34" charset="-120"/>
              </a:rPr>
              <a:t>Slot has no active appointment</a:t>
            </a:r>
            <a:endParaRPr lang="en-US" sz="1050" dirty="0"/>
          </a:p>
        </p:txBody>
      </p:sp>
      <p:sp>
        <p:nvSpPr>
          <p:cNvPr id="28" name="Shape 26"/>
          <p:cNvSpPr/>
          <p:nvPr/>
        </p:nvSpPr>
        <p:spPr>
          <a:xfrm>
            <a:off x="548640" y="3657600"/>
            <a:ext cx="11064240" cy="2514600"/>
          </a:xfrm>
          <a:prstGeom prst="roundRect">
            <a:avLst>
              <a:gd name="adj" fmla="val 4364"/>
            </a:avLst>
          </a:prstGeom>
          <a:solidFill>
            <a:srgbClr val="0E3D39"/>
          </a:solidFill>
          <a:ln/>
          <a:effectLst>
            <a:outerShdw blurRad="114300" dist="38100" dir="5400000" algn="bl" rotWithShape="0">
              <a:srgbClr val="1B4B45">
                <a:alpha val="18000"/>
              </a:srgbClr>
            </a:outerShdw>
          </a:effectLst>
        </p:spPr>
      </p:sp>
      <p:sp>
        <p:nvSpPr>
          <p:cNvPr id="29" name="Shape 27"/>
          <p:cNvSpPr/>
          <p:nvPr/>
        </p:nvSpPr>
        <p:spPr>
          <a:xfrm>
            <a:off x="914400" y="4023360"/>
            <a:ext cx="777240" cy="777240"/>
          </a:xfrm>
          <a:prstGeom prst="ellipse">
            <a:avLst/>
          </a:prstGeom>
          <a:solidFill>
            <a:srgbClr val="02C39A"/>
          </a:solidFill>
          <a:ln/>
        </p:spPr>
      </p:sp>
      <p:pic>
        <p:nvPicPr>
          <p:cNvPr id="30" name="Image 0" descr="/home/claude/booking_ppt/icons/check_dark.png"/>
          <p:cNvPicPr>
            <a:picLocks noChangeAspect="1"/>
          </p:cNvPicPr>
          <p:nvPr/>
        </p:nvPicPr>
        <p:blipFill>
          <a:blip r:embed="rId3"/>
          <a:stretch>
            <a:fillRect/>
          </a:stretch>
        </p:blipFill>
        <p:spPr>
          <a:xfrm>
            <a:off x="1015441" y="4124401"/>
            <a:ext cx="575158" cy="575158"/>
          </a:xfrm>
          <a:prstGeom prst="rect">
            <a:avLst/>
          </a:prstGeom>
        </p:spPr>
      </p:pic>
      <p:sp>
        <p:nvSpPr>
          <p:cNvPr id="31" name="Text 28"/>
          <p:cNvSpPr/>
          <p:nvPr/>
        </p:nvSpPr>
        <p:spPr>
          <a:xfrm>
            <a:off x="1920240" y="3977640"/>
            <a:ext cx="3108960" cy="365760"/>
          </a:xfrm>
          <a:prstGeom prst="rect">
            <a:avLst/>
          </a:prstGeom>
          <a:noFill/>
          <a:ln/>
        </p:spPr>
        <p:txBody>
          <a:bodyPr wrap="square" rtlCol="0" anchor="ctr"/>
          <a:lstStyle/>
          <a:p>
            <a:pPr marL="0" indent="0">
              <a:buNone/>
            </a:pPr>
            <a:r>
              <a:rPr lang="en-US" sz="1200" b="1" dirty="0">
                <a:solidFill>
                  <a:srgbClr val="9FD8CF"/>
                </a:solidFill>
                <a:latin typeface="Calibri" pitchFamily="34" charset="0"/>
                <a:ea typeface="Calibri" pitchFamily="34" charset="-122"/>
                <a:cs typeface="Calibri" pitchFamily="34" charset="-120"/>
              </a:rPr>
              <a:t>All checks pass →</a:t>
            </a:r>
            <a:endParaRPr lang="en-US" sz="1200" dirty="0"/>
          </a:p>
        </p:txBody>
      </p:sp>
      <p:sp>
        <p:nvSpPr>
          <p:cNvPr id="32" name="Text 29"/>
          <p:cNvSpPr/>
          <p:nvPr/>
        </p:nvSpPr>
        <p:spPr>
          <a:xfrm>
            <a:off x="1920240" y="4297680"/>
            <a:ext cx="7315200" cy="411480"/>
          </a:xfrm>
          <a:prstGeom prst="rect">
            <a:avLst/>
          </a:prstGeom>
          <a:noFill/>
          <a:ln/>
        </p:spPr>
        <p:txBody>
          <a:bodyPr wrap="square" rtlCol="0" anchor="ctr"/>
          <a:lstStyle/>
          <a:p>
            <a:pPr marL="0" indent="0">
              <a:buNone/>
            </a:pPr>
            <a:r>
              <a:rPr lang="en-US" sz="1900" b="1" dirty="0">
                <a:solidFill>
                  <a:srgbClr val="FFFFFF"/>
                </a:solidFill>
                <a:latin typeface="Century Schoolbook" pitchFamily="34" charset="0"/>
                <a:ea typeface="Century Schoolbook" pitchFamily="34" charset="-122"/>
                <a:cs typeface="Century Schoolbook" pitchFamily="34" charset="-120"/>
              </a:rPr>
              <a:t>Appointment created successfully.</a:t>
            </a:r>
            <a:endParaRPr lang="en-US" sz="1900" dirty="0"/>
          </a:p>
        </p:txBody>
      </p:sp>
      <p:sp>
        <p:nvSpPr>
          <p:cNvPr id="33" name="Text 30"/>
          <p:cNvSpPr/>
          <p:nvPr/>
        </p:nvSpPr>
        <p:spPr>
          <a:xfrm>
            <a:off x="1920240" y="4846320"/>
            <a:ext cx="4297680" cy="347472"/>
          </a:xfrm>
          <a:prstGeom prst="rect">
            <a:avLst/>
          </a:prstGeom>
          <a:noFill/>
          <a:ln/>
        </p:spPr>
        <p:txBody>
          <a:bodyPr wrap="square" rtlCol="0" anchor="ctr"/>
          <a:lstStyle/>
          <a:p>
            <a:pPr marL="0" indent="0">
              <a:buNone/>
            </a:pPr>
            <a:r>
              <a:rPr lang="en-US" sz="1150" dirty="0">
                <a:solidFill>
                  <a:srgbClr val="7FB8B0"/>
                </a:solidFill>
                <a:latin typeface="Courier New" pitchFamily="34" charset="0"/>
                <a:ea typeface="Courier New" pitchFamily="34" charset="-122"/>
                <a:cs typeface="Courier New" pitchFamily="34" charset="-120"/>
              </a:rPr>
              <a:t>Appointment ID:  </a:t>
            </a:r>
            <a:r>
              <a:rPr lang="en-US" sz="1150" b="1" dirty="0">
                <a:solidFill>
                  <a:srgbClr val="E4FBF7"/>
                </a:solidFill>
                <a:latin typeface="Courier New" pitchFamily="34" charset="0"/>
                <a:ea typeface="Courier New" pitchFamily="34" charset="-122"/>
                <a:cs typeface="Courier New" pitchFamily="34" charset="-120"/>
              </a:rPr>
              <a:t>1</a:t>
            </a:r>
            <a:endParaRPr lang="en-US" sz="1150" dirty="0"/>
          </a:p>
        </p:txBody>
      </p:sp>
      <p:sp>
        <p:nvSpPr>
          <p:cNvPr id="34" name="Text 31"/>
          <p:cNvSpPr/>
          <p:nvPr/>
        </p:nvSpPr>
        <p:spPr>
          <a:xfrm>
            <a:off x="6400800" y="4846320"/>
            <a:ext cx="4297680" cy="347472"/>
          </a:xfrm>
          <a:prstGeom prst="rect">
            <a:avLst/>
          </a:prstGeom>
          <a:noFill/>
          <a:ln/>
        </p:spPr>
        <p:txBody>
          <a:bodyPr wrap="square" rtlCol="0" anchor="ctr"/>
          <a:lstStyle/>
          <a:p>
            <a:pPr marL="0" indent="0">
              <a:buNone/>
            </a:pPr>
            <a:r>
              <a:rPr lang="en-US" sz="1150" dirty="0">
                <a:solidFill>
                  <a:srgbClr val="7FB8B0"/>
                </a:solidFill>
                <a:latin typeface="Courier New" pitchFamily="34" charset="0"/>
                <a:ea typeface="Courier New" pitchFamily="34" charset="-122"/>
                <a:cs typeface="Courier New" pitchFamily="34" charset="-120"/>
              </a:rPr>
              <a:t>Patient:  </a:t>
            </a:r>
            <a:r>
              <a:rPr lang="en-US" sz="1150" b="1" dirty="0">
                <a:solidFill>
                  <a:srgbClr val="E4FBF7"/>
                </a:solidFill>
                <a:latin typeface="Courier New" pitchFamily="34" charset="0"/>
                <a:ea typeface="Courier New" pitchFamily="34" charset="-122"/>
                <a:cs typeface="Courier New" pitchFamily="34" charset="-120"/>
              </a:rPr>
              <a:t>John Doe</a:t>
            </a:r>
            <a:endParaRPr lang="en-US" sz="1150" dirty="0"/>
          </a:p>
        </p:txBody>
      </p:sp>
      <p:sp>
        <p:nvSpPr>
          <p:cNvPr id="35" name="Text 32"/>
          <p:cNvSpPr/>
          <p:nvPr/>
        </p:nvSpPr>
        <p:spPr>
          <a:xfrm>
            <a:off x="1920240" y="5230368"/>
            <a:ext cx="4297680" cy="347472"/>
          </a:xfrm>
          <a:prstGeom prst="rect">
            <a:avLst/>
          </a:prstGeom>
          <a:noFill/>
          <a:ln/>
        </p:spPr>
        <p:txBody>
          <a:bodyPr wrap="square" rtlCol="0" anchor="ctr"/>
          <a:lstStyle/>
          <a:p>
            <a:pPr marL="0" indent="0">
              <a:buNone/>
            </a:pPr>
            <a:r>
              <a:rPr lang="en-US" sz="1150" dirty="0">
                <a:solidFill>
                  <a:srgbClr val="7FB8B0"/>
                </a:solidFill>
                <a:latin typeface="Courier New" pitchFamily="34" charset="0"/>
                <a:ea typeface="Courier New" pitchFamily="34" charset="-122"/>
                <a:cs typeface="Courier New" pitchFamily="34" charset="-120"/>
              </a:rPr>
              <a:t>Doctor:  </a:t>
            </a:r>
            <a:r>
              <a:rPr lang="en-US" sz="1150" b="1" dirty="0">
                <a:solidFill>
                  <a:srgbClr val="E4FBF7"/>
                </a:solidFill>
                <a:latin typeface="Courier New" pitchFamily="34" charset="0"/>
                <a:ea typeface="Courier New" pitchFamily="34" charset="-122"/>
                <a:cs typeface="Courier New" pitchFamily="34" charset="-120"/>
              </a:rPr>
              <a:t>Dr. Rahman</a:t>
            </a:r>
            <a:endParaRPr lang="en-US" sz="1150" dirty="0"/>
          </a:p>
        </p:txBody>
      </p:sp>
      <p:sp>
        <p:nvSpPr>
          <p:cNvPr id="36" name="Text 33"/>
          <p:cNvSpPr/>
          <p:nvPr/>
        </p:nvSpPr>
        <p:spPr>
          <a:xfrm>
            <a:off x="6400800" y="5230368"/>
            <a:ext cx="4297680" cy="347472"/>
          </a:xfrm>
          <a:prstGeom prst="rect">
            <a:avLst/>
          </a:prstGeom>
          <a:noFill/>
          <a:ln/>
        </p:spPr>
        <p:txBody>
          <a:bodyPr wrap="square" rtlCol="0" anchor="ctr"/>
          <a:lstStyle/>
          <a:p>
            <a:pPr marL="0" indent="0">
              <a:buNone/>
            </a:pPr>
            <a:r>
              <a:rPr lang="en-US" sz="1150" dirty="0">
                <a:solidFill>
                  <a:srgbClr val="7FB8B0"/>
                </a:solidFill>
                <a:latin typeface="Courier New" pitchFamily="34" charset="0"/>
                <a:ea typeface="Courier New" pitchFamily="34" charset="-122"/>
                <a:cs typeface="Courier New" pitchFamily="34" charset="-120"/>
              </a:rPr>
              <a:t>Date / Time:  </a:t>
            </a:r>
            <a:r>
              <a:rPr lang="en-US" sz="1150" b="1" dirty="0">
                <a:solidFill>
                  <a:srgbClr val="E4FBF7"/>
                </a:solidFill>
                <a:latin typeface="Courier New" pitchFamily="34" charset="0"/>
                <a:ea typeface="Courier New" pitchFamily="34" charset="-122"/>
                <a:cs typeface="Courier New" pitchFamily="34" charset="-120"/>
              </a:rPr>
              <a:t>2026-08-10  ·  10:00</a:t>
            </a:r>
            <a:endParaRPr lang="en-US" sz="1150" dirty="0"/>
          </a:p>
        </p:txBody>
      </p:sp>
      <p:sp>
        <p:nvSpPr>
          <p:cNvPr id="37" name="Text 34"/>
          <p:cNvSpPr/>
          <p:nvPr/>
        </p:nvSpPr>
        <p:spPr>
          <a:xfrm>
            <a:off x="1920240" y="5614416"/>
            <a:ext cx="4297680" cy="347472"/>
          </a:xfrm>
          <a:prstGeom prst="rect">
            <a:avLst/>
          </a:prstGeom>
          <a:noFill/>
          <a:ln/>
        </p:spPr>
        <p:txBody>
          <a:bodyPr wrap="square" rtlCol="0" anchor="ctr"/>
          <a:lstStyle/>
          <a:p>
            <a:pPr marL="0" indent="0">
              <a:buNone/>
            </a:pPr>
            <a:r>
              <a:rPr lang="en-US" sz="1150" dirty="0">
                <a:solidFill>
                  <a:srgbClr val="7FB8B0"/>
                </a:solidFill>
                <a:latin typeface="Courier New" pitchFamily="34" charset="0"/>
                <a:ea typeface="Courier New" pitchFamily="34" charset="-122"/>
                <a:cs typeface="Courier New" pitchFamily="34" charset="-120"/>
              </a:rPr>
              <a:t>Status:  </a:t>
            </a:r>
            <a:r>
              <a:rPr lang="en-US" sz="1150" b="1" dirty="0">
                <a:solidFill>
                  <a:srgbClr val="E4FBF7"/>
                </a:solidFill>
                <a:latin typeface="Courier New" pitchFamily="34" charset="0"/>
                <a:ea typeface="Courier New" pitchFamily="34" charset="-122"/>
                <a:cs typeface="Courier New" pitchFamily="34" charset="-120"/>
              </a:rPr>
              <a:t>Confirmed</a:t>
            </a:r>
            <a:endParaRPr lang="en-US" sz="1150" dirty="0"/>
          </a:p>
        </p:txBody>
      </p:sp>
      <p:sp>
        <p:nvSpPr>
          <p:cNvPr id="38" name="Text 35"/>
          <p:cNvSpPr/>
          <p:nvPr/>
        </p:nvSpPr>
        <p:spPr>
          <a:xfrm>
            <a:off x="457200" y="6519672"/>
            <a:ext cx="7315200" cy="274320"/>
          </a:xfrm>
          <a:prstGeom prst="rect">
            <a:avLst/>
          </a:prstGeom>
          <a:noFill/>
          <a:ln/>
        </p:spPr>
        <p:txBody>
          <a:bodyPr wrap="square" rtlCol="0" anchor="ctr"/>
          <a:lstStyle/>
          <a:p>
            <a:pPr marL="0" indent="0">
              <a:buNone/>
            </a:pPr>
            <a:r>
              <a:rPr lang="en-US" sz="900" kern="0" spc="100" dirty="0">
                <a:solidFill>
                  <a:srgbClr val="5C7A75"/>
                </a:solidFill>
                <a:latin typeface="Calibri" pitchFamily="34" charset="0"/>
                <a:ea typeface="Calibri" pitchFamily="34" charset="-122"/>
                <a:cs typeface="Calibri" pitchFamily="34" charset="-120"/>
              </a:rPr>
              <a:t>DOCTOR APPOINTMENT BOOKING SYSTEM  ·  PROJECT PLANNING</a:t>
            </a:r>
            <a:endParaRPr lang="en-US" sz="900" dirty="0"/>
          </a:p>
        </p:txBody>
      </p:sp>
      <p:sp>
        <p:nvSpPr>
          <p:cNvPr id="39" name="Text 36"/>
          <p:cNvSpPr/>
          <p:nvPr/>
        </p:nvSpPr>
        <p:spPr>
          <a:xfrm>
            <a:off x="11338560" y="6519672"/>
            <a:ext cx="457200" cy="274320"/>
          </a:xfrm>
          <a:prstGeom prst="rect">
            <a:avLst/>
          </a:prstGeom>
          <a:noFill/>
          <a:ln/>
        </p:spPr>
        <p:txBody>
          <a:bodyPr wrap="square" rtlCol="0" anchor="ctr"/>
          <a:lstStyle/>
          <a:p>
            <a:pPr marL="0" indent="0" algn="r">
              <a:buNone/>
            </a:pPr>
            <a:r>
              <a:rPr lang="en-US" sz="900" dirty="0">
                <a:solidFill>
                  <a:srgbClr val="5C7A75"/>
                </a:solidFill>
                <a:latin typeface="Calibri" pitchFamily="34" charset="0"/>
                <a:ea typeface="Calibri" pitchFamily="34" charset="-122"/>
                <a:cs typeface="Calibri" pitchFamily="34" charset="-120"/>
              </a:rPr>
              <a:t>15</a:t>
            </a:r>
            <a:endParaRPr lang="en-US" sz="9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BFA"/>
        </a:solidFill>
        <a:effectLst/>
      </p:bgPr>
    </p:bg>
    <p:spTree>
      <p:nvGrpSpPr>
        <p:cNvPr id="1" name=""/>
        <p:cNvGrpSpPr/>
        <p:nvPr/>
      </p:nvGrpSpPr>
      <p:grpSpPr>
        <a:xfrm>
          <a:off x="0" y="0"/>
          <a:ext cx="0" cy="0"/>
          <a:chOff x="0" y="0"/>
          <a:chExt cx="0" cy="0"/>
        </a:xfrm>
      </p:grpSpPr>
      <p:sp>
        <p:nvSpPr>
          <p:cNvPr id="2" name="Shape 0"/>
          <p:cNvSpPr/>
          <p:nvPr/>
        </p:nvSpPr>
        <p:spPr>
          <a:xfrm>
            <a:off x="548640" y="457200"/>
            <a:ext cx="3291840" cy="347472"/>
          </a:xfrm>
          <a:prstGeom prst="roundRect">
            <a:avLst>
              <a:gd name="adj" fmla="val 50000"/>
            </a:avLst>
          </a:prstGeom>
          <a:solidFill>
            <a:srgbClr val="E4F5F2"/>
          </a:solidFill>
          <a:ln/>
        </p:spPr>
      </p:sp>
      <p:sp>
        <p:nvSpPr>
          <p:cNvPr id="3" name="Text 1"/>
          <p:cNvSpPr/>
          <p:nvPr/>
        </p:nvSpPr>
        <p:spPr>
          <a:xfrm>
            <a:off x="548640" y="457200"/>
            <a:ext cx="3291840" cy="347472"/>
          </a:xfrm>
          <a:prstGeom prst="rect">
            <a:avLst/>
          </a:prstGeom>
          <a:noFill/>
          <a:ln/>
        </p:spPr>
        <p:txBody>
          <a:bodyPr wrap="square" rtlCol="0" anchor="ctr"/>
          <a:lstStyle/>
          <a:p>
            <a:pPr marL="0" indent="0" algn="ctr">
              <a:buNone/>
            </a:pPr>
            <a:r>
              <a:rPr lang="en-US" sz="1150" b="1" kern="0" spc="200" dirty="0">
                <a:solidFill>
                  <a:srgbClr val="028090"/>
                </a:solidFill>
                <a:latin typeface="Calibri" pitchFamily="34" charset="0"/>
                <a:ea typeface="Calibri" pitchFamily="34" charset="-122"/>
                <a:cs typeface="Calibri" pitchFamily="34" charset="-120"/>
              </a:rPr>
              <a:t>DEFINITION OF DONE</a:t>
            </a:r>
            <a:endParaRPr lang="en-US" sz="1150" dirty="0"/>
          </a:p>
        </p:txBody>
      </p:sp>
      <p:sp>
        <p:nvSpPr>
          <p:cNvPr id="4" name="Text 2"/>
          <p:cNvSpPr/>
          <p:nvPr/>
        </p:nvSpPr>
        <p:spPr>
          <a:xfrm>
            <a:off x="548640" y="896112"/>
            <a:ext cx="10515600" cy="822960"/>
          </a:xfrm>
          <a:prstGeom prst="rect">
            <a:avLst/>
          </a:prstGeom>
          <a:noFill/>
          <a:ln/>
        </p:spPr>
        <p:txBody>
          <a:bodyPr wrap="square" rtlCol="0" anchor="ctr"/>
          <a:lstStyle/>
          <a:p>
            <a:pPr marL="0" indent="0" algn="l">
              <a:buNone/>
            </a:pPr>
            <a:r>
              <a:rPr lang="en-US" sz="3200" b="1" dirty="0">
                <a:solidFill>
                  <a:srgbClr val="0F2E2A"/>
                </a:solidFill>
                <a:latin typeface="Century Schoolbook" pitchFamily="34" charset="0"/>
                <a:ea typeface="Century Schoolbook" pitchFamily="34" charset="-122"/>
                <a:cs typeface="Century Schoolbook" pitchFamily="34" charset="-120"/>
              </a:rPr>
              <a:t>The Project Succeeds When It Can…</a:t>
            </a:r>
            <a:endParaRPr lang="en-US" sz="3200" dirty="0"/>
          </a:p>
        </p:txBody>
      </p:sp>
      <p:sp>
        <p:nvSpPr>
          <p:cNvPr id="5" name="Shape 3"/>
          <p:cNvSpPr/>
          <p:nvPr/>
        </p:nvSpPr>
        <p:spPr>
          <a:xfrm>
            <a:off x="548640" y="1691640"/>
            <a:ext cx="5349240" cy="685800"/>
          </a:xfrm>
          <a:prstGeom prst="roundRect">
            <a:avLst>
              <a:gd name="adj" fmla="val 13333"/>
            </a:avLst>
          </a:prstGeom>
          <a:solidFill>
            <a:srgbClr val="FFFFFF"/>
          </a:solidFill>
          <a:ln/>
          <a:effectLst>
            <a:outerShdw blurRad="114300" dist="38100" dir="5400000" algn="bl" rotWithShape="0">
              <a:srgbClr val="1B4B45">
                <a:alpha val="18000"/>
              </a:srgbClr>
            </a:outerShdw>
          </a:effectLst>
        </p:spPr>
      </p:sp>
      <p:sp>
        <p:nvSpPr>
          <p:cNvPr id="6" name="Shape 4"/>
          <p:cNvSpPr/>
          <p:nvPr/>
        </p:nvSpPr>
        <p:spPr>
          <a:xfrm>
            <a:off x="676656" y="1860804"/>
            <a:ext cx="347472" cy="347472"/>
          </a:xfrm>
          <a:prstGeom prst="ellipse">
            <a:avLst/>
          </a:prstGeom>
          <a:solidFill>
            <a:srgbClr val="02C39A"/>
          </a:solidFill>
          <a:ln/>
        </p:spPr>
      </p:sp>
      <p:pic>
        <p:nvPicPr>
          <p:cNvPr id="7" name="Image 0" descr="/home/claude/booking_ppt/icons/check_white.png"/>
          <p:cNvPicPr>
            <a:picLocks noChangeAspect="1"/>
          </p:cNvPicPr>
          <p:nvPr/>
        </p:nvPicPr>
        <p:blipFill>
          <a:blip r:embed="rId3"/>
          <a:stretch>
            <a:fillRect/>
          </a:stretch>
        </p:blipFill>
        <p:spPr>
          <a:xfrm>
            <a:off x="721827" y="1905975"/>
            <a:ext cx="257129" cy="257129"/>
          </a:xfrm>
          <a:prstGeom prst="rect">
            <a:avLst/>
          </a:prstGeom>
        </p:spPr>
      </p:pic>
      <p:sp>
        <p:nvSpPr>
          <p:cNvPr id="8" name="Text 5"/>
          <p:cNvSpPr/>
          <p:nvPr/>
        </p:nvSpPr>
        <p:spPr>
          <a:xfrm>
            <a:off x="1152144" y="1691640"/>
            <a:ext cx="4572000" cy="685800"/>
          </a:xfrm>
          <a:prstGeom prst="rect">
            <a:avLst/>
          </a:prstGeom>
          <a:noFill/>
          <a:ln/>
        </p:spPr>
        <p:txBody>
          <a:bodyPr wrap="square" rtlCol="0" anchor="ctr"/>
          <a:lstStyle/>
          <a:p>
            <a:pPr marL="0" indent="0">
              <a:buNone/>
            </a:pPr>
            <a:r>
              <a:rPr lang="en-US" sz="1200" dirty="0">
                <a:solidFill>
                  <a:srgbClr val="0F2E2A"/>
                </a:solidFill>
                <a:latin typeface="Calibri" pitchFamily="34" charset="0"/>
                <a:ea typeface="Calibri" pitchFamily="34" charset="-122"/>
                <a:cs typeface="Calibri" pitchFamily="34" charset="-120"/>
              </a:rPr>
              <a:t>Add &amp; manage doctors and patients</a:t>
            </a:r>
            <a:endParaRPr lang="en-US" sz="1200" dirty="0"/>
          </a:p>
        </p:txBody>
      </p:sp>
      <p:sp>
        <p:nvSpPr>
          <p:cNvPr id="9" name="Shape 6"/>
          <p:cNvSpPr/>
          <p:nvPr/>
        </p:nvSpPr>
        <p:spPr>
          <a:xfrm>
            <a:off x="6400800" y="1691640"/>
            <a:ext cx="5349240" cy="685800"/>
          </a:xfrm>
          <a:prstGeom prst="roundRect">
            <a:avLst>
              <a:gd name="adj" fmla="val 13333"/>
            </a:avLst>
          </a:prstGeom>
          <a:solidFill>
            <a:srgbClr val="FFFFFF"/>
          </a:solidFill>
          <a:ln/>
          <a:effectLst>
            <a:outerShdw blurRad="114300" dist="38100" dir="5400000" algn="bl" rotWithShape="0">
              <a:srgbClr val="1B4B45">
                <a:alpha val="18000"/>
              </a:srgbClr>
            </a:outerShdw>
          </a:effectLst>
        </p:spPr>
      </p:sp>
      <p:sp>
        <p:nvSpPr>
          <p:cNvPr id="10" name="Shape 7"/>
          <p:cNvSpPr/>
          <p:nvPr/>
        </p:nvSpPr>
        <p:spPr>
          <a:xfrm>
            <a:off x="6528816" y="1860804"/>
            <a:ext cx="347472" cy="347472"/>
          </a:xfrm>
          <a:prstGeom prst="ellipse">
            <a:avLst/>
          </a:prstGeom>
          <a:solidFill>
            <a:srgbClr val="02C39A"/>
          </a:solidFill>
          <a:ln/>
        </p:spPr>
      </p:sp>
      <p:pic>
        <p:nvPicPr>
          <p:cNvPr id="11" name="Image 1" descr="/home/claude/booking_ppt/icons/check_white.png"/>
          <p:cNvPicPr>
            <a:picLocks noChangeAspect="1"/>
          </p:cNvPicPr>
          <p:nvPr/>
        </p:nvPicPr>
        <p:blipFill>
          <a:blip r:embed="rId3"/>
          <a:stretch>
            <a:fillRect/>
          </a:stretch>
        </p:blipFill>
        <p:spPr>
          <a:xfrm>
            <a:off x="6573987" y="1905975"/>
            <a:ext cx="257129" cy="257129"/>
          </a:xfrm>
          <a:prstGeom prst="rect">
            <a:avLst/>
          </a:prstGeom>
        </p:spPr>
      </p:pic>
      <p:sp>
        <p:nvSpPr>
          <p:cNvPr id="12" name="Text 8"/>
          <p:cNvSpPr/>
          <p:nvPr/>
        </p:nvSpPr>
        <p:spPr>
          <a:xfrm>
            <a:off x="7004304" y="1691640"/>
            <a:ext cx="4572000" cy="685800"/>
          </a:xfrm>
          <a:prstGeom prst="rect">
            <a:avLst/>
          </a:prstGeom>
          <a:noFill/>
          <a:ln/>
        </p:spPr>
        <p:txBody>
          <a:bodyPr wrap="square" rtlCol="0" anchor="ctr"/>
          <a:lstStyle/>
          <a:p>
            <a:pPr marL="0" indent="0">
              <a:buNone/>
            </a:pPr>
            <a:r>
              <a:rPr lang="en-US" sz="1200" dirty="0">
                <a:solidFill>
                  <a:srgbClr val="0F2E2A"/>
                </a:solidFill>
                <a:latin typeface="Calibri" pitchFamily="34" charset="0"/>
                <a:ea typeface="Calibri" pitchFamily="34" charset="-122"/>
                <a:cs typeface="Calibri" pitchFamily="34" charset="-120"/>
              </a:rPr>
              <a:t>Define each doctor's working schedule</a:t>
            </a:r>
            <a:endParaRPr lang="en-US" sz="1200" dirty="0"/>
          </a:p>
        </p:txBody>
      </p:sp>
      <p:sp>
        <p:nvSpPr>
          <p:cNvPr id="13" name="Shape 9"/>
          <p:cNvSpPr/>
          <p:nvPr/>
        </p:nvSpPr>
        <p:spPr>
          <a:xfrm>
            <a:off x="548640" y="2505456"/>
            <a:ext cx="5349240" cy="685800"/>
          </a:xfrm>
          <a:prstGeom prst="roundRect">
            <a:avLst>
              <a:gd name="adj" fmla="val 13333"/>
            </a:avLst>
          </a:prstGeom>
          <a:solidFill>
            <a:srgbClr val="FFFFFF"/>
          </a:solidFill>
          <a:ln/>
          <a:effectLst>
            <a:outerShdw blurRad="114300" dist="38100" dir="5400000" algn="bl" rotWithShape="0">
              <a:srgbClr val="1B4B45">
                <a:alpha val="18000"/>
              </a:srgbClr>
            </a:outerShdw>
          </a:effectLst>
        </p:spPr>
      </p:sp>
      <p:sp>
        <p:nvSpPr>
          <p:cNvPr id="14" name="Shape 10"/>
          <p:cNvSpPr/>
          <p:nvPr/>
        </p:nvSpPr>
        <p:spPr>
          <a:xfrm>
            <a:off x="676656" y="2674620"/>
            <a:ext cx="347472" cy="347472"/>
          </a:xfrm>
          <a:prstGeom prst="ellipse">
            <a:avLst/>
          </a:prstGeom>
          <a:solidFill>
            <a:srgbClr val="02C39A"/>
          </a:solidFill>
          <a:ln/>
        </p:spPr>
      </p:sp>
      <p:pic>
        <p:nvPicPr>
          <p:cNvPr id="15" name="Image 2" descr="/home/claude/booking_ppt/icons/check_white.png"/>
          <p:cNvPicPr>
            <a:picLocks noChangeAspect="1"/>
          </p:cNvPicPr>
          <p:nvPr/>
        </p:nvPicPr>
        <p:blipFill>
          <a:blip r:embed="rId3"/>
          <a:stretch>
            <a:fillRect/>
          </a:stretch>
        </p:blipFill>
        <p:spPr>
          <a:xfrm>
            <a:off x="721827" y="2719791"/>
            <a:ext cx="257129" cy="257129"/>
          </a:xfrm>
          <a:prstGeom prst="rect">
            <a:avLst/>
          </a:prstGeom>
        </p:spPr>
      </p:pic>
      <p:sp>
        <p:nvSpPr>
          <p:cNvPr id="16" name="Text 11"/>
          <p:cNvSpPr/>
          <p:nvPr/>
        </p:nvSpPr>
        <p:spPr>
          <a:xfrm>
            <a:off x="1152144" y="2505456"/>
            <a:ext cx="4572000" cy="685800"/>
          </a:xfrm>
          <a:prstGeom prst="rect">
            <a:avLst/>
          </a:prstGeom>
          <a:noFill/>
          <a:ln/>
        </p:spPr>
        <p:txBody>
          <a:bodyPr wrap="square" rtlCol="0" anchor="ctr"/>
          <a:lstStyle/>
          <a:p>
            <a:pPr marL="0" indent="0">
              <a:buNone/>
            </a:pPr>
            <a:r>
              <a:rPr lang="en-US" sz="1200" dirty="0">
                <a:solidFill>
                  <a:srgbClr val="0F2E2A"/>
                </a:solidFill>
                <a:latin typeface="Calibri" pitchFamily="34" charset="0"/>
                <a:ea typeface="Calibri" pitchFamily="34" charset="-122"/>
                <a:cs typeface="Calibri" pitchFamily="34" charset="-120"/>
              </a:rPr>
              <a:t>Generate time slots dynamically</a:t>
            </a:r>
            <a:endParaRPr lang="en-US" sz="1200" dirty="0"/>
          </a:p>
        </p:txBody>
      </p:sp>
      <p:sp>
        <p:nvSpPr>
          <p:cNvPr id="17" name="Shape 12"/>
          <p:cNvSpPr/>
          <p:nvPr/>
        </p:nvSpPr>
        <p:spPr>
          <a:xfrm>
            <a:off x="6400800" y="2505456"/>
            <a:ext cx="5349240" cy="685800"/>
          </a:xfrm>
          <a:prstGeom prst="roundRect">
            <a:avLst>
              <a:gd name="adj" fmla="val 13333"/>
            </a:avLst>
          </a:prstGeom>
          <a:solidFill>
            <a:srgbClr val="FFFFFF"/>
          </a:solidFill>
          <a:ln/>
          <a:effectLst>
            <a:outerShdw blurRad="114300" dist="38100" dir="5400000" algn="bl" rotWithShape="0">
              <a:srgbClr val="1B4B45">
                <a:alpha val="18000"/>
              </a:srgbClr>
            </a:outerShdw>
          </a:effectLst>
        </p:spPr>
      </p:sp>
      <p:sp>
        <p:nvSpPr>
          <p:cNvPr id="18" name="Shape 13"/>
          <p:cNvSpPr/>
          <p:nvPr/>
        </p:nvSpPr>
        <p:spPr>
          <a:xfrm>
            <a:off x="6528816" y="2674620"/>
            <a:ext cx="347472" cy="347472"/>
          </a:xfrm>
          <a:prstGeom prst="ellipse">
            <a:avLst/>
          </a:prstGeom>
          <a:solidFill>
            <a:srgbClr val="02C39A"/>
          </a:solidFill>
          <a:ln/>
        </p:spPr>
      </p:sp>
      <p:pic>
        <p:nvPicPr>
          <p:cNvPr id="19" name="Image 3" descr="/home/claude/booking_ppt/icons/check_white.png"/>
          <p:cNvPicPr>
            <a:picLocks noChangeAspect="1"/>
          </p:cNvPicPr>
          <p:nvPr/>
        </p:nvPicPr>
        <p:blipFill>
          <a:blip r:embed="rId3"/>
          <a:stretch>
            <a:fillRect/>
          </a:stretch>
        </p:blipFill>
        <p:spPr>
          <a:xfrm>
            <a:off x="6573987" y="2719791"/>
            <a:ext cx="257129" cy="257129"/>
          </a:xfrm>
          <a:prstGeom prst="rect">
            <a:avLst/>
          </a:prstGeom>
        </p:spPr>
      </p:pic>
      <p:sp>
        <p:nvSpPr>
          <p:cNvPr id="20" name="Text 14"/>
          <p:cNvSpPr/>
          <p:nvPr/>
        </p:nvSpPr>
        <p:spPr>
          <a:xfrm>
            <a:off x="7004304" y="2505456"/>
            <a:ext cx="4572000" cy="685800"/>
          </a:xfrm>
          <a:prstGeom prst="rect">
            <a:avLst/>
          </a:prstGeom>
          <a:noFill/>
          <a:ln/>
        </p:spPr>
        <p:txBody>
          <a:bodyPr wrap="square" rtlCol="0" anchor="ctr"/>
          <a:lstStyle/>
          <a:p>
            <a:pPr marL="0" indent="0">
              <a:buNone/>
            </a:pPr>
            <a:r>
              <a:rPr lang="en-US" sz="1200" dirty="0">
                <a:solidFill>
                  <a:srgbClr val="0F2E2A"/>
                </a:solidFill>
                <a:latin typeface="Calibri" pitchFamily="34" charset="0"/>
                <a:ea typeface="Calibri" pitchFamily="34" charset="-122"/>
                <a:cs typeface="Calibri" pitchFamily="34" charset="-120"/>
              </a:rPr>
              <a:t>Show available vs. unavailable slots</a:t>
            </a:r>
            <a:endParaRPr lang="en-US" sz="1200" dirty="0"/>
          </a:p>
        </p:txBody>
      </p:sp>
      <p:sp>
        <p:nvSpPr>
          <p:cNvPr id="21" name="Shape 15"/>
          <p:cNvSpPr/>
          <p:nvPr/>
        </p:nvSpPr>
        <p:spPr>
          <a:xfrm>
            <a:off x="548640" y="3319272"/>
            <a:ext cx="5349240" cy="685800"/>
          </a:xfrm>
          <a:prstGeom prst="roundRect">
            <a:avLst>
              <a:gd name="adj" fmla="val 13333"/>
            </a:avLst>
          </a:prstGeom>
          <a:solidFill>
            <a:srgbClr val="FFFFFF"/>
          </a:solidFill>
          <a:ln/>
          <a:effectLst>
            <a:outerShdw blurRad="114300" dist="38100" dir="5400000" algn="bl" rotWithShape="0">
              <a:srgbClr val="1B4B45">
                <a:alpha val="18000"/>
              </a:srgbClr>
            </a:outerShdw>
          </a:effectLst>
        </p:spPr>
      </p:sp>
      <p:sp>
        <p:nvSpPr>
          <p:cNvPr id="22" name="Shape 16"/>
          <p:cNvSpPr/>
          <p:nvPr/>
        </p:nvSpPr>
        <p:spPr>
          <a:xfrm>
            <a:off x="676656" y="3488436"/>
            <a:ext cx="347472" cy="347472"/>
          </a:xfrm>
          <a:prstGeom prst="ellipse">
            <a:avLst/>
          </a:prstGeom>
          <a:solidFill>
            <a:srgbClr val="02C39A"/>
          </a:solidFill>
          <a:ln/>
        </p:spPr>
      </p:sp>
      <p:pic>
        <p:nvPicPr>
          <p:cNvPr id="23" name="Image 4" descr="/home/claude/booking_ppt/icons/check_white.png"/>
          <p:cNvPicPr>
            <a:picLocks noChangeAspect="1"/>
          </p:cNvPicPr>
          <p:nvPr/>
        </p:nvPicPr>
        <p:blipFill>
          <a:blip r:embed="rId3"/>
          <a:stretch>
            <a:fillRect/>
          </a:stretch>
        </p:blipFill>
        <p:spPr>
          <a:xfrm>
            <a:off x="721827" y="3533607"/>
            <a:ext cx="257129" cy="257129"/>
          </a:xfrm>
          <a:prstGeom prst="rect">
            <a:avLst/>
          </a:prstGeom>
        </p:spPr>
      </p:pic>
      <p:sp>
        <p:nvSpPr>
          <p:cNvPr id="24" name="Text 17"/>
          <p:cNvSpPr/>
          <p:nvPr/>
        </p:nvSpPr>
        <p:spPr>
          <a:xfrm>
            <a:off x="1152144" y="3319272"/>
            <a:ext cx="4572000" cy="685800"/>
          </a:xfrm>
          <a:prstGeom prst="rect">
            <a:avLst/>
          </a:prstGeom>
          <a:noFill/>
          <a:ln/>
        </p:spPr>
        <p:txBody>
          <a:bodyPr wrap="square" rtlCol="0" anchor="ctr"/>
          <a:lstStyle/>
          <a:p>
            <a:pPr marL="0" indent="0">
              <a:buNone/>
            </a:pPr>
            <a:r>
              <a:rPr lang="en-US" sz="1200" dirty="0">
                <a:solidFill>
                  <a:srgbClr val="0F2E2A"/>
                </a:solidFill>
                <a:latin typeface="Calibri" pitchFamily="34" charset="0"/>
                <a:ea typeface="Calibri" pitchFamily="34" charset="-122"/>
                <a:cs typeface="Calibri" pitchFamily="34" charset="-120"/>
              </a:rPr>
              <a:t>Create appointments with full validation</a:t>
            </a:r>
            <a:endParaRPr lang="en-US" sz="1200" dirty="0"/>
          </a:p>
        </p:txBody>
      </p:sp>
      <p:sp>
        <p:nvSpPr>
          <p:cNvPr id="25" name="Shape 18"/>
          <p:cNvSpPr/>
          <p:nvPr/>
        </p:nvSpPr>
        <p:spPr>
          <a:xfrm>
            <a:off x="6400800" y="3319272"/>
            <a:ext cx="5349240" cy="685800"/>
          </a:xfrm>
          <a:prstGeom prst="roundRect">
            <a:avLst>
              <a:gd name="adj" fmla="val 13333"/>
            </a:avLst>
          </a:prstGeom>
          <a:solidFill>
            <a:srgbClr val="FFFFFF"/>
          </a:solidFill>
          <a:ln/>
          <a:effectLst>
            <a:outerShdw blurRad="114300" dist="38100" dir="5400000" algn="bl" rotWithShape="0">
              <a:srgbClr val="1B4B45">
                <a:alpha val="18000"/>
              </a:srgbClr>
            </a:outerShdw>
          </a:effectLst>
        </p:spPr>
      </p:sp>
      <p:sp>
        <p:nvSpPr>
          <p:cNvPr id="26" name="Shape 19"/>
          <p:cNvSpPr/>
          <p:nvPr/>
        </p:nvSpPr>
        <p:spPr>
          <a:xfrm>
            <a:off x="6528816" y="3488436"/>
            <a:ext cx="347472" cy="347472"/>
          </a:xfrm>
          <a:prstGeom prst="ellipse">
            <a:avLst/>
          </a:prstGeom>
          <a:solidFill>
            <a:srgbClr val="02C39A"/>
          </a:solidFill>
          <a:ln/>
        </p:spPr>
      </p:sp>
      <p:pic>
        <p:nvPicPr>
          <p:cNvPr id="27" name="Image 5" descr="/home/claude/booking_ppt/icons/check_white.png"/>
          <p:cNvPicPr>
            <a:picLocks noChangeAspect="1"/>
          </p:cNvPicPr>
          <p:nvPr/>
        </p:nvPicPr>
        <p:blipFill>
          <a:blip r:embed="rId3"/>
          <a:stretch>
            <a:fillRect/>
          </a:stretch>
        </p:blipFill>
        <p:spPr>
          <a:xfrm>
            <a:off x="6573987" y="3533607"/>
            <a:ext cx="257129" cy="257129"/>
          </a:xfrm>
          <a:prstGeom prst="rect">
            <a:avLst/>
          </a:prstGeom>
        </p:spPr>
      </p:pic>
      <p:sp>
        <p:nvSpPr>
          <p:cNvPr id="28" name="Text 20"/>
          <p:cNvSpPr/>
          <p:nvPr/>
        </p:nvSpPr>
        <p:spPr>
          <a:xfrm>
            <a:off x="7004304" y="3319272"/>
            <a:ext cx="4572000" cy="685800"/>
          </a:xfrm>
          <a:prstGeom prst="rect">
            <a:avLst/>
          </a:prstGeom>
          <a:noFill/>
          <a:ln/>
        </p:spPr>
        <p:txBody>
          <a:bodyPr wrap="square" rtlCol="0" anchor="ctr"/>
          <a:lstStyle/>
          <a:p>
            <a:pPr marL="0" indent="0">
              <a:buNone/>
            </a:pPr>
            <a:r>
              <a:rPr lang="en-US" sz="1200" dirty="0">
                <a:solidFill>
                  <a:srgbClr val="0F2E2A"/>
                </a:solidFill>
                <a:latin typeface="Calibri" pitchFamily="34" charset="0"/>
                <a:ea typeface="Calibri" pitchFamily="34" charset="-122"/>
                <a:cs typeface="Calibri" pitchFamily="34" charset="-120"/>
              </a:rPr>
              <a:t>Prevent every double booking</a:t>
            </a:r>
            <a:endParaRPr lang="en-US" sz="1200" dirty="0"/>
          </a:p>
        </p:txBody>
      </p:sp>
      <p:sp>
        <p:nvSpPr>
          <p:cNvPr id="29" name="Shape 21"/>
          <p:cNvSpPr/>
          <p:nvPr/>
        </p:nvSpPr>
        <p:spPr>
          <a:xfrm>
            <a:off x="548640" y="4133088"/>
            <a:ext cx="5349240" cy="685800"/>
          </a:xfrm>
          <a:prstGeom prst="roundRect">
            <a:avLst>
              <a:gd name="adj" fmla="val 13333"/>
            </a:avLst>
          </a:prstGeom>
          <a:solidFill>
            <a:srgbClr val="FFFFFF"/>
          </a:solidFill>
          <a:ln/>
          <a:effectLst>
            <a:outerShdw blurRad="114300" dist="38100" dir="5400000" algn="bl" rotWithShape="0">
              <a:srgbClr val="1B4B45">
                <a:alpha val="18000"/>
              </a:srgbClr>
            </a:outerShdw>
          </a:effectLst>
        </p:spPr>
      </p:sp>
      <p:sp>
        <p:nvSpPr>
          <p:cNvPr id="30" name="Shape 22"/>
          <p:cNvSpPr/>
          <p:nvPr/>
        </p:nvSpPr>
        <p:spPr>
          <a:xfrm>
            <a:off x="676656" y="4302252"/>
            <a:ext cx="347472" cy="347472"/>
          </a:xfrm>
          <a:prstGeom prst="ellipse">
            <a:avLst/>
          </a:prstGeom>
          <a:solidFill>
            <a:srgbClr val="02C39A"/>
          </a:solidFill>
          <a:ln/>
        </p:spPr>
      </p:sp>
      <p:pic>
        <p:nvPicPr>
          <p:cNvPr id="31" name="Image 6" descr="/home/claude/booking_ppt/icons/check_white.png"/>
          <p:cNvPicPr>
            <a:picLocks noChangeAspect="1"/>
          </p:cNvPicPr>
          <p:nvPr/>
        </p:nvPicPr>
        <p:blipFill>
          <a:blip r:embed="rId3"/>
          <a:stretch>
            <a:fillRect/>
          </a:stretch>
        </p:blipFill>
        <p:spPr>
          <a:xfrm>
            <a:off x="721827" y="4347423"/>
            <a:ext cx="257129" cy="257129"/>
          </a:xfrm>
          <a:prstGeom prst="rect">
            <a:avLst/>
          </a:prstGeom>
        </p:spPr>
      </p:pic>
      <p:sp>
        <p:nvSpPr>
          <p:cNvPr id="32" name="Text 23"/>
          <p:cNvSpPr/>
          <p:nvPr/>
        </p:nvSpPr>
        <p:spPr>
          <a:xfrm>
            <a:off x="1152144" y="4133088"/>
            <a:ext cx="4572000" cy="685800"/>
          </a:xfrm>
          <a:prstGeom prst="rect">
            <a:avLst/>
          </a:prstGeom>
          <a:noFill/>
          <a:ln/>
        </p:spPr>
        <p:txBody>
          <a:bodyPr wrap="square" rtlCol="0" anchor="ctr"/>
          <a:lstStyle/>
          <a:p>
            <a:pPr marL="0" indent="0">
              <a:buNone/>
            </a:pPr>
            <a:r>
              <a:rPr lang="en-US" sz="1200" dirty="0">
                <a:solidFill>
                  <a:srgbClr val="0F2E2A"/>
                </a:solidFill>
                <a:latin typeface="Calibri" pitchFamily="34" charset="0"/>
                <a:ea typeface="Calibri" pitchFamily="34" charset="-122"/>
                <a:cs typeface="Calibri" pitchFamily="34" charset="-120"/>
              </a:rPr>
              <a:t>Cancel appointments without losing history</a:t>
            </a:r>
            <a:endParaRPr lang="en-US" sz="1200" dirty="0"/>
          </a:p>
        </p:txBody>
      </p:sp>
      <p:sp>
        <p:nvSpPr>
          <p:cNvPr id="33" name="Shape 24"/>
          <p:cNvSpPr/>
          <p:nvPr/>
        </p:nvSpPr>
        <p:spPr>
          <a:xfrm>
            <a:off x="6400800" y="4133088"/>
            <a:ext cx="5349240" cy="685800"/>
          </a:xfrm>
          <a:prstGeom prst="roundRect">
            <a:avLst>
              <a:gd name="adj" fmla="val 13333"/>
            </a:avLst>
          </a:prstGeom>
          <a:solidFill>
            <a:srgbClr val="FFFFFF"/>
          </a:solidFill>
          <a:ln/>
          <a:effectLst>
            <a:outerShdw blurRad="114300" dist="38100" dir="5400000" algn="bl" rotWithShape="0">
              <a:srgbClr val="1B4B45">
                <a:alpha val="18000"/>
              </a:srgbClr>
            </a:outerShdw>
          </a:effectLst>
        </p:spPr>
      </p:sp>
      <p:sp>
        <p:nvSpPr>
          <p:cNvPr id="34" name="Shape 25"/>
          <p:cNvSpPr/>
          <p:nvPr/>
        </p:nvSpPr>
        <p:spPr>
          <a:xfrm>
            <a:off x="6528816" y="4302252"/>
            <a:ext cx="347472" cy="347472"/>
          </a:xfrm>
          <a:prstGeom prst="ellipse">
            <a:avLst/>
          </a:prstGeom>
          <a:solidFill>
            <a:srgbClr val="02C39A"/>
          </a:solidFill>
          <a:ln/>
        </p:spPr>
      </p:sp>
      <p:pic>
        <p:nvPicPr>
          <p:cNvPr id="35" name="Image 7" descr="/home/claude/booking_ppt/icons/check_white.png"/>
          <p:cNvPicPr>
            <a:picLocks noChangeAspect="1"/>
          </p:cNvPicPr>
          <p:nvPr/>
        </p:nvPicPr>
        <p:blipFill>
          <a:blip r:embed="rId3"/>
          <a:stretch>
            <a:fillRect/>
          </a:stretch>
        </p:blipFill>
        <p:spPr>
          <a:xfrm>
            <a:off x="6573987" y="4347423"/>
            <a:ext cx="257129" cy="257129"/>
          </a:xfrm>
          <a:prstGeom prst="rect">
            <a:avLst/>
          </a:prstGeom>
        </p:spPr>
      </p:pic>
      <p:sp>
        <p:nvSpPr>
          <p:cNvPr id="36" name="Text 26"/>
          <p:cNvSpPr/>
          <p:nvPr/>
        </p:nvSpPr>
        <p:spPr>
          <a:xfrm>
            <a:off x="7004304" y="4133088"/>
            <a:ext cx="4572000" cy="685800"/>
          </a:xfrm>
          <a:prstGeom prst="rect">
            <a:avLst/>
          </a:prstGeom>
          <a:noFill/>
          <a:ln/>
        </p:spPr>
        <p:txBody>
          <a:bodyPr wrap="square" rtlCol="0" anchor="ctr"/>
          <a:lstStyle/>
          <a:p>
            <a:pPr marL="0" indent="0">
              <a:buNone/>
            </a:pPr>
            <a:r>
              <a:rPr lang="en-US" sz="1200" dirty="0">
                <a:solidFill>
                  <a:srgbClr val="0F2E2A"/>
                </a:solidFill>
                <a:latin typeface="Calibri" pitchFamily="34" charset="0"/>
                <a:ea typeface="Calibri" pitchFamily="34" charset="-122"/>
                <a:cs typeface="Calibri" pitchFamily="34" charset="-120"/>
              </a:rPr>
              <a:t>Block &amp; unblock time slots on demand</a:t>
            </a:r>
            <a:endParaRPr lang="en-US" sz="1200" dirty="0"/>
          </a:p>
        </p:txBody>
      </p:sp>
      <p:sp>
        <p:nvSpPr>
          <p:cNvPr id="37" name="Shape 27"/>
          <p:cNvSpPr/>
          <p:nvPr/>
        </p:nvSpPr>
        <p:spPr>
          <a:xfrm>
            <a:off x="548640" y="4946904"/>
            <a:ext cx="5349240" cy="685800"/>
          </a:xfrm>
          <a:prstGeom prst="roundRect">
            <a:avLst>
              <a:gd name="adj" fmla="val 13333"/>
            </a:avLst>
          </a:prstGeom>
          <a:solidFill>
            <a:srgbClr val="FFFFFF"/>
          </a:solidFill>
          <a:ln/>
          <a:effectLst>
            <a:outerShdw blurRad="114300" dist="38100" dir="5400000" algn="bl" rotWithShape="0">
              <a:srgbClr val="1B4B45">
                <a:alpha val="18000"/>
              </a:srgbClr>
            </a:outerShdw>
          </a:effectLst>
        </p:spPr>
      </p:sp>
      <p:sp>
        <p:nvSpPr>
          <p:cNvPr id="38" name="Shape 28"/>
          <p:cNvSpPr/>
          <p:nvPr/>
        </p:nvSpPr>
        <p:spPr>
          <a:xfrm>
            <a:off x="676656" y="5116068"/>
            <a:ext cx="347472" cy="347472"/>
          </a:xfrm>
          <a:prstGeom prst="ellipse">
            <a:avLst/>
          </a:prstGeom>
          <a:solidFill>
            <a:srgbClr val="02C39A"/>
          </a:solidFill>
          <a:ln/>
        </p:spPr>
      </p:sp>
      <p:pic>
        <p:nvPicPr>
          <p:cNvPr id="39" name="Image 8" descr="/home/claude/booking_ppt/icons/check_white.png"/>
          <p:cNvPicPr>
            <a:picLocks noChangeAspect="1"/>
          </p:cNvPicPr>
          <p:nvPr/>
        </p:nvPicPr>
        <p:blipFill>
          <a:blip r:embed="rId3"/>
          <a:stretch>
            <a:fillRect/>
          </a:stretch>
        </p:blipFill>
        <p:spPr>
          <a:xfrm>
            <a:off x="721827" y="5161239"/>
            <a:ext cx="257129" cy="257129"/>
          </a:xfrm>
          <a:prstGeom prst="rect">
            <a:avLst/>
          </a:prstGeom>
        </p:spPr>
      </p:pic>
      <p:sp>
        <p:nvSpPr>
          <p:cNvPr id="40" name="Text 29"/>
          <p:cNvSpPr/>
          <p:nvPr/>
        </p:nvSpPr>
        <p:spPr>
          <a:xfrm>
            <a:off x="1152144" y="4946904"/>
            <a:ext cx="4572000" cy="685800"/>
          </a:xfrm>
          <a:prstGeom prst="rect">
            <a:avLst/>
          </a:prstGeom>
          <a:noFill/>
          <a:ln/>
        </p:spPr>
        <p:txBody>
          <a:bodyPr wrap="square" rtlCol="0" anchor="ctr"/>
          <a:lstStyle/>
          <a:p>
            <a:pPr marL="0" indent="0">
              <a:buNone/>
            </a:pPr>
            <a:r>
              <a:rPr lang="en-US" sz="1200" dirty="0">
                <a:solidFill>
                  <a:srgbClr val="0F2E2A"/>
                </a:solidFill>
                <a:latin typeface="Calibri" pitchFamily="34" charset="0"/>
                <a:ea typeface="Calibri" pitchFamily="34" charset="-122"/>
                <a:cs typeface="Calibri" pitchFamily="34" charset="-120"/>
              </a:rPr>
              <a:t>Search &amp; view appointment details</a:t>
            </a:r>
            <a:endParaRPr lang="en-US" sz="1200" dirty="0"/>
          </a:p>
        </p:txBody>
      </p:sp>
      <p:sp>
        <p:nvSpPr>
          <p:cNvPr id="41" name="Shape 30"/>
          <p:cNvSpPr/>
          <p:nvPr/>
        </p:nvSpPr>
        <p:spPr>
          <a:xfrm>
            <a:off x="6400800" y="4946904"/>
            <a:ext cx="5349240" cy="685800"/>
          </a:xfrm>
          <a:prstGeom prst="roundRect">
            <a:avLst>
              <a:gd name="adj" fmla="val 13333"/>
            </a:avLst>
          </a:prstGeom>
          <a:solidFill>
            <a:srgbClr val="FFFFFF"/>
          </a:solidFill>
          <a:ln/>
          <a:effectLst>
            <a:outerShdw blurRad="114300" dist="38100" dir="5400000" algn="bl" rotWithShape="0">
              <a:srgbClr val="1B4B45">
                <a:alpha val="18000"/>
              </a:srgbClr>
            </a:outerShdw>
          </a:effectLst>
        </p:spPr>
      </p:sp>
      <p:sp>
        <p:nvSpPr>
          <p:cNvPr id="42" name="Shape 31"/>
          <p:cNvSpPr/>
          <p:nvPr/>
        </p:nvSpPr>
        <p:spPr>
          <a:xfrm>
            <a:off x="6528816" y="5116068"/>
            <a:ext cx="347472" cy="347472"/>
          </a:xfrm>
          <a:prstGeom prst="ellipse">
            <a:avLst/>
          </a:prstGeom>
          <a:solidFill>
            <a:srgbClr val="02C39A"/>
          </a:solidFill>
          <a:ln/>
        </p:spPr>
      </p:sp>
      <p:pic>
        <p:nvPicPr>
          <p:cNvPr id="43" name="Image 9" descr="/home/claude/booking_ppt/icons/check_white.png"/>
          <p:cNvPicPr>
            <a:picLocks noChangeAspect="1"/>
          </p:cNvPicPr>
          <p:nvPr/>
        </p:nvPicPr>
        <p:blipFill>
          <a:blip r:embed="rId3"/>
          <a:stretch>
            <a:fillRect/>
          </a:stretch>
        </p:blipFill>
        <p:spPr>
          <a:xfrm>
            <a:off x="6573987" y="5161239"/>
            <a:ext cx="257129" cy="257129"/>
          </a:xfrm>
          <a:prstGeom prst="rect">
            <a:avLst/>
          </a:prstGeom>
        </p:spPr>
      </p:pic>
      <p:sp>
        <p:nvSpPr>
          <p:cNvPr id="44" name="Text 32"/>
          <p:cNvSpPr/>
          <p:nvPr/>
        </p:nvSpPr>
        <p:spPr>
          <a:xfrm>
            <a:off x="7004304" y="4946904"/>
            <a:ext cx="4572000" cy="685800"/>
          </a:xfrm>
          <a:prstGeom prst="rect">
            <a:avLst/>
          </a:prstGeom>
          <a:noFill/>
          <a:ln/>
        </p:spPr>
        <p:txBody>
          <a:bodyPr wrap="square" rtlCol="0" anchor="ctr"/>
          <a:lstStyle/>
          <a:p>
            <a:pPr marL="0" indent="0">
              <a:buNone/>
            </a:pPr>
            <a:r>
              <a:rPr lang="en-US" sz="1200" dirty="0">
                <a:solidFill>
                  <a:srgbClr val="0F2E2A"/>
                </a:solidFill>
                <a:latin typeface="Calibri" pitchFamily="34" charset="0"/>
                <a:ea typeface="Calibri" pitchFamily="34" charset="-122"/>
                <a:cs typeface="Calibri" pitchFamily="34" charset="-120"/>
              </a:rPr>
              <a:t>Display a doctor's full daily schedule</a:t>
            </a:r>
            <a:endParaRPr lang="en-US" sz="1200" dirty="0"/>
          </a:p>
        </p:txBody>
      </p:sp>
      <p:sp>
        <p:nvSpPr>
          <p:cNvPr id="45" name="Text 33"/>
          <p:cNvSpPr/>
          <p:nvPr/>
        </p:nvSpPr>
        <p:spPr>
          <a:xfrm>
            <a:off x="457200" y="6519672"/>
            <a:ext cx="7315200" cy="274320"/>
          </a:xfrm>
          <a:prstGeom prst="rect">
            <a:avLst/>
          </a:prstGeom>
          <a:noFill/>
          <a:ln/>
        </p:spPr>
        <p:txBody>
          <a:bodyPr wrap="square" rtlCol="0" anchor="ctr"/>
          <a:lstStyle/>
          <a:p>
            <a:pPr marL="0" indent="0">
              <a:buNone/>
            </a:pPr>
            <a:r>
              <a:rPr lang="en-US" sz="900" kern="0" spc="100" dirty="0">
                <a:solidFill>
                  <a:srgbClr val="5C7A75"/>
                </a:solidFill>
                <a:latin typeface="Calibri" pitchFamily="34" charset="0"/>
                <a:ea typeface="Calibri" pitchFamily="34" charset="-122"/>
                <a:cs typeface="Calibri" pitchFamily="34" charset="-120"/>
              </a:rPr>
              <a:t>DOCTOR APPOINTMENT BOOKING SYSTEM  ·  PROJECT PLANNING</a:t>
            </a:r>
            <a:endParaRPr lang="en-US" sz="900" dirty="0"/>
          </a:p>
        </p:txBody>
      </p:sp>
      <p:sp>
        <p:nvSpPr>
          <p:cNvPr id="46" name="Text 34"/>
          <p:cNvSpPr/>
          <p:nvPr/>
        </p:nvSpPr>
        <p:spPr>
          <a:xfrm>
            <a:off x="11338560" y="6519672"/>
            <a:ext cx="457200" cy="274320"/>
          </a:xfrm>
          <a:prstGeom prst="rect">
            <a:avLst/>
          </a:prstGeom>
          <a:noFill/>
          <a:ln/>
        </p:spPr>
        <p:txBody>
          <a:bodyPr wrap="square" rtlCol="0" anchor="ctr"/>
          <a:lstStyle/>
          <a:p>
            <a:pPr marL="0" indent="0" algn="r">
              <a:buNone/>
            </a:pPr>
            <a:r>
              <a:rPr lang="en-US" sz="900" dirty="0">
                <a:solidFill>
                  <a:srgbClr val="5C7A75"/>
                </a:solidFill>
                <a:latin typeface="Calibri" pitchFamily="34" charset="0"/>
                <a:ea typeface="Calibri" pitchFamily="34" charset="-122"/>
                <a:cs typeface="Calibri" pitchFamily="34" charset="-120"/>
              </a:rPr>
              <a:t>16</a:t>
            </a:r>
            <a:endParaRPr lang="en-US" sz="9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0A2E2B"/>
        </a:solidFill>
        <a:effectLst/>
      </p:bgPr>
    </p:bg>
    <p:spTree>
      <p:nvGrpSpPr>
        <p:cNvPr id="1" name=""/>
        <p:cNvGrpSpPr/>
        <p:nvPr/>
      </p:nvGrpSpPr>
      <p:grpSpPr>
        <a:xfrm>
          <a:off x="0" y="0"/>
          <a:ext cx="0" cy="0"/>
          <a:chOff x="0" y="0"/>
          <a:chExt cx="0" cy="0"/>
        </a:xfrm>
      </p:grpSpPr>
      <p:sp>
        <p:nvSpPr>
          <p:cNvPr id="2" name="Shape 0"/>
          <p:cNvSpPr/>
          <p:nvPr/>
        </p:nvSpPr>
        <p:spPr>
          <a:xfrm>
            <a:off x="-2103120" y="-2377440"/>
            <a:ext cx="6400800" cy="6400800"/>
          </a:xfrm>
          <a:prstGeom prst="ellipse">
            <a:avLst/>
          </a:prstGeom>
          <a:solidFill>
            <a:srgbClr val="0E3D39"/>
          </a:solidFill>
          <a:ln/>
        </p:spPr>
      </p:sp>
      <p:sp>
        <p:nvSpPr>
          <p:cNvPr id="3" name="Shape 1"/>
          <p:cNvSpPr/>
          <p:nvPr/>
        </p:nvSpPr>
        <p:spPr>
          <a:xfrm>
            <a:off x="9692640" y="3657600"/>
            <a:ext cx="4572000" cy="4572000"/>
          </a:xfrm>
          <a:prstGeom prst="ellipse">
            <a:avLst/>
          </a:prstGeom>
          <a:solidFill>
            <a:srgbClr val="0F4A44"/>
          </a:solidFill>
          <a:ln/>
        </p:spPr>
      </p:sp>
      <p:sp>
        <p:nvSpPr>
          <p:cNvPr id="4" name="Shape 2"/>
          <p:cNvSpPr/>
          <p:nvPr/>
        </p:nvSpPr>
        <p:spPr>
          <a:xfrm>
            <a:off x="5184648" y="1005840"/>
            <a:ext cx="914400" cy="914400"/>
          </a:xfrm>
          <a:prstGeom prst="ellipse">
            <a:avLst/>
          </a:prstGeom>
          <a:solidFill>
            <a:srgbClr val="02C39A"/>
          </a:solidFill>
          <a:ln/>
        </p:spPr>
      </p:sp>
      <p:pic>
        <p:nvPicPr>
          <p:cNvPr id="5" name="Image 0" descr="/home/claude/booking_ppt/icons/youtube_dark.png"/>
          <p:cNvPicPr>
            <a:picLocks noChangeAspect="1"/>
          </p:cNvPicPr>
          <p:nvPr/>
        </p:nvPicPr>
        <p:blipFill>
          <a:blip r:embed="rId3"/>
          <a:stretch>
            <a:fillRect/>
          </a:stretch>
        </p:blipFill>
        <p:spPr>
          <a:xfrm>
            <a:off x="5303520" y="1124712"/>
            <a:ext cx="676656" cy="676656"/>
          </a:xfrm>
          <a:prstGeom prst="rect">
            <a:avLst/>
          </a:prstGeom>
        </p:spPr>
      </p:pic>
      <p:sp>
        <p:nvSpPr>
          <p:cNvPr id="6" name="Text 3"/>
          <p:cNvSpPr/>
          <p:nvPr/>
        </p:nvSpPr>
        <p:spPr>
          <a:xfrm>
            <a:off x="685800" y="2194560"/>
            <a:ext cx="10789920" cy="914400"/>
          </a:xfrm>
          <a:prstGeom prst="rect">
            <a:avLst/>
          </a:prstGeom>
          <a:noFill/>
          <a:ln/>
        </p:spPr>
        <p:txBody>
          <a:bodyPr wrap="square" rtlCol="0" anchor="ctr"/>
          <a:lstStyle/>
          <a:p>
            <a:pPr marL="0" indent="0" algn="ctr">
              <a:buNone/>
            </a:pPr>
            <a:r>
              <a:rPr lang="en-US" sz="4000" b="1" dirty="0">
                <a:solidFill>
                  <a:srgbClr val="FFFFFF"/>
                </a:solidFill>
                <a:latin typeface="Century Schoolbook" pitchFamily="34" charset="0"/>
                <a:ea typeface="Century Schoolbook" pitchFamily="34" charset="-122"/>
                <a:cs typeface="Century Schoolbook" pitchFamily="34" charset="-120"/>
              </a:rPr>
              <a:t>Ready to Build It.</a:t>
            </a:r>
            <a:endParaRPr lang="en-US" sz="4000" dirty="0"/>
          </a:p>
        </p:txBody>
      </p:sp>
      <p:sp>
        <p:nvSpPr>
          <p:cNvPr id="7" name="Text 4"/>
          <p:cNvSpPr/>
          <p:nvPr/>
        </p:nvSpPr>
        <p:spPr>
          <a:xfrm>
            <a:off x="2011680" y="3200400"/>
            <a:ext cx="8138160" cy="822960"/>
          </a:xfrm>
          <a:prstGeom prst="rect">
            <a:avLst/>
          </a:prstGeom>
          <a:noFill/>
          <a:ln/>
        </p:spPr>
        <p:txBody>
          <a:bodyPr wrap="square" rtlCol="0" anchor="ctr"/>
          <a:lstStyle/>
          <a:p>
            <a:pPr marL="0" indent="0" algn="ctr">
              <a:lnSpc>
                <a:spcPts val="2000"/>
              </a:lnSpc>
              <a:buNone/>
            </a:pPr>
            <a:r>
              <a:rPr lang="en-US" sz="1400" dirty="0">
                <a:solidFill>
                  <a:srgbClr val="BFE3DE"/>
                </a:solidFill>
                <a:latin typeface="Calibri" pitchFamily="34" charset="0"/>
                <a:ea typeface="Calibri" pitchFamily="34" charset="-122"/>
                <a:cs typeface="Calibri" pitchFamily="34" charset="-120"/>
              </a:rPr>
              <a:t>Next up: writing generate_slots(), the JSON read/write helpers, and the double-booking check — in plain Python, function by function.</a:t>
            </a:r>
            <a:endParaRPr lang="en-US" sz="1400" dirty="0"/>
          </a:p>
        </p:txBody>
      </p:sp>
      <p:sp>
        <p:nvSpPr>
          <p:cNvPr id="8" name="Shape 5"/>
          <p:cNvSpPr/>
          <p:nvPr/>
        </p:nvSpPr>
        <p:spPr>
          <a:xfrm>
            <a:off x="2872588" y="4343400"/>
            <a:ext cx="1097280" cy="502920"/>
          </a:xfrm>
          <a:prstGeom prst="roundRect">
            <a:avLst>
              <a:gd name="adj" fmla="val 49091"/>
            </a:avLst>
          </a:prstGeom>
          <a:solidFill>
            <a:srgbClr val="12504A"/>
          </a:solidFill>
          <a:ln/>
        </p:spPr>
      </p:sp>
      <p:sp>
        <p:nvSpPr>
          <p:cNvPr id="9" name="Text 6"/>
          <p:cNvSpPr/>
          <p:nvPr/>
        </p:nvSpPr>
        <p:spPr>
          <a:xfrm>
            <a:off x="2872588" y="4343400"/>
            <a:ext cx="1097280" cy="502920"/>
          </a:xfrm>
          <a:prstGeom prst="rect">
            <a:avLst/>
          </a:prstGeom>
          <a:noFill/>
          <a:ln/>
        </p:spPr>
        <p:txBody>
          <a:bodyPr wrap="square" rtlCol="0" anchor="ctr"/>
          <a:lstStyle/>
          <a:p>
            <a:pPr marL="0" indent="0" algn="ctr">
              <a:buNone/>
            </a:pPr>
            <a:r>
              <a:rPr lang="en-US" sz="1150" b="1" dirty="0">
                <a:solidFill>
                  <a:srgbClr val="02C39A"/>
                </a:solidFill>
                <a:latin typeface="Calibri" pitchFamily="34" charset="0"/>
                <a:ea typeface="Calibri" pitchFamily="34" charset="-122"/>
                <a:cs typeface="Calibri" pitchFamily="34" charset="-120"/>
              </a:rPr>
              <a:t>Python</a:t>
            </a:r>
            <a:endParaRPr lang="en-US" sz="1150" dirty="0"/>
          </a:p>
        </p:txBody>
      </p:sp>
      <p:sp>
        <p:nvSpPr>
          <p:cNvPr id="10" name="Shape 7"/>
          <p:cNvSpPr/>
          <p:nvPr/>
        </p:nvSpPr>
        <p:spPr>
          <a:xfrm>
            <a:off x="4198468" y="4343400"/>
            <a:ext cx="1828800" cy="502920"/>
          </a:xfrm>
          <a:prstGeom prst="roundRect">
            <a:avLst>
              <a:gd name="adj" fmla="val 49091"/>
            </a:avLst>
          </a:prstGeom>
          <a:solidFill>
            <a:srgbClr val="12504A"/>
          </a:solidFill>
          <a:ln/>
        </p:spPr>
      </p:sp>
      <p:sp>
        <p:nvSpPr>
          <p:cNvPr id="11" name="Text 8"/>
          <p:cNvSpPr/>
          <p:nvPr/>
        </p:nvSpPr>
        <p:spPr>
          <a:xfrm>
            <a:off x="4198468" y="4343400"/>
            <a:ext cx="1828800" cy="502920"/>
          </a:xfrm>
          <a:prstGeom prst="rect">
            <a:avLst/>
          </a:prstGeom>
          <a:noFill/>
          <a:ln/>
        </p:spPr>
        <p:txBody>
          <a:bodyPr wrap="square" rtlCol="0" anchor="ctr"/>
          <a:lstStyle/>
          <a:p>
            <a:pPr marL="0" indent="0" algn="ctr">
              <a:buNone/>
            </a:pPr>
            <a:r>
              <a:rPr lang="en-US" sz="1150" b="1" dirty="0">
                <a:solidFill>
                  <a:srgbClr val="02C39A"/>
                </a:solidFill>
                <a:latin typeface="Calibri" pitchFamily="34" charset="0"/>
                <a:ea typeface="Calibri" pitchFamily="34" charset="-122"/>
                <a:cs typeface="Calibri" pitchFamily="34" charset="-120"/>
              </a:rPr>
              <a:t>Functions Only</a:t>
            </a:r>
            <a:endParaRPr lang="en-US" sz="1150" dirty="0"/>
          </a:p>
        </p:txBody>
      </p:sp>
      <p:sp>
        <p:nvSpPr>
          <p:cNvPr id="12" name="Shape 9"/>
          <p:cNvSpPr/>
          <p:nvPr/>
        </p:nvSpPr>
        <p:spPr>
          <a:xfrm>
            <a:off x="6255868" y="4343400"/>
            <a:ext cx="1645920" cy="502920"/>
          </a:xfrm>
          <a:prstGeom prst="roundRect">
            <a:avLst>
              <a:gd name="adj" fmla="val 49091"/>
            </a:avLst>
          </a:prstGeom>
          <a:solidFill>
            <a:srgbClr val="12504A"/>
          </a:solidFill>
          <a:ln/>
        </p:spPr>
      </p:sp>
      <p:sp>
        <p:nvSpPr>
          <p:cNvPr id="13" name="Text 10"/>
          <p:cNvSpPr/>
          <p:nvPr/>
        </p:nvSpPr>
        <p:spPr>
          <a:xfrm>
            <a:off x="6255868" y="4343400"/>
            <a:ext cx="1645920" cy="502920"/>
          </a:xfrm>
          <a:prstGeom prst="rect">
            <a:avLst/>
          </a:prstGeom>
          <a:noFill/>
          <a:ln/>
        </p:spPr>
        <p:txBody>
          <a:bodyPr wrap="square" rtlCol="0" anchor="ctr"/>
          <a:lstStyle/>
          <a:p>
            <a:pPr marL="0" indent="0" algn="ctr">
              <a:buNone/>
            </a:pPr>
            <a:r>
              <a:rPr lang="en-US" sz="1150" b="1" dirty="0">
                <a:solidFill>
                  <a:srgbClr val="02C39A"/>
                </a:solidFill>
                <a:latin typeface="Calibri" pitchFamily="34" charset="0"/>
                <a:ea typeface="Calibri" pitchFamily="34" charset="-122"/>
                <a:cs typeface="Calibri" pitchFamily="34" charset="-120"/>
              </a:rPr>
              <a:t>JSON Storage</a:t>
            </a:r>
            <a:endParaRPr lang="en-US" sz="1150" dirty="0"/>
          </a:p>
        </p:txBody>
      </p:sp>
      <p:sp>
        <p:nvSpPr>
          <p:cNvPr id="14" name="Shape 11"/>
          <p:cNvSpPr/>
          <p:nvPr/>
        </p:nvSpPr>
        <p:spPr>
          <a:xfrm>
            <a:off x="8130388" y="4343400"/>
            <a:ext cx="1188720" cy="502920"/>
          </a:xfrm>
          <a:prstGeom prst="roundRect">
            <a:avLst>
              <a:gd name="adj" fmla="val 49091"/>
            </a:avLst>
          </a:prstGeom>
          <a:solidFill>
            <a:srgbClr val="12504A"/>
          </a:solidFill>
          <a:ln/>
        </p:spPr>
      </p:sp>
      <p:sp>
        <p:nvSpPr>
          <p:cNvPr id="15" name="Text 12"/>
          <p:cNvSpPr/>
          <p:nvPr/>
        </p:nvSpPr>
        <p:spPr>
          <a:xfrm>
            <a:off x="8130388" y="4343400"/>
            <a:ext cx="1188720" cy="502920"/>
          </a:xfrm>
          <a:prstGeom prst="rect">
            <a:avLst/>
          </a:prstGeom>
          <a:noFill/>
          <a:ln/>
        </p:spPr>
        <p:txBody>
          <a:bodyPr wrap="square" rtlCol="0" anchor="ctr"/>
          <a:lstStyle/>
          <a:p>
            <a:pPr marL="0" indent="0" algn="ctr">
              <a:buNone/>
            </a:pPr>
            <a:r>
              <a:rPr lang="en-US" sz="1150" b="1" dirty="0">
                <a:solidFill>
                  <a:srgbClr val="02C39A"/>
                </a:solidFill>
                <a:latin typeface="Calibri" pitchFamily="34" charset="0"/>
                <a:ea typeface="Calibri" pitchFamily="34" charset="-122"/>
                <a:cs typeface="Calibri" pitchFamily="34" charset="-120"/>
              </a:rPr>
              <a:t>CLI App</a:t>
            </a:r>
            <a:endParaRPr lang="en-US" sz="1150" dirty="0"/>
          </a:p>
        </p:txBody>
      </p:sp>
      <p:sp>
        <p:nvSpPr>
          <p:cNvPr id="16" name="Text 13"/>
          <p:cNvSpPr/>
          <p:nvPr/>
        </p:nvSpPr>
        <p:spPr>
          <a:xfrm>
            <a:off x="685800" y="5989320"/>
            <a:ext cx="10789920" cy="365760"/>
          </a:xfrm>
          <a:prstGeom prst="rect">
            <a:avLst/>
          </a:prstGeom>
          <a:noFill/>
          <a:ln/>
        </p:spPr>
        <p:txBody>
          <a:bodyPr wrap="square" rtlCol="0" anchor="ctr"/>
          <a:lstStyle/>
          <a:p>
            <a:pPr marL="0" indent="0" algn="ctr">
              <a:buNone/>
            </a:pPr>
            <a:r>
              <a:rPr lang="en-US" sz="1200" i="1" dirty="0">
                <a:solidFill>
                  <a:srgbClr val="7FB8B0"/>
                </a:solidFill>
                <a:latin typeface="Calibri" pitchFamily="34" charset="0"/>
                <a:ea typeface="Calibri" pitchFamily="34" charset="-122"/>
                <a:cs typeface="Calibri" pitchFamily="34" charset="-120"/>
              </a:rPr>
              <a:t>Like, subscribe, and follow along for the full build.</a:t>
            </a:r>
            <a:endParaRPr lang="en-US" sz="1200" dirty="0"/>
          </a:p>
        </p:txBody>
      </p:sp>
      <p:sp>
        <p:nvSpPr>
          <p:cNvPr id="17" name="Text 14"/>
          <p:cNvSpPr/>
          <p:nvPr/>
        </p:nvSpPr>
        <p:spPr>
          <a:xfrm>
            <a:off x="457200" y="6519672"/>
            <a:ext cx="7315200" cy="274320"/>
          </a:xfrm>
          <a:prstGeom prst="rect">
            <a:avLst/>
          </a:prstGeom>
          <a:noFill/>
          <a:ln/>
        </p:spPr>
        <p:txBody>
          <a:bodyPr wrap="square" rtlCol="0" anchor="ctr"/>
          <a:lstStyle/>
          <a:p>
            <a:pPr marL="0" indent="0">
              <a:buNone/>
            </a:pPr>
            <a:r>
              <a:rPr lang="en-US" sz="900" kern="0" spc="100" dirty="0">
                <a:solidFill>
                  <a:srgbClr val="7FB8B0"/>
                </a:solidFill>
                <a:latin typeface="Calibri" pitchFamily="34" charset="0"/>
                <a:ea typeface="Calibri" pitchFamily="34" charset="-122"/>
                <a:cs typeface="Calibri" pitchFamily="34" charset="-120"/>
              </a:rPr>
              <a:t>DOCTOR APPOINTMENT BOOKING SYSTEM  ·  PROJECT PLANNING</a:t>
            </a:r>
            <a:endParaRPr lang="en-US" sz="900" dirty="0"/>
          </a:p>
        </p:txBody>
      </p:sp>
      <p:sp>
        <p:nvSpPr>
          <p:cNvPr id="18" name="Text 15"/>
          <p:cNvSpPr/>
          <p:nvPr/>
        </p:nvSpPr>
        <p:spPr>
          <a:xfrm>
            <a:off x="11338560" y="6519672"/>
            <a:ext cx="457200" cy="274320"/>
          </a:xfrm>
          <a:prstGeom prst="rect">
            <a:avLst/>
          </a:prstGeom>
          <a:noFill/>
          <a:ln/>
        </p:spPr>
        <p:txBody>
          <a:bodyPr wrap="square" rtlCol="0" anchor="ctr"/>
          <a:lstStyle/>
          <a:p>
            <a:pPr marL="0" indent="0" algn="r">
              <a:buNone/>
            </a:pPr>
            <a:r>
              <a:rPr lang="en-US" sz="900" dirty="0">
                <a:solidFill>
                  <a:srgbClr val="7FB8B0"/>
                </a:solidFill>
                <a:latin typeface="Calibri" pitchFamily="34" charset="0"/>
                <a:ea typeface="Calibri" pitchFamily="34" charset="-122"/>
                <a:cs typeface="Calibri" pitchFamily="34" charset="-120"/>
              </a:rPr>
              <a:t>18</a:t>
            </a:r>
            <a:endParaRPr lang="en-US" sz="9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TotalTime>
  <Words>1511</Words>
  <Application>Microsoft Office PowerPoint</Application>
  <PresentationFormat>Widescreen</PresentationFormat>
  <Paragraphs>276</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Century Schoolbook</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Md. Naim Uddin Rahi</cp:lastModifiedBy>
  <cp:revision>3</cp:revision>
  <dcterms:created xsi:type="dcterms:W3CDTF">2026-08-08T15:09:16Z</dcterms:created>
  <dcterms:modified xsi:type="dcterms:W3CDTF">2026-08-11T14:01:45Z</dcterms:modified>
</cp:coreProperties>
</file>